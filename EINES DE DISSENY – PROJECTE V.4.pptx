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  <p:sldMasterId id="2147483689" r:id="rId2"/>
  </p:sldMasterIdLst>
  <p:notesMasterIdLst>
    <p:notesMasterId r:id="rId29"/>
  </p:notesMasterIdLst>
  <p:sldIdLst>
    <p:sldId id="256" r:id="rId3"/>
    <p:sldId id="258" r:id="rId4"/>
    <p:sldId id="338" r:id="rId5"/>
    <p:sldId id="332" r:id="rId6"/>
    <p:sldId id="261" r:id="rId7"/>
    <p:sldId id="336" r:id="rId8"/>
    <p:sldId id="260" r:id="rId9"/>
    <p:sldId id="335" r:id="rId10"/>
    <p:sldId id="328" r:id="rId11"/>
    <p:sldId id="284" r:id="rId12"/>
    <p:sldId id="263" r:id="rId13"/>
    <p:sldId id="334" r:id="rId14"/>
    <p:sldId id="330" r:id="rId15"/>
    <p:sldId id="341" r:id="rId16"/>
    <p:sldId id="331" r:id="rId17"/>
    <p:sldId id="342" r:id="rId18"/>
    <p:sldId id="343" r:id="rId19"/>
    <p:sldId id="329" r:id="rId20"/>
    <p:sldId id="291" r:id="rId21"/>
    <p:sldId id="264" r:id="rId22"/>
    <p:sldId id="337" r:id="rId23"/>
    <p:sldId id="339" r:id="rId24"/>
    <p:sldId id="340" r:id="rId25"/>
    <p:sldId id="307" r:id="rId26"/>
    <p:sldId id="305" r:id="rId27"/>
    <p:sldId id="310" r:id="rId28"/>
  </p:sldIdLst>
  <p:sldSz cx="9144000" cy="5143500" type="screen16x9"/>
  <p:notesSz cx="6858000" cy="9144000"/>
  <p:embeddedFontLst>
    <p:embeddedFont>
      <p:font typeface="Bebas Neue" panose="020B0604020202020204" charset="0"/>
      <p:regular r:id="rId30"/>
    </p:embeddedFont>
    <p:embeddedFont>
      <p:font typeface="Hepta Slab SemiBold" panose="020B0604020202020204" charset="0"/>
      <p:regular r:id="rId31"/>
      <p:bold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Proxima Nova" panose="020B0604020202020204" charset="0"/>
      <p:regular r:id="rId37"/>
      <p:bold r:id="rId38"/>
      <p:italic r:id="rId39"/>
      <p:boldItalic r:id="rId40"/>
    </p:embeddedFont>
    <p:embeddedFont>
      <p:font typeface="Proxima Nova Semibold" panose="020B0604020202020204" charset="0"/>
      <p:regular r:id="rId41"/>
      <p:bold r:id="rId42"/>
      <p:boldItalic r:id="rId43"/>
    </p:embeddedFont>
    <p:embeddedFont>
      <p:font typeface="Raleway Black" pitchFamily="2" charset="0"/>
      <p:bold r:id="rId44"/>
      <p:boldItalic r:id="rId45"/>
    </p:embeddedFont>
    <p:embeddedFont>
      <p:font typeface="Raleway ExtraBold" pitchFamily="2" charset="0"/>
      <p:bold r:id="rId46"/>
      <p:boldItalic r:id="rId47"/>
    </p:embeddedFont>
    <p:embeddedFont>
      <p:font typeface="Raleway SemiBold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9C387E-20CA-451F-BF7C-5DC569EF3032}">
  <a:tblStyle styleId="{609C387E-20CA-451F-BF7C-5DC569EF30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83" y="82"/>
      </p:cViewPr>
      <p:guideLst>
        <p:guide orient="horz" pos="58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font" Target="fonts/font21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6.xml"/><Relationship Id="rId51" Type="http://schemas.openxmlformats.org/officeDocument/2006/relationships/font" Target="fonts/font2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8.xml"/><Relationship Id="rId41" Type="http://schemas.openxmlformats.org/officeDocument/2006/relationships/font" Target="fonts/font12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49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417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a558ccd6d5d264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a558ccd6d5d264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227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003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a558ccd6d5d264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a558ccd6d5d264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a558ccd6d5d264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a558ccd6d5d264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174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a558ccd6d5d264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a558ccd6d5d264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984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1a558ccd6d5d2642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1a558ccd6d5d2642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906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646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57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438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729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975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384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a558ccd6d5d264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a558ccd6d5d264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a558ccd6d5d264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a558ccd6d5d264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935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054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0204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1a558ccd6d5d2642_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1a558ccd6d5d2642_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1a558ccd6d5d2642_1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1a558ccd6d5d2642_1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20f1d6d777a_0_9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20f1d6d777a_0_9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432175"/>
            <a:ext cx="4762500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378025"/>
            <a:ext cx="4762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333670" y="-733424"/>
            <a:ext cx="4762500" cy="1386000"/>
            <a:chOff x="-2333670" y="-733424"/>
            <a:chExt cx="4762500" cy="1386000"/>
          </a:xfrm>
        </p:grpSpPr>
        <p:sp>
          <p:nvSpPr>
            <p:cNvPr id="13" name="Google Shape;13;p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100925" y="4044894"/>
            <a:ext cx="39093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 rot="5400000" flipH="1">
            <a:off x="-2085979" y="-957899"/>
            <a:ext cx="4762500" cy="1386000"/>
            <a:chOff x="-2333670" y="-733424"/>
            <a:chExt cx="4762500" cy="1386000"/>
          </a:xfrm>
        </p:grpSpPr>
        <p:sp>
          <p:nvSpPr>
            <p:cNvPr id="23" name="Google Shape;23;p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 flipH="1">
            <a:off x="3945910" y="894337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1"/>
          </p:nvPr>
        </p:nvSpPr>
        <p:spPr>
          <a:xfrm flipH="1">
            <a:off x="3945910" y="3188063"/>
            <a:ext cx="4201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 rot="5400000">
            <a:off x="2250370" y="-1655359"/>
            <a:ext cx="3589973" cy="1044767"/>
            <a:chOff x="-2333670" y="-733424"/>
            <a:chExt cx="4762500" cy="1386000"/>
          </a:xfrm>
        </p:grpSpPr>
        <p:sp>
          <p:nvSpPr>
            <p:cNvPr id="153" name="Google Shape;153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 rot="10800000">
            <a:off x="7840483" y="4608491"/>
            <a:ext cx="3589973" cy="1044767"/>
            <a:chOff x="-2333670" y="-733424"/>
            <a:chExt cx="4762500" cy="1386000"/>
          </a:xfrm>
        </p:grpSpPr>
        <p:sp>
          <p:nvSpPr>
            <p:cNvPr id="158" name="Google Shape;158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" name="Google Shape;177;p13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178" name="Google Shape;178;p1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3"/>
          <p:cNvSpPr txBox="1">
            <a:spLocks noGrp="1"/>
          </p:cNvSpPr>
          <p:nvPr>
            <p:ph type="title" hasCustomPrompt="1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"/>
          </p:nvPr>
        </p:nvSpPr>
        <p:spPr>
          <a:xfrm>
            <a:off x="4391025" y="171342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2"/>
          </p:nvPr>
        </p:nvSpPr>
        <p:spPr>
          <a:xfrm>
            <a:off x="4391025" y="1331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4" hasCustomPrompt="1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5"/>
          </p:nvPr>
        </p:nvSpPr>
        <p:spPr>
          <a:xfrm>
            <a:off x="4391025" y="429530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6"/>
          </p:nvPr>
        </p:nvSpPr>
        <p:spPr>
          <a:xfrm>
            <a:off x="4391025" y="3913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7" hasCustomPrompt="1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8"/>
          </p:nvPr>
        </p:nvSpPr>
        <p:spPr>
          <a:xfrm>
            <a:off x="4391025" y="343467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9"/>
          </p:nvPr>
        </p:nvSpPr>
        <p:spPr>
          <a:xfrm>
            <a:off x="4391025" y="3053033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13" hasCustomPrompt="1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4"/>
          </p:nvPr>
        </p:nvSpPr>
        <p:spPr>
          <a:xfrm>
            <a:off x="4391025" y="257405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5"/>
          </p:nvPr>
        </p:nvSpPr>
        <p:spPr>
          <a:xfrm>
            <a:off x="4391025" y="2192367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8" name="Google Shape;208;p15"/>
          <p:cNvSpPr txBox="1">
            <a:spLocks noGrp="1"/>
          </p:cNvSpPr>
          <p:nvPr>
            <p:ph type="subTitle" idx="1"/>
          </p:nvPr>
        </p:nvSpPr>
        <p:spPr>
          <a:xfrm flipH="1">
            <a:off x="791307" y="4073525"/>
            <a:ext cx="44622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15"/>
          <p:cNvGrpSpPr/>
          <p:nvPr/>
        </p:nvGrpSpPr>
        <p:grpSpPr>
          <a:xfrm rot="5400000">
            <a:off x="3212645" y="-1685309"/>
            <a:ext cx="3589973" cy="1044767"/>
            <a:chOff x="-2333670" y="-733424"/>
            <a:chExt cx="4762500" cy="1386000"/>
          </a:xfrm>
        </p:grpSpPr>
        <p:sp>
          <p:nvSpPr>
            <p:cNvPr id="211" name="Google Shape;211;p1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15"/>
          <p:cNvGrpSpPr/>
          <p:nvPr/>
        </p:nvGrpSpPr>
        <p:grpSpPr>
          <a:xfrm rot="10800000">
            <a:off x="-1155617" y="4741241"/>
            <a:ext cx="3589973" cy="1044767"/>
            <a:chOff x="-2333670" y="-733424"/>
            <a:chExt cx="4762500" cy="1386000"/>
          </a:xfrm>
        </p:grpSpPr>
        <p:sp>
          <p:nvSpPr>
            <p:cNvPr id="216" name="Google Shape;216;p1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title" idx="2" hasCustomPrompt="1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1"/>
          </p:nvPr>
        </p:nvSpPr>
        <p:spPr>
          <a:xfrm>
            <a:off x="3892916" y="4073525"/>
            <a:ext cx="44622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6"/>
          <p:cNvGrpSpPr/>
          <p:nvPr/>
        </p:nvGrpSpPr>
        <p:grpSpPr>
          <a:xfrm rot="-5400000" flipH="1">
            <a:off x="2343805" y="-1685309"/>
            <a:ext cx="3589973" cy="1044767"/>
            <a:chOff x="-2333670" y="-733424"/>
            <a:chExt cx="4762500" cy="1386000"/>
          </a:xfrm>
        </p:grpSpPr>
        <p:sp>
          <p:nvSpPr>
            <p:cNvPr id="226" name="Google Shape;226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6"/>
          <p:cNvGrpSpPr/>
          <p:nvPr/>
        </p:nvGrpSpPr>
        <p:grpSpPr>
          <a:xfrm rot="10800000" flipH="1">
            <a:off x="6712067" y="4741241"/>
            <a:ext cx="3589972" cy="1044767"/>
            <a:chOff x="-2333670" y="-733424"/>
            <a:chExt cx="4762500" cy="1386000"/>
          </a:xfrm>
        </p:grpSpPr>
        <p:sp>
          <p:nvSpPr>
            <p:cNvPr id="231" name="Google Shape;231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9"/>
          <p:cNvGrpSpPr/>
          <p:nvPr/>
        </p:nvGrpSpPr>
        <p:grpSpPr>
          <a:xfrm rot="10800000" flipH="1">
            <a:off x="-3022375" y="154316"/>
            <a:ext cx="3589973" cy="1044767"/>
            <a:chOff x="-2333670" y="-733424"/>
            <a:chExt cx="4762500" cy="1386000"/>
          </a:xfrm>
        </p:grpSpPr>
        <p:sp>
          <p:nvSpPr>
            <p:cNvPr id="315" name="Google Shape;315;p1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1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3_1_1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23"/>
          <p:cNvGrpSpPr/>
          <p:nvPr/>
        </p:nvGrpSpPr>
        <p:grpSpPr>
          <a:xfrm rot="10800000">
            <a:off x="8576395" y="154391"/>
            <a:ext cx="3589973" cy="1044767"/>
            <a:chOff x="-2333670" y="-733424"/>
            <a:chExt cx="4762500" cy="1386000"/>
          </a:xfrm>
        </p:grpSpPr>
        <p:sp>
          <p:nvSpPr>
            <p:cNvPr id="360" name="Google Shape;360;p2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 txBox="1">
            <a:spLocks noGrp="1"/>
          </p:cNvSpPr>
          <p:nvPr>
            <p:ph type="body" idx="1"/>
          </p:nvPr>
        </p:nvSpPr>
        <p:spPr>
          <a:xfrm>
            <a:off x="720000" y="1152525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2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" name="Google Shape;399;p26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400" name="Google Shape;400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26"/>
          <p:cNvGrpSpPr/>
          <p:nvPr/>
        </p:nvGrpSpPr>
        <p:grpSpPr>
          <a:xfrm rot="10800000" flipH="1">
            <a:off x="-2936039" y="4487141"/>
            <a:ext cx="3589973" cy="1044767"/>
            <a:chOff x="-2333670" y="-733424"/>
            <a:chExt cx="4762500" cy="1386000"/>
          </a:xfrm>
        </p:grpSpPr>
        <p:sp>
          <p:nvSpPr>
            <p:cNvPr id="405" name="Google Shape;405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9"/>
          <p:cNvSpPr txBox="1">
            <a:spLocks noGrp="1"/>
          </p:cNvSpPr>
          <p:nvPr>
            <p:ph type="subTitle" idx="1"/>
          </p:nvPr>
        </p:nvSpPr>
        <p:spPr>
          <a:xfrm>
            <a:off x="1781131" y="1827250"/>
            <a:ext cx="25959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0" name="Google Shape;450;p29"/>
          <p:cNvSpPr txBox="1">
            <a:spLocks noGrp="1"/>
          </p:cNvSpPr>
          <p:nvPr>
            <p:ph type="subTitle" idx="2"/>
          </p:nvPr>
        </p:nvSpPr>
        <p:spPr>
          <a:xfrm>
            <a:off x="1781156" y="2239325"/>
            <a:ext cx="2595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9"/>
          <p:cNvSpPr txBox="1">
            <a:spLocks noGrp="1"/>
          </p:cNvSpPr>
          <p:nvPr>
            <p:ph type="subTitle" idx="3"/>
          </p:nvPr>
        </p:nvSpPr>
        <p:spPr>
          <a:xfrm>
            <a:off x="4762469" y="1827250"/>
            <a:ext cx="26004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2" name="Google Shape;452;p29"/>
          <p:cNvSpPr txBox="1">
            <a:spLocks noGrp="1"/>
          </p:cNvSpPr>
          <p:nvPr>
            <p:ph type="subTitle" idx="4"/>
          </p:nvPr>
        </p:nvSpPr>
        <p:spPr>
          <a:xfrm>
            <a:off x="4762469" y="2239325"/>
            <a:ext cx="2600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9"/>
          <p:cNvSpPr txBox="1">
            <a:spLocks noGrp="1"/>
          </p:cNvSpPr>
          <p:nvPr>
            <p:ph type="subTitle" idx="5"/>
          </p:nvPr>
        </p:nvSpPr>
        <p:spPr>
          <a:xfrm>
            <a:off x="1781131" y="3349525"/>
            <a:ext cx="25959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4" name="Google Shape;454;p29"/>
          <p:cNvSpPr txBox="1">
            <a:spLocks noGrp="1"/>
          </p:cNvSpPr>
          <p:nvPr>
            <p:ph type="subTitle" idx="6"/>
          </p:nvPr>
        </p:nvSpPr>
        <p:spPr>
          <a:xfrm>
            <a:off x="1781156" y="3761600"/>
            <a:ext cx="2595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29"/>
          <p:cNvSpPr txBox="1">
            <a:spLocks noGrp="1"/>
          </p:cNvSpPr>
          <p:nvPr>
            <p:ph type="subTitle" idx="7"/>
          </p:nvPr>
        </p:nvSpPr>
        <p:spPr>
          <a:xfrm>
            <a:off x="4762469" y="3349525"/>
            <a:ext cx="26004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" name="Google Shape;456;p29"/>
          <p:cNvSpPr txBox="1">
            <a:spLocks noGrp="1"/>
          </p:cNvSpPr>
          <p:nvPr>
            <p:ph type="subTitle" idx="8"/>
          </p:nvPr>
        </p:nvSpPr>
        <p:spPr>
          <a:xfrm>
            <a:off x="4762469" y="3761600"/>
            <a:ext cx="2600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" name="Google Shape;459;p29"/>
          <p:cNvGrpSpPr/>
          <p:nvPr/>
        </p:nvGrpSpPr>
        <p:grpSpPr>
          <a:xfrm rot="5400000">
            <a:off x="-1674992" y="-1285259"/>
            <a:ext cx="3589973" cy="1044767"/>
            <a:chOff x="-2333670" y="-733424"/>
            <a:chExt cx="4762500" cy="1386000"/>
          </a:xfrm>
        </p:grpSpPr>
        <p:sp>
          <p:nvSpPr>
            <p:cNvPr id="460" name="Google Shape;460;p2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5"/>
          <p:cNvSpPr txBox="1">
            <a:spLocks noGrp="1"/>
          </p:cNvSpPr>
          <p:nvPr>
            <p:ph type="ctrTitle"/>
          </p:nvPr>
        </p:nvSpPr>
        <p:spPr>
          <a:xfrm>
            <a:off x="4204850" y="535025"/>
            <a:ext cx="38004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2" name="Google Shape;582;p35"/>
          <p:cNvSpPr txBox="1">
            <a:spLocks noGrp="1"/>
          </p:cNvSpPr>
          <p:nvPr>
            <p:ph type="subTitle" idx="1"/>
          </p:nvPr>
        </p:nvSpPr>
        <p:spPr>
          <a:xfrm>
            <a:off x="4200525" y="1447825"/>
            <a:ext cx="3809400" cy="11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3" name="Google Shape;583;p35"/>
          <p:cNvSpPr txBox="1"/>
          <p:nvPr/>
        </p:nvSpPr>
        <p:spPr>
          <a:xfrm>
            <a:off x="4200525" y="3581425"/>
            <a:ext cx="3809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35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5" name="Google Shape;585;p35"/>
          <p:cNvGrpSpPr/>
          <p:nvPr/>
        </p:nvGrpSpPr>
        <p:grpSpPr>
          <a:xfrm rot="5400000">
            <a:off x="6496005" y="-1319374"/>
            <a:ext cx="4762500" cy="1386000"/>
            <a:chOff x="-2333670" y="-733424"/>
            <a:chExt cx="4762500" cy="1386000"/>
          </a:xfrm>
        </p:grpSpPr>
        <p:sp>
          <p:nvSpPr>
            <p:cNvPr id="586" name="Google Shape;586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35"/>
          <p:cNvGrpSpPr/>
          <p:nvPr/>
        </p:nvGrpSpPr>
        <p:grpSpPr>
          <a:xfrm rot="10800000" flipH="1">
            <a:off x="4310239" y="4754891"/>
            <a:ext cx="3589973" cy="1044767"/>
            <a:chOff x="-2333670" y="-733424"/>
            <a:chExt cx="4762500" cy="1386000"/>
          </a:xfrm>
        </p:grpSpPr>
        <p:sp>
          <p:nvSpPr>
            <p:cNvPr id="591" name="Google Shape;591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6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597" name="Google Shape;597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6"/>
          <p:cNvGrpSpPr/>
          <p:nvPr/>
        </p:nvGrpSpPr>
        <p:grpSpPr>
          <a:xfrm rot="10800000">
            <a:off x="8581308" y="372341"/>
            <a:ext cx="3589973" cy="1044767"/>
            <a:chOff x="-2333670" y="-733424"/>
            <a:chExt cx="4762500" cy="1386000"/>
          </a:xfrm>
        </p:grpSpPr>
        <p:sp>
          <p:nvSpPr>
            <p:cNvPr id="602" name="Google Shape;602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36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7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0" name="Google Shape;610;p37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611" name="Google Shape;611;p3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8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8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618" name="Google Shape;618;p3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/>
          <p:cNvSpPr/>
          <p:nvPr/>
        </p:nvSpPr>
        <p:spPr>
          <a:xfrm flipH="1">
            <a:off x="-21389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 rot="-5400000" flipH="1">
            <a:off x="7360030" y="-1285259"/>
            <a:ext cx="3589973" cy="1044767"/>
            <a:chOff x="-2333670" y="-733424"/>
            <a:chExt cx="4762500" cy="1386000"/>
          </a:xfrm>
        </p:grpSpPr>
        <p:sp>
          <p:nvSpPr>
            <p:cNvPr id="625" name="Google Shape;625;p3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2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1" r:id="rId6"/>
    <p:sldLayoutId id="2147483662" r:id="rId7"/>
    <p:sldLayoutId id="2147483665" r:id="rId8"/>
    <p:sldLayoutId id="2147483669" r:id="rId9"/>
    <p:sldLayoutId id="2147483672" r:id="rId10"/>
    <p:sldLayoutId id="2147483675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631" name="Google Shape;631;p4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Raleway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fonts.google.com/specimen/Open+Sa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3"/>
          <p:cNvSpPr/>
          <p:nvPr/>
        </p:nvSpPr>
        <p:spPr>
          <a:xfrm>
            <a:off x="5914800" y="-14250"/>
            <a:ext cx="3229200" cy="3600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3"/>
          <p:cNvSpPr/>
          <p:nvPr/>
        </p:nvSpPr>
        <p:spPr>
          <a:xfrm>
            <a:off x="5914800" y="3586200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3"/>
          <p:cNvSpPr txBox="1">
            <a:spLocks noGrp="1"/>
          </p:cNvSpPr>
          <p:nvPr>
            <p:ph type="ctrTitle"/>
          </p:nvPr>
        </p:nvSpPr>
        <p:spPr>
          <a:xfrm>
            <a:off x="715099" y="1432175"/>
            <a:ext cx="5064555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Black"/>
                <a:ea typeface="Raleway Black"/>
                <a:cs typeface="Raleway Black"/>
                <a:sym typeface="Raleway Black"/>
              </a:rPr>
              <a:t>EINES DE DISSENY</a:t>
            </a:r>
            <a:br>
              <a:rPr lang="en" dirty="0">
                <a:latin typeface="Raleway Black"/>
                <a:ea typeface="Raleway Black"/>
                <a:cs typeface="Raleway Black"/>
                <a:sym typeface="Raleway Black"/>
              </a:rPr>
            </a:br>
            <a:r>
              <a:rPr lang="en" sz="2000" dirty="0">
                <a:latin typeface="Raleway SemiBold"/>
                <a:ea typeface="Raleway SemiBold"/>
                <a:cs typeface="Raleway SemiBold"/>
                <a:sym typeface="Raleway SemiBold"/>
              </a:rPr>
              <a:t>PROJECTE: GRUP D TARDA (SEIENTS)</a:t>
            </a:r>
            <a:endParaRPr sz="2000" dirty="0">
              <a:solidFill>
                <a:schemeClr val="accen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642" name="Google Shape;642;p43"/>
          <p:cNvSpPr txBox="1">
            <a:spLocks noGrp="1"/>
          </p:cNvSpPr>
          <p:nvPr>
            <p:ph type="subTitle" idx="1"/>
          </p:nvPr>
        </p:nvSpPr>
        <p:spPr>
          <a:xfrm>
            <a:off x="3282567" y="3437089"/>
            <a:ext cx="4762500" cy="835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Joan Martínez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Joan Heras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Manel Frías</a:t>
            </a:r>
            <a:endParaRPr dirty="0"/>
          </a:p>
        </p:txBody>
      </p:sp>
      <p:grpSp>
        <p:nvGrpSpPr>
          <p:cNvPr id="643" name="Google Shape;643;p43"/>
          <p:cNvGrpSpPr/>
          <p:nvPr/>
        </p:nvGrpSpPr>
        <p:grpSpPr>
          <a:xfrm rot="5400000">
            <a:off x="3335158" y="5364916"/>
            <a:ext cx="3589973" cy="1044767"/>
            <a:chOff x="-2333670" y="-733424"/>
            <a:chExt cx="4762500" cy="1386000"/>
          </a:xfrm>
        </p:grpSpPr>
        <p:sp>
          <p:nvSpPr>
            <p:cNvPr id="644" name="Google Shape;644;p4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8" name="Google Shape;648;p43"/>
          <p:cNvGrpSpPr/>
          <p:nvPr/>
        </p:nvGrpSpPr>
        <p:grpSpPr>
          <a:xfrm>
            <a:off x="6679763" y="256500"/>
            <a:ext cx="1699272" cy="3059081"/>
            <a:chOff x="6679763" y="256500"/>
            <a:chExt cx="1699272" cy="3059081"/>
          </a:xfrm>
        </p:grpSpPr>
        <p:sp>
          <p:nvSpPr>
            <p:cNvPr id="649" name="Google Shape;649;p43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3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3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3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3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3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3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3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3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3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3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3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3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" name="Google Shape;668;p43"/>
          <p:cNvGrpSpPr/>
          <p:nvPr/>
        </p:nvGrpSpPr>
        <p:grpSpPr>
          <a:xfrm>
            <a:off x="6280093" y="3800476"/>
            <a:ext cx="2498613" cy="1123948"/>
            <a:chOff x="6237531" y="3846675"/>
            <a:chExt cx="2498613" cy="1123948"/>
          </a:xfrm>
        </p:grpSpPr>
        <p:sp>
          <p:nvSpPr>
            <p:cNvPr id="669" name="Google Shape;669;p43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43"/>
          <p:cNvGrpSpPr/>
          <p:nvPr/>
        </p:nvGrpSpPr>
        <p:grpSpPr>
          <a:xfrm rot="5400000">
            <a:off x="790490" y="3751532"/>
            <a:ext cx="753870" cy="1744297"/>
            <a:chOff x="5088650" y="245050"/>
            <a:chExt cx="1046025" cy="2420282"/>
          </a:xfrm>
        </p:grpSpPr>
        <p:sp>
          <p:nvSpPr>
            <p:cNvPr id="680" name="Google Shape;680;p43"/>
            <p:cNvSpPr/>
            <p:nvPr/>
          </p:nvSpPr>
          <p:spPr>
            <a:xfrm>
              <a:off x="5547343" y="1580799"/>
              <a:ext cx="128662" cy="108453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43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687" name="Google Shape;687;p43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5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5"/>
          <p:cNvSpPr/>
          <p:nvPr/>
        </p:nvSpPr>
        <p:spPr>
          <a:xfrm>
            <a:off x="3636425" y="1349100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3636425" y="2203963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5"/>
          <p:cNvSpPr/>
          <p:nvPr/>
        </p:nvSpPr>
        <p:spPr>
          <a:xfrm>
            <a:off x="3636425" y="3058825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5"/>
          <p:cNvSpPr/>
          <p:nvPr/>
        </p:nvSpPr>
        <p:spPr>
          <a:xfrm>
            <a:off x="3636425" y="3913688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2"/>
          </p:nvPr>
        </p:nvSpPr>
        <p:spPr>
          <a:xfrm>
            <a:off x="4391025" y="1450451"/>
            <a:ext cx="4610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OBJECTIUS DEL PROJECTE</a:t>
            </a:r>
          </a:p>
        </p:txBody>
      </p:sp>
      <p:sp>
        <p:nvSpPr>
          <p:cNvPr id="715" name="Google Shape;715;p45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CONTINGUTS</a:t>
            </a:r>
            <a:endParaRPr dirty="0"/>
          </a:p>
        </p:txBody>
      </p:sp>
      <p:sp>
        <p:nvSpPr>
          <p:cNvPr id="716" name="Google Shape;716;p45"/>
          <p:cNvSpPr txBox="1">
            <a:spLocks noGrp="1"/>
          </p:cNvSpPr>
          <p:nvPr>
            <p:ph type="title" idx="4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8" name="Google Shape;718;p45"/>
          <p:cNvSpPr txBox="1">
            <a:spLocks noGrp="1"/>
          </p:cNvSpPr>
          <p:nvPr>
            <p:ph type="subTitle" idx="6"/>
          </p:nvPr>
        </p:nvSpPr>
        <p:spPr>
          <a:xfrm>
            <a:off x="4443125" y="4047537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SIMULACIONS</a:t>
            </a:r>
            <a:endParaRPr dirty="0"/>
          </a:p>
        </p:txBody>
      </p:sp>
      <p:sp>
        <p:nvSpPr>
          <p:cNvPr id="719" name="Google Shape;719;p45"/>
          <p:cNvSpPr txBox="1">
            <a:spLocks noGrp="1"/>
          </p:cNvSpPr>
          <p:nvPr>
            <p:ph type="title" idx="7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9"/>
          </p:nvPr>
        </p:nvSpPr>
        <p:spPr>
          <a:xfrm>
            <a:off x="4423172" y="3175350"/>
            <a:ext cx="4545806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ESQUEMÀTIC </a:t>
            </a:r>
            <a:r>
              <a:rPr lang="es-ES" sz="2300" dirty="0"/>
              <a:t>I</a:t>
            </a:r>
            <a:r>
              <a:rPr lang="en" sz="2300" dirty="0"/>
              <a:t> COMPONENTS</a:t>
            </a:r>
            <a:endParaRPr sz="2300" dirty="0"/>
          </a:p>
        </p:txBody>
      </p:sp>
      <p:sp>
        <p:nvSpPr>
          <p:cNvPr id="722" name="Google Shape;722;p45"/>
          <p:cNvSpPr txBox="1">
            <a:spLocks noGrp="1"/>
          </p:cNvSpPr>
          <p:nvPr>
            <p:ph type="title" idx="13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15"/>
          </p:nvPr>
        </p:nvSpPr>
        <p:spPr>
          <a:xfrm>
            <a:off x="4428837" y="2322638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DIAGRAMA DE BLOCS</a:t>
            </a:r>
          </a:p>
        </p:txBody>
      </p:sp>
      <p:grpSp>
        <p:nvGrpSpPr>
          <p:cNvPr id="725" name="Google Shape;725;p45"/>
          <p:cNvGrpSpPr/>
          <p:nvPr/>
        </p:nvGrpSpPr>
        <p:grpSpPr>
          <a:xfrm>
            <a:off x="909222" y="328500"/>
            <a:ext cx="1416152" cy="3644700"/>
            <a:chOff x="913822" y="341700"/>
            <a:chExt cx="1416152" cy="3644700"/>
          </a:xfrm>
        </p:grpSpPr>
        <p:grpSp>
          <p:nvGrpSpPr>
            <p:cNvPr id="726" name="Google Shape;726;p45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27" name="Google Shape;727;p45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5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5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1" name="Google Shape;731;p45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2" name="Google Shape;732;p45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5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5" name="Google Shape;735;p45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45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38" name="Google Shape;738;p45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45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1" name="Google Shape;741;p45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45"/>
          <p:cNvGrpSpPr/>
          <p:nvPr/>
        </p:nvGrpSpPr>
        <p:grpSpPr>
          <a:xfrm>
            <a:off x="840503" y="978572"/>
            <a:ext cx="1548193" cy="2344555"/>
            <a:chOff x="874813" y="1108300"/>
            <a:chExt cx="1488647" cy="2254380"/>
          </a:xfrm>
        </p:grpSpPr>
        <p:sp>
          <p:nvSpPr>
            <p:cNvPr id="744" name="Google Shape;744;p45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5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5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5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45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750" name="Google Shape;750;p45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5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5"/>
          <p:cNvSpPr/>
          <p:nvPr/>
        </p:nvSpPr>
        <p:spPr>
          <a:xfrm>
            <a:off x="3636425" y="1349100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3636425" y="2203963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2"/>
          </p:nvPr>
        </p:nvSpPr>
        <p:spPr>
          <a:xfrm>
            <a:off x="4391025" y="1450451"/>
            <a:ext cx="4610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BOM</a:t>
            </a:r>
          </a:p>
        </p:txBody>
      </p:sp>
      <p:sp>
        <p:nvSpPr>
          <p:cNvPr id="722" name="Google Shape;722;p45"/>
          <p:cNvSpPr txBox="1">
            <a:spLocks noGrp="1"/>
          </p:cNvSpPr>
          <p:nvPr>
            <p:ph type="title" idx="13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15"/>
          </p:nvPr>
        </p:nvSpPr>
        <p:spPr>
          <a:xfrm>
            <a:off x="4428837" y="2322638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RESOURCES</a:t>
            </a:r>
          </a:p>
        </p:txBody>
      </p:sp>
      <p:grpSp>
        <p:nvGrpSpPr>
          <p:cNvPr id="725" name="Google Shape;725;p45"/>
          <p:cNvGrpSpPr/>
          <p:nvPr/>
        </p:nvGrpSpPr>
        <p:grpSpPr>
          <a:xfrm>
            <a:off x="909222" y="328500"/>
            <a:ext cx="1416152" cy="3644700"/>
            <a:chOff x="913822" y="341700"/>
            <a:chExt cx="1416152" cy="3644700"/>
          </a:xfrm>
        </p:grpSpPr>
        <p:grpSp>
          <p:nvGrpSpPr>
            <p:cNvPr id="726" name="Google Shape;726;p45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27" name="Google Shape;727;p45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5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5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1" name="Google Shape;731;p45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2" name="Google Shape;732;p45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5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5" name="Google Shape;735;p45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45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38" name="Google Shape;738;p45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45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1" name="Google Shape;741;p45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45"/>
          <p:cNvGrpSpPr/>
          <p:nvPr/>
        </p:nvGrpSpPr>
        <p:grpSpPr>
          <a:xfrm>
            <a:off x="840503" y="978572"/>
            <a:ext cx="1548193" cy="2344555"/>
            <a:chOff x="874813" y="1108300"/>
            <a:chExt cx="1488647" cy="2254380"/>
          </a:xfrm>
        </p:grpSpPr>
        <p:sp>
          <p:nvSpPr>
            <p:cNvPr id="744" name="Google Shape;744;p45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5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5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5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45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750" name="Google Shape;750;p45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770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7"/>
          <p:cNvGrpSpPr/>
          <p:nvPr/>
        </p:nvGrpSpPr>
        <p:grpSpPr>
          <a:xfrm flipH="1">
            <a:off x="5914770" y="91"/>
            <a:ext cx="3229223" cy="820210"/>
            <a:chOff x="5914788" y="4092325"/>
            <a:chExt cx="3229223" cy="1032360"/>
          </a:xfrm>
        </p:grpSpPr>
        <p:sp>
          <p:nvSpPr>
            <p:cNvPr id="778" name="Google Shape;778;p47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 txBox="1">
            <a:spLocks noGrp="1"/>
          </p:cNvSpPr>
          <p:nvPr>
            <p:ph type="title" idx="2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latin typeface="Raleway ExtraBold"/>
                <a:ea typeface="Raleway ExtraBold"/>
                <a:cs typeface="Raleway ExtraBold"/>
                <a:sym typeface="Raleway ExtraBold"/>
              </a:rPr>
              <a:t>OBJECTIUS DEL PROJECTE</a:t>
            </a:r>
            <a:endParaRPr lang="es-ES" sz="4000" dirty="0"/>
          </a:p>
        </p:txBody>
      </p:sp>
      <p:grpSp>
        <p:nvGrpSpPr>
          <p:cNvPr id="809" name="Google Shape;809;p4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810" name="Google Shape;810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47"/>
          <p:cNvGrpSpPr/>
          <p:nvPr/>
        </p:nvGrpSpPr>
        <p:grpSpPr>
          <a:xfrm rot="10800000" flipH="1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817" name="Google Shape;817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4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824" name="Google Shape;824;p4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7" name="Google Shape;837;p4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47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847" name="Google Shape;847;p47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66048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3945910" y="665737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OBJECTIUS DEL PROJECTE </a:t>
            </a:r>
            <a:r>
              <a:rPr lang="en" sz="3600" dirty="0">
                <a:latin typeface="Raleway SemiBold"/>
                <a:ea typeface="Raleway SemiBold"/>
                <a:cs typeface="Raleway SemiBold"/>
                <a:sym typeface="Raleway SemiBold"/>
              </a:rPr>
              <a:t>(Característiques):</a:t>
            </a:r>
            <a:endParaRPr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517520" y="2584164"/>
            <a:ext cx="5261106" cy="255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100" dirty="0"/>
              <a:t>En primer lloc cal explicar que estem davant de l'elaboració d’un mòdul crític per a la seguretat i el funcionament del vehicle. El sistema de SEIENTS DIGITALS és la interfície entre l'energia del cotxe i la seguretat del conductor. Per tant ens basarem en aquests puts adjuntats al guió: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100" dirty="0"/>
              <a:t>   </a:t>
            </a:r>
            <a:r>
              <a:rPr lang="ca-ES" sz="1050" dirty="0"/>
              <a:t>a) 3 motors (posició, alçada, reclinació) amb els seus finals de carrera.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b) Calefacció del seient.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c) Sensor digital de cinturons.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d) Memòria externa no volàtil per guardar posicions </a:t>
            </a:r>
            <a:r>
              <a:rPr lang="ca-ES" sz="1050" dirty="0" err="1"/>
              <a:t>pre</a:t>
            </a:r>
            <a:r>
              <a:rPr lang="ca-ES" sz="1050" dirty="0"/>
              <a:t>-programades.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-768321" y="88878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OBJECTIUS PRINCIPALS DEL PROJECTE</a:t>
            </a:r>
            <a:endParaRPr sz="36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523146" y="963530"/>
            <a:ext cx="5261106" cy="3702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00" dirty="0"/>
              <a:t>L'objectiu principal és dissenyar i fabricar una PCB funcional per a la gestió del subsistema de seients elèctrics d'un vehicle, complint els següents punts: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Controlar 3 motors del seient:</a:t>
            </a:r>
          </a:p>
          <a:p>
            <a:pPr marL="171450" indent="-171450" algn="l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Posició longitudinal, alçada, Inclinació del respatller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Detectar finals de carrera per evitar sobrecàrregues mecàniques.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Implementar calefacció del seient amb control electrònic.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Detectar estat del cinturó de seguretat.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Guardar i recuperar posicions programades del seient mitjançant memòria no volàtil.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Permetre la interacció de l’usuari amb botonera.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Comunicar-se amb la xarxa del vehicle via bus CAN.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Permetre monitorització i </a:t>
            </a:r>
            <a:r>
              <a:rPr lang="ca-ES" sz="1000" dirty="0" err="1"/>
              <a:t>debug</a:t>
            </a:r>
            <a:r>
              <a:rPr lang="ca-ES" sz="1000" dirty="0"/>
              <a:t> via </a:t>
            </a:r>
            <a:r>
              <a:rPr lang="ca-ES" sz="1000" dirty="0" err="1"/>
              <a:t>USART.c</a:t>
            </a:r>
            <a:endParaRPr lang="ca-ES" sz="1000" dirty="0"/>
          </a:p>
        </p:txBody>
      </p:sp>
    </p:spTree>
    <p:extLst>
      <p:ext uri="{BB962C8B-B14F-4D97-AF65-F5344CB8AC3E}">
        <p14:creationId xmlns:p14="http://schemas.microsoft.com/office/powerpoint/2010/main" val="71830603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7"/>
          <p:cNvGrpSpPr/>
          <p:nvPr/>
        </p:nvGrpSpPr>
        <p:grpSpPr>
          <a:xfrm flipH="1">
            <a:off x="5914770" y="91"/>
            <a:ext cx="3229223" cy="820210"/>
            <a:chOff x="5914788" y="4092325"/>
            <a:chExt cx="3229223" cy="1032360"/>
          </a:xfrm>
        </p:grpSpPr>
        <p:sp>
          <p:nvSpPr>
            <p:cNvPr id="778" name="Google Shape;778;p47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 txBox="1">
            <a:spLocks noGrp="1"/>
          </p:cNvSpPr>
          <p:nvPr>
            <p:ph type="title" idx="2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DIAGRAMA DE BLOCS</a:t>
            </a:r>
            <a:endParaRPr dirty="0"/>
          </a:p>
        </p:txBody>
      </p:sp>
      <p:grpSp>
        <p:nvGrpSpPr>
          <p:cNvPr id="809" name="Google Shape;809;p4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810" name="Google Shape;810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47"/>
          <p:cNvGrpSpPr/>
          <p:nvPr/>
        </p:nvGrpSpPr>
        <p:grpSpPr>
          <a:xfrm rot="10800000" flipH="1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817" name="Google Shape;817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4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824" name="Google Shape;824;p4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7" name="Google Shape;837;p4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47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847" name="Google Shape;847;p47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1366752-51D0-417E-A1F2-BB40BF7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5" y="203161"/>
            <a:ext cx="1064555" cy="573300"/>
          </a:xfrm>
        </p:spPr>
        <p:txBody>
          <a:bodyPr/>
          <a:lstStyle/>
          <a:p>
            <a:r>
              <a:rPr lang="ca-ES" dirty="0"/>
              <a:t>V.2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6F57972-62EA-4E74-90C1-758847C1A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9058" y="-29496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6968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1366752-51D0-417E-A1F2-BB40BF7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5" y="203161"/>
            <a:ext cx="1064555" cy="573300"/>
          </a:xfrm>
        </p:spPr>
        <p:txBody>
          <a:bodyPr/>
          <a:lstStyle/>
          <a:p>
            <a:r>
              <a:rPr lang="ca-ES" dirty="0"/>
              <a:t>V.3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8EECCAA4-40FF-4B56-8335-F7C9982C1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0465" y="0"/>
            <a:ext cx="73077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71"/>
          <p:cNvSpPr/>
          <p:nvPr/>
        </p:nvSpPr>
        <p:spPr>
          <a:xfrm>
            <a:off x="5914800" y="-75"/>
            <a:ext cx="3229200" cy="432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8" name="Google Shape;1428;p71"/>
          <p:cNvGrpSpPr/>
          <p:nvPr/>
        </p:nvGrpSpPr>
        <p:grpSpPr>
          <a:xfrm flipH="1">
            <a:off x="5914611" y="4323416"/>
            <a:ext cx="3229223" cy="820210"/>
            <a:chOff x="5914788" y="4092325"/>
            <a:chExt cx="3229223" cy="1032360"/>
          </a:xfrm>
        </p:grpSpPr>
        <p:sp>
          <p:nvSpPr>
            <p:cNvPr id="1429" name="Google Shape;1429;p71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71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71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71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71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71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71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71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71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71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71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71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71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71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71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71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71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71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71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71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71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71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71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1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1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4" name="Google Shape;1454;p71"/>
          <p:cNvSpPr/>
          <p:nvPr/>
        </p:nvSpPr>
        <p:spPr>
          <a:xfrm>
            <a:off x="930338" y="639781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71"/>
          <p:cNvSpPr txBox="1">
            <a:spLocks noGrp="1"/>
          </p:cNvSpPr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ESQUEMÀTIC DEL PROJECTE</a:t>
            </a:r>
            <a:endParaRPr dirty="0"/>
          </a:p>
        </p:txBody>
      </p:sp>
      <p:sp>
        <p:nvSpPr>
          <p:cNvPr id="1456" name="Google Shape;1456;p71"/>
          <p:cNvSpPr txBox="1">
            <a:spLocks noGrp="1"/>
          </p:cNvSpPr>
          <p:nvPr>
            <p:ph type="title" idx="2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458" name="Google Shape;1458;p71"/>
          <p:cNvGrpSpPr/>
          <p:nvPr/>
        </p:nvGrpSpPr>
        <p:grpSpPr>
          <a:xfrm>
            <a:off x="6824022" y="341625"/>
            <a:ext cx="1416152" cy="3644700"/>
            <a:chOff x="913822" y="341700"/>
            <a:chExt cx="1416152" cy="3644700"/>
          </a:xfrm>
        </p:grpSpPr>
        <p:grpSp>
          <p:nvGrpSpPr>
            <p:cNvPr id="1459" name="Google Shape;1459;p71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1460" name="Google Shape;1460;p71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71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71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71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71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1465" name="Google Shape;1465;p71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71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7" name="Google Shape;1467;p71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1468" name="Google Shape;1468;p71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71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0" name="Google Shape;1470;p71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1471" name="Google Shape;1471;p71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71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3" name="Google Shape;1473;p71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1474" name="Google Shape;1474;p71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71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6" name="Google Shape;1476;p71"/>
          <p:cNvGrpSpPr/>
          <p:nvPr/>
        </p:nvGrpSpPr>
        <p:grpSpPr>
          <a:xfrm>
            <a:off x="6755303" y="991697"/>
            <a:ext cx="1548193" cy="2344555"/>
            <a:chOff x="874813" y="1108300"/>
            <a:chExt cx="1488647" cy="2254380"/>
          </a:xfrm>
        </p:grpSpPr>
        <p:sp>
          <p:nvSpPr>
            <p:cNvPr id="1477" name="Google Shape;1477;p71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71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71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71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71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2" name="Google Shape;1482;p71"/>
          <p:cNvGrpSpPr/>
          <p:nvPr/>
        </p:nvGrpSpPr>
        <p:grpSpPr>
          <a:xfrm rot="10800000">
            <a:off x="3498734" y="-73"/>
            <a:ext cx="753870" cy="1800196"/>
            <a:chOff x="5088650" y="245050"/>
            <a:chExt cx="1046025" cy="2497843"/>
          </a:xfrm>
        </p:grpSpPr>
        <p:sp>
          <p:nvSpPr>
            <p:cNvPr id="1483" name="Google Shape;1483;p71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71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71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71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71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71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412819" y="242394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ALIMENTACIÓ:</a:t>
            </a:r>
            <a:endParaRPr sz="2400" dirty="0"/>
          </a:p>
        </p:txBody>
      </p:sp>
      <p:pic>
        <p:nvPicPr>
          <p:cNvPr id="19" name="Imagen 18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7F9ED4A0-48FE-4045-94FD-6B9CEA25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19" y="1193397"/>
            <a:ext cx="8318362" cy="275670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69919" y="228107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SENSORS:</a:t>
            </a:r>
            <a:endParaRPr sz="2400" dirty="0"/>
          </a:p>
        </p:txBody>
      </p: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7A5172F-4DA4-4A05-A9F0-BF003FC4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3" y="662783"/>
            <a:ext cx="7972958" cy="381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DRIVERS:</a:t>
            </a:r>
            <a:endParaRPr sz="2400" dirty="0"/>
          </a:p>
        </p:txBody>
      </p:sp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272AE783-7DA2-4DE5-8EAB-347B1071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24" y="631724"/>
            <a:ext cx="6622551" cy="437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0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EEPROM: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A636C9-6222-4496-BCFB-D0E5372B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580" y="224484"/>
            <a:ext cx="4572000" cy="471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68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55632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MOSFET: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C9EC90-9D48-40E9-B467-67A9ADC1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182" y="249538"/>
            <a:ext cx="3873636" cy="465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0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-244406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TCAN:</a:t>
            </a:r>
            <a:endParaRPr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2440FF-1A17-47C7-9C82-95DBB9261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73" y="822838"/>
            <a:ext cx="6722654" cy="401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7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205651" y="25668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BOTONERA:</a:t>
            </a:r>
            <a:endParaRPr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36D20F-DFF0-4843-B29F-14971B025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004" y="256682"/>
            <a:ext cx="3328602" cy="463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78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391388" y="242394"/>
            <a:ext cx="37162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MICROCONTROLADOR:</a:t>
            </a:r>
            <a:endParaRPr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FB6DA6-0A30-4338-979E-19C6DA0A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3" y="647544"/>
            <a:ext cx="5972174" cy="425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36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SIMULACIONS LTSPICE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EB1D0B-6591-4B80-ABB2-47B0B4580E67}"/>
              </a:ext>
            </a:extLst>
          </p:cNvPr>
          <p:cNvSpPr txBox="1"/>
          <p:nvPr/>
        </p:nvSpPr>
        <p:spPr>
          <a:xfrm>
            <a:off x="934402" y="628888"/>
            <a:ext cx="7275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 particular, s’ha simulat el regulador de tensió (LM1117) amb diferents condicions de càrrega per comprovar la seva capacitat de mantenir una tensió estable de 3.3V davant variacions de corrent: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CC8359-3A57-4C6A-8776-1E41AC5C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7" y="2367356"/>
            <a:ext cx="2704824" cy="15544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D29F18-0AC0-44C8-AF62-CBCB5C015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534" y="2228858"/>
            <a:ext cx="4684394" cy="1831492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9BC2DB1-E760-44DB-80EE-A7BA556131FC}"/>
              </a:ext>
            </a:extLst>
          </p:cNvPr>
          <p:cNvCxnSpPr/>
          <p:nvPr/>
        </p:nvCxnSpPr>
        <p:spPr>
          <a:xfrm>
            <a:off x="3139440" y="3144604"/>
            <a:ext cx="624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EE2214-C068-4C2D-AF68-F25125CD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7531"/>
            <a:ext cx="3078480" cy="2743322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3E2A557-2FFB-43BF-BB4A-D0D9038B9A42}"/>
              </a:ext>
            </a:extLst>
          </p:cNvPr>
          <p:cNvCxnSpPr>
            <a:cxnSpLocks/>
          </p:cNvCxnSpPr>
          <p:nvPr/>
        </p:nvCxnSpPr>
        <p:spPr>
          <a:xfrm>
            <a:off x="4046220" y="3679192"/>
            <a:ext cx="777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9FC9BE51-856F-452D-B9C3-EA32D8D87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946" y="2307531"/>
            <a:ext cx="3006314" cy="274331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DD21B4E-AC4B-49E2-A5B2-DEC63AEA6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380" y="290939"/>
            <a:ext cx="4312920" cy="168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sym typeface="Raleway ExtraBold"/>
              </a:rPr>
              <a:t>B.O.M.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4892162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Raleway ExtraBold"/>
                <a:sym typeface="Raleway ExtraBold"/>
              </a:rPr>
              <a:t>RESOURCES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25862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9" name="Google Shape;2189;p94"/>
          <p:cNvGrpSpPr/>
          <p:nvPr/>
        </p:nvGrpSpPr>
        <p:grpSpPr>
          <a:xfrm rot="-5400000" flipH="1">
            <a:off x="7675663" y="1669168"/>
            <a:ext cx="753870" cy="1592276"/>
            <a:chOff x="5088650" y="245050"/>
            <a:chExt cx="1046025" cy="2209346"/>
          </a:xfrm>
        </p:grpSpPr>
        <p:sp>
          <p:nvSpPr>
            <p:cNvPr id="2190" name="Google Shape;2190;p94"/>
            <p:cNvSpPr/>
            <p:nvPr/>
          </p:nvSpPr>
          <p:spPr>
            <a:xfrm>
              <a:off x="5547343" y="1580787"/>
              <a:ext cx="128662" cy="87360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94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94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94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94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94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7" name="Google Shape;2187;p94"/>
          <p:cNvSpPr txBox="1">
            <a:spLocks noGrp="1"/>
          </p:cNvSpPr>
          <p:nvPr>
            <p:ph type="body" idx="1"/>
          </p:nvPr>
        </p:nvSpPr>
        <p:spPr>
          <a:xfrm>
            <a:off x="720000" y="558165"/>
            <a:ext cx="653646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dirty="0">
                <a:latin typeface="Raleway SemiBold"/>
                <a:ea typeface="Raleway SemiBold"/>
                <a:cs typeface="Raleway SemiBold"/>
                <a:sym typeface="Raleway SemiBold"/>
              </a:rPr>
              <a:t>Webgrafia: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Microchip </a:t>
            </a:r>
            <a:r>
              <a:rPr lang="es-ES" sz="1200" b="1" dirty="0" err="1">
                <a:uFill>
                  <a:noFill/>
                </a:uFill>
              </a:rPr>
              <a:t>Technology</a:t>
            </a:r>
            <a:r>
              <a:rPr lang="es-ES" sz="1200" dirty="0">
                <a:uFill>
                  <a:noFill/>
                </a:uFill>
              </a:rPr>
              <a:t>. (2012). PIC24HJ128GP502 </a:t>
            </a:r>
            <a:r>
              <a:rPr lang="es-ES" sz="1200" dirty="0" err="1">
                <a:uFill>
                  <a:noFill/>
                </a:uFill>
              </a:rPr>
              <a:t>Family</a:t>
            </a:r>
            <a:r>
              <a:rPr lang="es-ES" sz="1200" dirty="0">
                <a:uFill>
                  <a:noFill/>
                </a:uFill>
              </a:rPr>
              <a:t> Data </a:t>
            </a:r>
            <a:r>
              <a:rPr lang="es-ES" sz="1200" dirty="0" err="1">
                <a:uFill>
                  <a:noFill/>
                </a:uFill>
              </a:rPr>
              <a:t>Sheet</a:t>
            </a:r>
            <a:r>
              <a:rPr lang="es-ES" sz="1200" dirty="0">
                <a:uFill>
                  <a:noFill/>
                </a:uFill>
              </a:rPr>
              <a:t>. High-Performance, 16-bit Digital </a:t>
            </a:r>
            <a:r>
              <a:rPr lang="es-ES" sz="1200" dirty="0" err="1">
                <a:uFill>
                  <a:noFill/>
                </a:uFill>
              </a:rPr>
              <a:t>Signal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Controllers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 Disponible a: microchip.com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Microchip </a:t>
            </a:r>
            <a:r>
              <a:rPr lang="es-ES" sz="1200" b="1" dirty="0" err="1">
                <a:uFill>
                  <a:noFill/>
                </a:uFill>
              </a:rPr>
              <a:t>Technology</a:t>
            </a:r>
            <a:r>
              <a:rPr lang="es-ES" sz="1200" dirty="0">
                <a:uFill>
                  <a:noFill/>
                </a:uFill>
              </a:rPr>
              <a:t>. (2016). MCP2561/2 High-</a:t>
            </a:r>
            <a:r>
              <a:rPr lang="es-ES" sz="1200" dirty="0" err="1">
                <a:uFill>
                  <a:noFill/>
                </a:uFill>
              </a:rPr>
              <a:t>Speed</a:t>
            </a:r>
            <a:r>
              <a:rPr lang="es-ES" sz="1200" dirty="0">
                <a:uFill>
                  <a:noFill/>
                </a:uFill>
              </a:rPr>
              <a:t> CAN </a:t>
            </a:r>
            <a:r>
              <a:rPr lang="es-ES" sz="1200" dirty="0" err="1">
                <a:uFill>
                  <a:noFill/>
                </a:uFill>
              </a:rPr>
              <a:t>Transceiver</a:t>
            </a:r>
            <a:r>
              <a:rPr lang="es-ES" sz="1200" dirty="0">
                <a:uFill>
                  <a:noFill/>
                </a:uFill>
              </a:rPr>
              <a:t> Data </a:t>
            </a:r>
            <a:r>
              <a:rPr lang="es-ES" sz="1200" dirty="0" err="1">
                <a:uFill>
                  <a:noFill/>
                </a:uFill>
              </a:rPr>
              <a:t>Sheet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].Texas Instruments. (2020). LM1117 800-mA, Low-</a:t>
            </a:r>
            <a:r>
              <a:rPr lang="es-ES" sz="1200" dirty="0" err="1">
                <a:uFill>
                  <a:noFill/>
                </a:uFill>
              </a:rPr>
              <a:t>Dropout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Voltage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Regulator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 Disponible a: ti.com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 err="1">
                <a:uFill>
                  <a:noFill/>
                </a:uFill>
              </a:rPr>
              <a:t>Infineon</a:t>
            </a:r>
            <a:r>
              <a:rPr lang="es-ES" sz="1200" b="1" dirty="0">
                <a:uFill>
                  <a:noFill/>
                </a:uFill>
              </a:rPr>
              <a:t> Technologies</a:t>
            </a:r>
            <a:r>
              <a:rPr lang="es-ES" sz="1200" dirty="0">
                <a:uFill>
                  <a:noFill/>
                </a:uFill>
              </a:rPr>
              <a:t>. (2023). Automotive </a:t>
            </a:r>
            <a:r>
              <a:rPr lang="es-ES" sz="1200" dirty="0" err="1">
                <a:uFill>
                  <a:noFill/>
                </a:uFill>
              </a:rPr>
              <a:t>MOSFETs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Selection</a:t>
            </a:r>
            <a:r>
              <a:rPr lang="es-ES" sz="1200" dirty="0">
                <a:uFill>
                  <a:noFill/>
                </a:uFill>
              </a:rPr>
              <a:t> Guide.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Vector </a:t>
            </a:r>
            <a:r>
              <a:rPr lang="es-ES" sz="1200" b="1" dirty="0" err="1">
                <a:uFill>
                  <a:noFill/>
                </a:uFill>
              </a:rPr>
              <a:t>Informatik</a:t>
            </a:r>
            <a:r>
              <a:rPr lang="es-ES" sz="1200" b="1" dirty="0">
                <a:uFill>
                  <a:noFill/>
                </a:uFill>
              </a:rPr>
              <a:t> </a:t>
            </a:r>
            <a:r>
              <a:rPr lang="es-ES" sz="1200" b="1" dirty="0" err="1">
                <a:uFill>
                  <a:noFill/>
                </a:uFill>
              </a:rPr>
              <a:t>GmbH</a:t>
            </a:r>
            <a:r>
              <a:rPr lang="es-ES" sz="1200" dirty="0">
                <a:uFill>
                  <a:noFill/>
                </a:uFill>
              </a:rPr>
              <a:t>. (2024). CAN </a:t>
            </a:r>
            <a:r>
              <a:rPr lang="es-ES" sz="1200" dirty="0" err="1">
                <a:uFill>
                  <a:noFill/>
                </a:uFill>
              </a:rPr>
              <a:t>Knowledge</a:t>
            </a:r>
            <a:r>
              <a:rPr lang="es-ES" sz="1200" dirty="0">
                <a:uFill>
                  <a:noFill/>
                </a:uFill>
              </a:rPr>
              <a:t> Base. [web]. vector.com.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 dirty="0">
                <a:uFill>
                  <a:noFill/>
                </a:uFill>
              </a:rPr>
              <a:t>All About Circuits</a:t>
            </a:r>
            <a:r>
              <a:rPr lang="en-US" sz="1200" dirty="0">
                <a:uFill>
                  <a:noFill/>
                </a:uFill>
              </a:rPr>
              <a:t>. (2024). Understanding the I2C Bus. [Article </a:t>
            </a:r>
            <a:r>
              <a:rPr lang="en-US" sz="1200" dirty="0" err="1">
                <a:uFill>
                  <a:noFill/>
                </a:uFill>
              </a:rPr>
              <a:t>tècnic</a:t>
            </a:r>
            <a:r>
              <a:rPr lang="en-US" sz="1200" dirty="0">
                <a:uFill>
                  <a:noFill/>
                </a:uFill>
              </a:rPr>
              <a:t>]. Disponible a: allaboutcircuits.com.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 dirty="0">
                <a:uFill>
                  <a:noFill/>
                </a:uFill>
              </a:rPr>
              <a:t>Microchip Developer Help</a:t>
            </a:r>
            <a:r>
              <a:rPr lang="en-US" sz="1200" dirty="0">
                <a:uFill>
                  <a:noFill/>
                </a:uFill>
              </a:rPr>
              <a:t>. Getting Started with MPLAB X IDE and XC16 Compiler. [Portal de </a:t>
            </a:r>
            <a:r>
              <a:rPr lang="en-US" sz="1200" dirty="0" err="1">
                <a:uFill>
                  <a:noFill/>
                </a:uFill>
              </a:rPr>
              <a:t>suport</a:t>
            </a:r>
            <a:r>
              <a:rPr lang="en-US" sz="1200" dirty="0">
                <a:uFill>
                  <a:noFill/>
                </a:uFill>
              </a:rPr>
              <a:t>].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sz="1200" dirty="0">
              <a:uFill>
                <a:noFill/>
              </a:u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92"/>
          <p:cNvSpPr/>
          <p:nvPr/>
        </p:nvSpPr>
        <p:spPr>
          <a:xfrm flipH="1">
            <a:off x="-9600" y="781000"/>
            <a:ext cx="3229200" cy="3591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92"/>
          <p:cNvSpPr/>
          <p:nvPr/>
        </p:nvSpPr>
        <p:spPr>
          <a:xfrm flipH="1">
            <a:off x="-9593" y="-12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0" name="Google Shape;2050;p92"/>
          <p:cNvGrpSpPr/>
          <p:nvPr/>
        </p:nvGrpSpPr>
        <p:grpSpPr>
          <a:xfrm flipH="1">
            <a:off x="-9593" y="4324341"/>
            <a:ext cx="3229223" cy="820210"/>
            <a:chOff x="5914788" y="4092325"/>
            <a:chExt cx="3229223" cy="1032360"/>
          </a:xfrm>
        </p:grpSpPr>
        <p:sp>
          <p:nvSpPr>
            <p:cNvPr id="2051" name="Google Shape;2051;p92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92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92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92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92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92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92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92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92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92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92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92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92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92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92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92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92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92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2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2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2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92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92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2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6" name="Google Shape;2076;p92"/>
          <p:cNvSpPr txBox="1">
            <a:spLocks noGrp="1"/>
          </p:cNvSpPr>
          <p:nvPr>
            <p:ph type="ctrTitle"/>
          </p:nvPr>
        </p:nvSpPr>
        <p:spPr>
          <a:xfrm>
            <a:off x="4107656" y="2136440"/>
            <a:ext cx="38004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GRÀCIES!</a:t>
            </a:r>
            <a:endParaRPr dirty="0"/>
          </a:p>
        </p:txBody>
      </p:sp>
      <p:grpSp>
        <p:nvGrpSpPr>
          <p:cNvPr id="2096" name="Google Shape;2096;p92"/>
          <p:cNvGrpSpPr/>
          <p:nvPr/>
        </p:nvGrpSpPr>
        <p:grpSpPr>
          <a:xfrm rot="10800000" flipH="1">
            <a:off x="736137" y="1133417"/>
            <a:ext cx="1737764" cy="3190933"/>
            <a:chOff x="-2015525" y="1190673"/>
            <a:chExt cx="1253526" cy="2302260"/>
          </a:xfrm>
        </p:grpSpPr>
        <p:sp>
          <p:nvSpPr>
            <p:cNvPr id="2097" name="Google Shape;2097;p92"/>
            <p:cNvSpPr/>
            <p:nvPr/>
          </p:nvSpPr>
          <p:spPr>
            <a:xfrm>
              <a:off x="-1465824" y="1190673"/>
              <a:ext cx="154224" cy="574880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92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92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92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92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92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3" name="Google Shape;2103;p92"/>
          <p:cNvGrpSpPr/>
          <p:nvPr/>
        </p:nvGrpSpPr>
        <p:grpSpPr>
          <a:xfrm flipH="1">
            <a:off x="171358" y="127313"/>
            <a:ext cx="2867297" cy="587084"/>
            <a:chOff x="207675" y="127350"/>
            <a:chExt cx="2867297" cy="587084"/>
          </a:xfrm>
        </p:grpSpPr>
        <p:grpSp>
          <p:nvGrpSpPr>
            <p:cNvPr id="2104" name="Google Shape;2104;p92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2105" name="Google Shape;2105;p92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92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92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92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92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92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92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92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92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92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92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92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7" name="Google Shape;2117;p92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2118" name="Google Shape;2118;p92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92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92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92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92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92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92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92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2879E8A4-64D4-4A1A-B9A5-E52551370C25}"/>
              </a:ext>
            </a:extLst>
          </p:cNvPr>
          <p:cNvSpPr/>
          <p:nvPr/>
        </p:nvSpPr>
        <p:spPr>
          <a:xfrm>
            <a:off x="4107656" y="3321844"/>
            <a:ext cx="4000500" cy="1196992"/>
          </a:xfrm>
          <a:prstGeom prst="rect">
            <a:avLst/>
          </a:prstGeom>
          <a:solidFill>
            <a:srgbClr val="E8E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97"/>
          <p:cNvSpPr txBox="1"/>
          <p:nvPr/>
        </p:nvSpPr>
        <p:spPr>
          <a:xfrm>
            <a:off x="723400" y="1187975"/>
            <a:ext cx="7697100" cy="1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This presentation has been made using the following fonts:</a:t>
            </a:r>
            <a:endParaRPr sz="11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</a:rPr>
              <a:t>Raleway</a:t>
            </a:r>
            <a:endParaRPr sz="1100"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(</a:t>
            </a:r>
            <a:r>
              <a:rPr lang="en" sz="11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https://fonts.google.com/specimen/Raleway</a:t>
            </a:r>
            <a:r>
              <a:rPr lang="en" sz="1100">
                <a:solidFill>
                  <a:srgbClr val="FFFFFF"/>
                </a:solidFill>
              </a:rPr>
              <a:t>)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</a:rPr>
              <a:t>Open Sans</a:t>
            </a:r>
            <a:endParaRPr sz="1100" b="1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(</a:t>
            </a:r>
            <a:r>
              <a:rPr lang="en" sz="11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https://fonts.google.com/specimen/Open+Sans</a:t>
            </a:r>
            <a:r>
              <a:rPr lang="en" sz="1100">
                <a:solidFill>
                  <a:srgbClr val="FFFFFF"/>
                </a:solidFill>
              </a:rPr>
              <a:t>)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</p:txBody>
      </p:sp>
      <p:sp>
        <p:nvSpPr>
          <p:cNvPr id="2213" name="Google Shape;2213;p97"/>
          <p:cNvSpPr/>
          <p:nvPr/>
        </p:nvSpPr>
        <p:spPr>
          <a:xfrm>
            <a:off x="3114475" y="2947175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E8E6D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4" name="Google Shape;2214;p97"/>
          <p:cNvSpPr/>
          <p:nvPr/>
        </p:nvSpPr>
        <p:spPr>
          <a:xfrm>
            <a:off x="4176295" y="2947175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FEB53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5" name="Google Shape;2215;p97"/>
          <p:cNvSpPr/>
          <p:nvPr/>
        </p:nvSpPr>
        <p:spPr>
          <a:xfrm>
            <a:off x="5238114" y="2947175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F4612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6" name="Google Shape;2216;p97"/>
          <p:cNvSpPr txBox="1"/>
          <p:nvPr/>
        </p:nvSpPr>
        <p:spPr>
          <a:xfrm>
            <a:off x="3114475" y="3104225"/>
            <a:ext cx="7914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#e8e6d6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217" name="Google Shape;2217;p97"/>
          <p:cNvSpPr txBox="1"/>
          <p:nvPr/>
        </p:nvSpPr>
        <p:spPr>
          <a:xfrm>
            <a:off x="4176300" y="3104225"/>
            <a:ext cx="7914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#feb530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218" name="Google Shape;2218;p97"/>
          <p:cNvSpPr txBox="1"/>
          <p:nvPr/>
        </p:nvSpPr>
        <p:spPr>
          <a:xfrm>
            <a:off x="5238125" y="3104225"/>
            <a:ext cx="7914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#f46123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219" name="Google Shape;2219;p97"/>
          <p:cNvSpPr/>
          <p:nvPr/>
        </p:nvSpPr>
        <p:spPr>
          <a:xfrm>
            <a:off x="3114475" y="3878275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1F8E2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0" name="Google Shape;2220;p97"/>
          <p:cNvSpPr/>
          <p:nvPr/>
        </p:nvSpPr>
        <p:spPr>
          <a:xfrm>
            <a:off x="4176295" y="3878275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2E83C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1" name="Google Shape;2221;p97"/>
          <p:cNvSpPr/>
          <p:nvPr/>
        </p:nvSpPr>
        <p:spPr>
          <a:xfrm>
            <a:off x="5238114" y="3878275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2" name="Google Shape;2222;p97"/>
          <p:cNvSpPr txBox="1"/>
          <p:nvPr/>
        </p:nvSpPr>
        <p:spPr>
          <a:xfrm>
            <a:off x="3114475" y="4035325"/>
            <a:ext cx="7914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#1f8e2e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23" name="Google Shape;2223;p97"/>
          <p:cNvSpPr txBox="1"/>
          <p:nvPr/>
        </p:nvSpPr>
        <p:spPr>
          <a:xfrm>
            <a:off x="4176300" y="4035325"/>
            <a:ext cx="7914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#2e83c7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24" name="Google Shape;2224;p97"/>
          <p:cNvSpPr txBox="1"/>
          <p:nvPr/>
        </p:nvSpPr>
        <p:spPr>
          <a:xfrm>
            <a:off x="5238125" y="4035325"/>
            <a:ext cx="7914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#191919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225" name="Google Shape;2225;p97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Fonts &amp; colors used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ricity Consumption Consulting by Slidesgo">
  <a:themeElements>
    <a:clrScheme name="Simple Light">
      <a:dk1>
        <a:srgbClr val="191919"/>
      </a:dk1>
      <a:lt1>
        <a:srgbClr val="E8E6D6"/>
      </a:lt1>
      <a:dk2>
        <a:srgbClr val="FEB530"/>
      </a:dk2>
      <a:lt2>
        <a:srgbClr val="F46123"/>
      </a:lt2>
      <a:accent1>
        <a:srgbClr val="1F8E2E"/>
      </a:accent1>
      <a:accent2>
        <a:srgbClr val="2E83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F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527</Words>
  <Application>Microsoft Office PowerPoint</Application>
  <PresentationFormat>Presentación en pantalla (16:9)</PresentationFormat>
  <Paragraphs>78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7" baseType="lpstr">
      <vt:lpstr>Raleway Black</vt:lpstr>
      <vt:lpstr>Proxima Nova</vt:lpstr>
      <vt:lpstr>Raleway SemiBold</vt:lpstr>
      <vt:lpstr>Arial</vt:lpstr>
      <vt:lpstr>Bebas Neue</vt:lpstr>
      <vt:lpstr>Hepta Slab SemiBold</vt:lpstr>
      <vt:lpstr>Raleway ExtraBold</vt:lpstr>
      <vt:lpstr>Open Sans</vt:lpstr>
      <vt:lpstr>Proxima Nova Semibold</vt:lpstr>
      <vt:lpstr>Electricity Consumption Consulting by Slidesgo</vt:lpstr>
      <vt:lpstr>Slidesgo Final Pages</vt:lpstr>
      <vt:lpstr>EINES DE DISSENY PROJECTE: GRUP D TARDA (SEIENTS)</vt:lpstr>
      <vt:lpstr>01</vt:lpstr>
      <vt:lpstr>05</vt:lpstr>
      <vt:lpstr>01</vt:lpstr>
      <vt:lpstr>OBJECTIUS DEL PROJECTE (Característiques):</vt:lpstr>
      <vt:lpstr>OBJECTIUS PRINCIPALS DEL PROJECTE</vt:lpstr>
      <vt:lpstr>02</vt:lpstr>
      <vt:lpstr>V.2</vt:lpstr>
      <vt:lpstr>V.3</vt:lpstr>
      <vt:lpstr>ESQUEMÀTIC DEL PROJECTE</vt:lpstr>
      <vt:lpstr>ALIMENTACIÓ:</vt:lpstr>
      <vt:lpstr>SENSORS:</vt:lpstr>
      <vt:lpstr>DRIVERS:</vt:lpstr>
      <vt:lpstr>EEPROM:</vt:lpstr>
      <vt:lpstr>MOSFET:</vt:lpstr>
      <vt:lpstr>TCAN:</vt:lpstr>
      <vt:lpstr>BOTONERA:</vt:lpstr>
      <vt:lpstr>MICROCONTROLADOR:</vt:lpstr>
      <vt:lpstr>SIMULACIONS LTSPICE</vt:lpstr>
      <vt:lpstr>Presentación de PowerPoint</vt:lpstr>
      <vt:lpstr>Presentación de PowerPoint</vt:lpstr>
      <vt:lpstr>B.O.M.</vt:lpstr>
      <vt:lpstr>RESOURCES</vt:lpstr>
      <vt:lpstr>Presentación de PowerPoint</vt:lpstr>
      <vt:lpstr>GRÀCIES!</vt:lpstr>
      <vt:lpstr>Fonts &amp; colors used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EINES DE DISSENY PROJECTE: GRUP D SEIENTS</dc:title>
  <cp:lastModifiedBy>isabel gonzalez</cp:lastModifiedBy>
  <cp:revision>34</cp:revision>
  <dcterms:modified xsi:type="dcterms:W3CDTF">2026-03-26T14:29:52Z</dcterms:modified>
</cp:coreProperties>
</file>