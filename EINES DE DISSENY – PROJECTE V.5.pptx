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58" r:id="rId3"/>
    <p:sldId id="344" r:id="rId4"/>
    <p:sldId id="332" r:id="rId5"/>
    <p:sldId id="261" r:id="rId6"/>
    <p:sldId id="336" r:id="rId7"/>
    <p:sldId id="260" r:id="rId8"/>
    <p:sldId id="335" r:id="rId9"/>
    <p:sldId id="328" r:id="rId10"/>
    <p:sldId id="284" r:id="rId11"/>
    <p:sldId id="263" r:id="rId12"/>
    <p:sldId id="334" r:id="rId13"/>
    <p:sldId id="330" r:id="rId14"/>
    <p:sldId id="346" r:id="rId15"/>
    <p:sldId id="341" r:id="rId16"/>
    <p:sldId id="347" r:id="rId17"/>
    <p:sldId id="331" r:id="rId18"/>
    <p:sldId id="352" r:id="rId19"/>
    <p:sldId id="342" r:id="rId20"/>
    <p:sldId id="343" r:id="rId21"/>
    <p:sldId id="329" r:id="rId22"/>
    <p:sldId id="348" r:id="rId23"/>
    <p:sldId id="291" r:id="rId24"/>
    <p:sldId id="264" r:id="rId25"/>
    <p:sldId id="337" r:id="rId26"/>
    <p:sldId id="339" r:id="rId27"/>
    <p:sldId id="349" r:id="rId28"/>
    <p:sldId id="350" r:id="rId29"/>
    <p:sldId id="340" r:id="rId30"/>
    <p:sldId id="307" r:id="rId31"/>
    <p:sldId id="305" r:id="rId32"/>
  </p:sldIdLst>
  <p:sldSz cx="9144000" cy="5143500" type="screen16x9"/>
  <p:notesSz cx="6858000" cy="9144000"/>
  <p:embeddedFontLst>
    <p:embeddedFont>
      <p:font typeface="Bebas Neue" panose="020B0604020202020204" charset="0"/>
      <p:regular r:id="rId34"/>
    </p:embeddedFont>
    <p:embeddedFont>
      <p:font typeface="Hepta Slab SemiBold" panose="020B0604020202020204" charset="0"/>
      <p:regular r:id="rId35"/>
      <p:bold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Raleway Black" pitchFamily="2" charset="0"/>
      <p:bold r:id="rId41"/>
      <p:boldItalic r:id="rId42"/>
    </p:embeddedFont>
    <p:embeddedFont>
      <p:font typeface="Raleway ExtraBold" pitchFamily="2" charset="0"/>
      <p:bold r:id="rId43"/>
      <p:boldItalic r:id="rId44"/>
    </p:embeddedFont>
    <p:embeddedFont>
      <p:font typeface="Raleway SemiBold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9C387E-20CA-451F-BF7C-5DC569EF3032}">
  <a:tblStyle styleId="{609C387E-20CA-451F-BF7C-5DC569EF30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7" y="72"/>
      </p:cViewPr>
      <p:guideLst>
        <p:guide orient="horz" pos="58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0f1d6d77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0f1d6d77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8095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227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0f1d6d77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0f1d6d77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003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a558ccd6d5d264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a558ccd6d5d264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1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a558ccd6d5d264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a558ccd6d5d2642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984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1a558ccd6d5d2642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1a558ccd6d5d2642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906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46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77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57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161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438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431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7291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975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384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0f1d6d77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0f1d6d77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229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a558ccd6d5d264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a558ccd6d5d264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935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0543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550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1a558ccd6d5d264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1a558ccd6d5d264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0204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g1a558ccd6d5d2642_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1a558ccd6d5d2642_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1a558ccd6d5d2642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1a558ccd6d5d2642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100" y="1432175"/>
            <a:ext cx="4762500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00" y="3378025"/>
            <a:ext cx="4762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33670" y="-733424"/>
            <a:ext cx="4762500" cy="1386000"/>
            <a:chOff x="-2333670" y="-733424"/>
            <a:chExt cx="4762500" cy="1386000"/>
          </a:xfrm>
        </p:grpSpPr>
        <p:sp>
          <p:nvSpPr>
            <p:cNvPr id="13" name="Google Shape;13;p2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100925" y="4044894"/>
            <a:ext cx="39093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 rot="5400000" flipH="1">
            <a:off x="-2085979" y="-957899"/>
            <a:ext cx="4762500" cy="1386000"/>
            <a:chOff x="-2333670" y="-733424"/>
            <a:chExt cx="4762500" cy="1386000"/>
          </a:xfrm>
        </p:grpSpPr>
        <p:sp>
          <p:nvSpPr>
            <p:cNvPr id="23" name="Google Shape;23;p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 flipH="1">
            <a:off x="3945910" y="8943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subTitle" idx="1"/>
          </p:nvPr>
        </p:nvSpPr>
        <p:spPr>
          <a:xfrm flipH="1">
            <a:off x="3945910" y="3188063"/>
            <a:ext cx="4201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 rot="5400000">
            <a:off x="2250370" y="-1655359"/>
            <a:ext cx="3589973" cy="1044767"/>
            <a:chOff x="-2333670" y="-733424"/>
            <a:chExt cx="4762500" cy="1386000"/>
          </a:xfrm>
        </p:grpSpPr>
        <p:sp>
          <p:nvSpPr>
            <p:cNvPr id="153" name="Google Shape;153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 rot="10800000">
            <a:off x="7840483" y="4608491"/>
            <a:ext cx="3589973" cy="1044767"/>
            <a:chOff x="-2333670" y="-733424"/>
            <a:chExt cx="4762500" cy="1386000"/>
          </a:xfrm>
        </p:grpSpPr>
        <p:sp>
          <p:nvSpPr>
            <p:cNvPr id="158" name="Google Shape;158;p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" name="Google Shape;177;p13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178" name="Google Shape;178;p1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3"/>
          <p:cNvSpPr txBox="1">
            <a:spLocks noGrp="1"/>
          </p:cNvSpPr>
          <p:nvPr>
            <p:ph type="title" hasCustomPrompt="1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"/>
          </p:nvPr>
        </p:nvSpPr>
        <p:spPr>
          <a:xfrm>
            <a:off x="4391025" y="171342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2"/>
          </p:nvPr>
        </p:nvSpPr>
        <p:spPr>
          <a:xfrm>
            <a:off x="4391025" y="1331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4" hasCustomPrompt="1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5"/>
          </p:nvPr>
        </p:nvSpPr>
        <p:spPr>
          <a:xfrm>
            <a:off x="4391025" y="429530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6"/>
          </p:nvPr>
        </p:nvSpPr>
        <p:spPr>
          <a:xfrm>
            <a:off x="4391025" y="3913700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7" hasCustomPrompt="1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8"/>
          </p:nvPr>
        </p:nvSpPr>
        <p:spPr>
          <a:xfrm>
            <a:off x="4391025" y="3434675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9"/>
          </p:nvPr>
        </p:nvSpPr>
        <p:spPr>
          <a:xfrm>
            <a:off x="4391025" y="3053033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13" hasCustomPrompt="1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4"/>
          </p:nvPr>
        </p:nvSpPr>
        <p:spPr>
          <a:xfrm>
            <a:off x="4391025" y="2574050"/>
            <a:ext cx="4038000" cy="3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5"/>
          </p:nvPr>
        </p:nvSpPr>
        <p:spPr>
          <a:xfrm>
            <a:off x="4391025" y="2192367"/>
            <a:ext cx="4038000" cy="49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pta Slab SemiBold"/>
              <a:buNone/>
              <a:defRPr sz="2400">
                <a:solidFill>
                  <a:schemeClr val="dk1"/>
                </a:solidFill>
                <a:latin typeface="Hepta Slab SemiBold"/>
                <a:ea typeface="Hepta Slab SemiBold"/>
                <a:cs typeface="Hepta Slab SemiBold"/>
                <a:sym typeface="Hepta Slab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8" name="Google Shape;208;p15"/>
          <p:cNvSpPr txBox="1">
            <a:spLocks noGrp="1"/>
          </p:cNvSpPr>
          <p:nvPr>
            <p:ph type="subTitle" idx="1"/>
          </p:nvPr>
        </p:nvSpPr>
        <p:spPr>
          <a:xfrm flipH="1">
            <a:off x="791307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15"/>
          <p:cNvGrpSpPr/>
          <p:nvPr/>
        </p:nvGrpSpPr>
        <p:grpSpPr>
          <a:xfrm rot="5400000">
            <a:off x="3212645" y="-1685309"/>
            <a:ext cx="3589973" cy="1044767"/>
            <a:chOff x="-2333670" y="-733424"/>
            <a:chExt cx="4762500" cy="1386000"/>
          </a:xfrm>
        </p:grpSpPr>
        <p:sp>
          <p:nvSpPr>
            <p:cNvPr id="211" name="Google Shape;211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15"/>
          <p:cNvGrpSpPr/>
          <p:nvPr/>
        </p:nvGrpSpPr>
        <p:grpSpPr>
          <a:xfrm rot="10800000">
            <a:off x="-1155617" y="4741241"/>
            <a:ext cx="3589973" cy="1044767"/>
            <a:chOff x="-2333670" y="-733424"/>
            <a:chExt cx="4762500" cy="1386000"/>
          </a:xfrm>
        </p:grpSpPr>
        <p:sp>
          <p:nvSpPr>
            <p:cNvPr id="216" name="Google Shape;216;p1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title" idx="2" hasCustomPrompt="1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1"/>
          </p:nvPr>
        </p:nvSpPr>
        <p:spPr>
          <a:xfrm>
            <a:off x="3892916" y="4073525"/>
            <a:ext cx="44622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6"/>
          <p:cNvGrpSpPr/>
          <p:nvPr/>
        </p:nvGrpSpPr>
        <p:grpSpPr>
          <a:xfrm rot="-5400000" flipH="1">
            <a:off x="2343805" y="-1685309"/>
            <a:ext cx="3589973" cy="1044767"/>
            <a:chOff x="-2333670" y="-733424"/>
            <a:chExt cx="4762500" cy="1386000"/>
          </a:xfrm>
        </p:grpSpPr>
        <p:sp>
          <p:nvSpPr>
            <p:cNvPr id="226" name="Google Shape;226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6"/>
          <p:cNvGrpSpPr/>
          <p:nvPr/>
        </p:nvGrpSpPr>
        <p:grpSpPr>
          <a:xfrm rot="10800000" flipH="1">
            <a:off x="6712067" y="4741241"/>
            <a:ext cx="3589972" cy="1044767"/>
            <a:chOff x="-2333670" y="-733424"/>
            <a:chExt cx="4762500" cy="1386000"/>
          </a:xfrm>
        </p:grpSpPr>
        <p:sp>
          <p:nvSpPr>
            <p:cNvPr id="231" name="Google Shape;231;p1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9"/>
          <p:cNvGrpSpPr/>
          <p:nvPr/>
        </p:nvGrpSpPr>
        <p:grpSpPr>
          <a:xfrm rot="10800000" flipH="1">
            <a:off x="-3022375" y="154316"/>
            <a:ext cx="3589973" cy="1044767"/>
            <a:chOff x="-2333670" y="-733424"/>
            <a:chExt cx="4762500" cy="1386000"/>
          </a:xfrm>
        </p:grpSpPr>
        <p:sp>
          <p:nvSpPr>
            <p:cNvPr id="315" name="Google Shape;315;p1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" name="Google Shape;319;p1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3_1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23"/>
          <p:cNvGrpSpPr/>
          <p:nvPr/>
        </p:nvGrpSpPr>
        <p:grpSpPr>
          <a:xfrm rot="10800000">
            <a:off x="8576395" y="154391"/>
            <a:ext cx="3589973" cy="1044767"/>
            <a:chOff x="-2333670" y="-733424"/>
            <a:chExt cx="4762500" cy="1386000"/>
          </a:xfrm>
        </p:grpSpPr>
        <p:sp>
          <p:nvSpPr>
            <p:cNvPr id="360" name="Google Shape;360;p2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 txBox="1">
            <a:spLocks noGrp="1"/>
          </p:cNvSpPr>
          <p:nvPr>
            <p:ph type="body" idx="1"/>
          </p:nvPr>
        </p:nvSpPr>
        <p:spPr>
          <a:xfrm>
            <a:off x="720000" y="1152525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2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" name="Google Shape;399;p26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400" name="Google Shape;400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26"/>
          <p:cNvGrpSpPr/>
          <p:nvPr/>
        </p:nvGrpSpPr>
        <p:grpSpPr>
          <a:xfrm rot="10800000" flipH="1">
            <a:off x="-2936039" y="4487141"/>
            <a:ext cx="3589973" cy="1044767"/>
            <a:chOff x="-2333670" y="-733424"/>
            <a:chExt cx="4762500" cy="1386000"/>
          </a:xfrm>
        </p:grpSpPr>
        <p:sp>
          <p:nvSpPr>
            <p:cNvPr id="405" name="Google Shape;405;p2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9"/>
          <p:cNvSpPr txBox="1">
            <a:spLocks noGrp="1"/>
          </p:cNvSpPr>
          <p:nvPr>
            <p:ph type="subTitle" idx="1"/>
          </p:nvPr>
        </p:nvSpPr>
        <p:spPr>
          <a:xfrm>
            <a:off x="1781131" y="1827250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0" name="Google Shape;450;p29"/>
          <p:cNvSpPr txBox="1">
            <a:spLocks noGrp="1"/>
          </p:cNvSpPr>
          <p:nvPr>
            <p:ph type="subTitle" idx="2"/>
          </p:nvPr>
        </p:nvSpPr>
        <p:spPr>
          <a:xfrm>
            <a:off x="1781156" y="2239325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9"/>
          <p:cNvSpPr txBox="1">
            <a:spLocks noGrp="1"/>
          </p:cNvSpPr>
          <p:nvPr>
            <p:ph type="subTitle" idx="3"/>
          </p:nvPr>
        </p:nvSpPr>
        <p:spPr>
          <a:xfrm>
            <a:off x="4762469" y="1827250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2" name="Google Shape;452;p29"/>
          <p:cNvSpPr txBox="1">
            <a:spLocks noGrp="1"/>
          </p:cNvSpPr>
          <p:nvPr>
            <p:ph type="subTitle" idx="4"/>
          </p:nvPr>
        </p:nvSpPr>
        <p:spPr>
          <a:xfrm>
            <a:off x="4762469" y="2239325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9"/>
          <p:cNvSpPr txBox="1">
            <a:spLocks noGrp="1"/>
          </p:cNvSpPr>
          <p:nvPr>
            <p:ph type="subTitle" idx="5"/>
          </p:nvPr>
        </p:nvSpPr>
        <p:spPr>
          <a:xfrm>
            <a:off x="1781131" y="3349525"/>
            <a:ext cx="25959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4" name="Google Shape;454;p29"/>
          <p:cNvSpPr txBox="1">
            <a:spLocks noGrp="1"/>
          </p:cNvSpPr>
          <p:nvPr>
            <p:ph type="subTitle" idx="6"/>
          </p:nvPr>
        </p:nvSpPr>
        <p:spPr>
          <a:xfrm>
            <a:off x="1781156" y="3761600"/>
            <a:ext cx="25959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29"/>
          <p:cNvSpPr txBox="1">
            <a:spLocks noGrp="1"/>
          </p:cNvSpPr>
          <p:nvPr>
            <p:ph type="subTitle" idx="7"/>
          </p:nvPr>
        </p:nvSpPr>
        <p:spPr>
          <a:xfrm>
            <a:off x="4762469" y="3349525"/>
            <a:ext cx="2600400" cy="51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29"/>
          <p:cNvSpPr txBox="1">
            <a:spLocks noGrp="1"/>
          </p:cNvSpPr>
          <p:nvPr>
            <p:ph type="subTitle" idx="8"/>
          </p:nvPr>
        </p:nvSpPr>
        <p:spPr>
          <a:xfrm>
            <a:off x="4762469" y="3761600"/>
            <a:ext cx="26004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" name="Google Shape;459;p29"/>
          <p:cNvGrpSpPr/>
          <p:nvPr/>
        </p:nvGrpSpPr>
        <p:grpSpPr>
          <a:xfrm rot="5400000">
            <a:off x="-1674992" y="-1285259"/>
            <a:ext cx="3589973" cy="1044767"/>
            <a:chOff x="-2333670" y="-733424"/>
            <a:chExt cx="4762500" cy="1386000"/>
          </a:xfrm>
        </p:grpSpPr>
        <p:sp>
          <p:nvSpPr>
            <p:cNvPr id="460" name="Google Shape;460;p2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5"/>
          <p:cNvSpPr txBox="1">
            <a:spLocks noGrp="1"/>
          </p:cNvSpPr>
          <p:nvPr>
            <p:ph type="ctrTitle"/>
          </p:nvPr>
        </p:nvSpPr>
        <p:spPr>
          <a:xfrm>
            <a:off x="4204850" y="535025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2" name="Google Shape;582;p35"/>
          <p:cNvSpPr txBox="1">
            <a:spLocks noGrp="1"/>
          </p:cNvSpPr>
          <p:nvPr>
            <p:ph type="subTitle" idx="1"/>
          </p:nvPr>
        </p:nvSpPr>
        <p:spPr>
          <a:xfrm>
            <a:off x="4200525" y="1447825"/>
            <a:ext cx="3809400" cy="11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3" name="Google Shape;583;p35"/>
          <p:cNvSpPr txBox="1"/>
          <p:nvPr/>
        </p:nvSpPr>
        <p:spPr>
          <a:xfrm>
            <a:off x="4200525" y="3581425"/>
            <a:ext cx="3809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5" name="Google Shape;585;p35"/>
          <p:cNvGrpSpPr/>
          <p:nvPr/>
        </p:nvGrpSpPr>
        <p:grpSpPr>
          <a:xfrm rot="5400000">
            <a:off x="6496005" y="-1319374"/>
            <a:ext cx="4762500" cy="1386000"/>
            <a:chOff x="-2333670" y="-733424"/>
            <a:chExt cx="4762500" cy="1386000"/>
          </a:xfrm>
        </p:grpSpPr>
        <p:sp>
          <p:nvSpPr>
            <p:cNvPr id="586" name="Google Shape;586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35"/>
          <p:cNvGrpSpPr/>
          <p:nvPr/>
        </p:nvGrpSpPr>
        <p:grpSpPr>
          <a:xfrm rot="10800000" flipH="1">
            <a:off x="4310239" y="4754891"/>
            <a:ext cx="3589973" cy="1044767"/>
            <a:chOff x="-2333670" y="-733424"/>
            <a:chExt cx="4762500" cy="1386000"/>
          </a:xfrm>
        </p:grpSpPr>
        <p:sp>
          <p:nvSpPr>
            <p:cNvPr id="591" name="Google Shape;591;p35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6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597" name="Google Shape;597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6"/>
          <p:cNvGrpSpPr/>
          <p:nvPr/>
        </p:nvGrpSpPr>
        <p:grpSpPr>
          <a:xfrm rot="10800000">
            <a:off x="8581308" y="372341"/>
            <a:ext cx="3589973" cy="1044767"/>
            <a:chOff x="-2333670" y="-733424"/>
            <a:chExt cx="4762500" cy="1386000"/>
          </a:xfrm>
        </p:grpSpPr>
        <p:sp>
          <p:nvSpPr>
            <p:cNvPr id="602" name="Google Shape;602;p36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36"/>
          <p:cNvSpPr/>
          <p:nvPr/>
        </p:nvSpPr>
        <p:spPr>
          <a:xfrm rot="5400000">
            <a:off x="4435950" y="416400"/>
            <a:ext cx="291300" cy="9162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/>
          <p:nvPr/>
        </p:nvSpPr>
        <p:spPr>
          <a:xfrm>
            <a:off x="0" y="75"/>
            <a:ext cx="2913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7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0" name="Google Shape;610;p37"/>
          <p:cNvGrpSpPr/>
          <p:nvPr/>
        </p:nvGrpSpPr>
        <p:grpSpPr>
          <a:xfrm rot="5400000">
            <a:off x="7203370" y="-1407709"/>
            <a:ext cx="3589973" cy="1044767"/>
            <a:chOff x="-2333670" y="-733424"/>
            <a:chExt cx="4762500" cy="1386000"/>
          </a:xfrm>
        </p:grpSpPr>
        <p:sp>
          <p:nvSpPr>
            <p:cNvPr id="611" name="Google Shape;611;p37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8"/>
          <p:cNvSpPr/>
          <p:nvPr/>
        </p:nvSpPr>
        <p:spPr>
          <a:xfrm>
            <a:off x="8852700" y="0"/>
            <a:ext cx="291300" cy="5143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8"/>
          <p:cNvGrpSpPr/>
          <p:nvPr/>
        </p:nvGrpSpPr>
        <p:grpSpPr>
          <a:xfrm rot="5400000">
            <a:off x="-1827392" y="-1285259"/>
            <a:ext cx="3589973" cy="1044767"/>
            <a:chOff x="-2333670" y="-733424"/>
            <a:chExt cx="4762500" cy="1386000"/>
          </a:xfrm>
        </p:grpSpPr>
        <p:sp>
          <p:nvSpPr>
            <p:cNvPr id="618" name="Google Shape;618;p38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/>
          <p:cNvSpPr/>
          <p:nvPr/>
        </p:nvSpPr>
        <p:spPr>
          <a:xfrm flipH="1">
            <a:off x="-21389" y="0"/>
            <a:ext cx="2913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 rot="-5400000" flipH="1">
            <a:off x="7360030" y="-1285259"/>
            <a:ext cx="3589973" cy="1044767"/>
            <a:chOff x="-2333670" y="-733424"/>
            <a:chExt cx="4762500" cy="1386000"/>
          </a:xfrm>
        </p:grpSpPr>
        <p:sp>
          <p:nvSpPr>
            <p:cNvPr id="625" name="Google Shape;625;p39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2" r:id="rId7"/>
    <p:sldLayoutId id="2147483665" r:id="rId8"/>
    <p:sldLayoutId id="2147483669" r:id="rId9"/>
    <p:sldLayoutId id="2147483672" r:id="rId10"/>
    <p:sldLayoutId id="2147483675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3"/>
          <p:cNvSpPr/>
          <p:nvPr/>
        </p:nvSpPr>
        <p:spPr>
          <a:xfrm>
            <a:off x="5914800" y="-14250"/>
            <a:ext cx="3229200" cy="3600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3"/>
          <p:cNvSpPr/>
          <p:nvPr/>
        </p:nvSpPr>
        <p:spPr>
          <a:xfrm>
            <a:off x="5914800" y="3586200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3"/>
          <p:cNvSpPr txBox="1">
            <a:spLocks noGrp="1"/>
          </p:cNvSpPr>
          <p:nvPr>
            <p:ph type="ctrTitle"/>
          </p:nvPr>
        </p:nvSpPr>
        <p:spPr>
          <a:xfrm>
            <a:off x="715099" y="1432175"/>
            <a:ext cx="5064555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  <a:t>EINES DE DISSENY</a:t>
            </a:r>
            <a:br>
              <a:rPr lang="en" dirty="0">
                <a:latin typeface="Raleway Black"/>
                <a:ea typeface="Raleway Black"/>
                <a:cs typeface="Raleway Black"/>
                <a:sym typeface="Raleway Black"/>
              </a:rPr>
            </a:br>
            <a:r>
              <a:rPr lang="en" sz="2000" dirty="0">
                <a:latin typeface="Raleway SemiBold"/>
                <a:ea typeface="Raleway SemiBold"/>
                <a:cs typeface="Raleway SemiBold"/>
                <a:sym typeface="Raleway SemiBold"/>
              </a:rPr>
              <a:t>PROJECTE: GRUP D TARDA (SEIENTS)</a:t>
            </a:r>
            <a:endParaRPr sz="2000" dirty="0">
              <a:solidFill>
                <a:schemeClr val="accen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642" name="Google Shape;642;p43"/>
          <p:cNvSpPr txBox="1">
            <a:spLocks noGrp="1"/>
          </p:cNvSpPr>
          <p:nvPr>
            <p:ph type="subTitle" idx="1"/>
          </p:nvPr>
        </p:nvSpPr>
        <p:spPr>
          <a:xfrm>
            <a:off x="3282567" y="3437089"/>
            <a:ext cx="4762500" cy="835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Martínez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Joan Heras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Manel Frías</a:t>
            </a:r>
            <a:endParaRPr dirty="0"/>
          </a:p>
        </p:txBody>
      </p:sp>
      <p:grpSp>
        <p:nvGrpSpPr>
          <p:cNvPr id="643" name="Google Shape;643;p43"/>
          <p:cNvGrpSpPr/>
          <p:nvPr/>
        </p:nvGrpSpPr>
        <p:grpSpPr>
          <a:xfrm rot="5400000">
            <a:off x="3335158" y="5364916"/>
            <a:ext cx="3589973" cy="1044767"/>
            <a:chOff x="-2333670" y="-733424"/>
            <a:chExt cx="4762500" cy="1386000"/>
          </a:xfrm>
        </p:grpSpPr>
        <p:sp>
          <p:nvSpPr>
            <p:cNvPr id="644" name="Google Shape;644;p43"/>
            <p:cNvSpPr/>
            <p:nvPr/>
          </p:nvSpPr>
          <p:spPr>
            <a:xfrm>
              <a:off x="-2333670" y="-733424"/>
              <a:ext cx="4762500" cy="13860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-2230633" y="-633287"/>
              <a:ext cx="4556400" cy="11856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-2096933" y="-520996"/>
              <a:ext cx="4288800" cy="9609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-1963100" y="-398076"/>
              <a:ext cx="4021200" cy="715200"/>
            </a:xfrm>
            <a:prstGeom prst="roundRect">
              <a:avLst>
                <a:gd name="adj" fmla="val 354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8" name="Google Shape;648;p43"/>
          <p:cNvGrpSpPr/>
          <p:nvPr/>
        </p:nvGrpSpPr>
        <p:grpSpPr>
          <a:xfrm>
            <a:off x="6679763" y="256500"/>
            <a:ext cx="1699272" cy="3059081"/>
            <a:chOff x="6679763" y="256500"/>
            <a:chExt cx="1699272" cy="3059081"/>
          </a:xfrm>
        </p:grpSpPr>
        <p:sp>
          <p:nvSpPr>
            <p:cNvPr id="649" name="Google Shape;649;p43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43"/>
          <p:cNvGrpSpPr/>
          <p:nvPr/>
        </p:nvGrpSpPr>
        <p:grpSpPr>
          <a:xfrm>
            <a:off x="6280093" y="3800476"/>
            <a:ext cx="2498613" cy="1123948"/>
            <a:chOff x="6237531" y="3846675"/>
            <a:chExt cx="2498613" cy="1123948"/>
          </a:xfrm>
        </p:grpSpPr>
        <p:sp>
          <p:nvSpPr>
            <p:cNvPr id="669" name="Google Shape;669;p43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679;p43"/>
          <p:cNvGrpSpPr/>
          <p:nvPr/>
        </p:nvGrpSpPr>
        <p:grpSpPr>
          <a:xfrm rot="5400000">
            <a:off x="790490" y="3751532"/>
            <a:ext cx="753870" cy="1744297"/>
            <a:chOff x="5088650" y="245050"/>
            <a:chExt cx="1046025" cy="2420282"/>
          </a:xfrm>
        </p:grpSpPr>
        <p:sp>
          <p:nvSpPr>
            <p:cNvPr id="680" name="Google Shape;680;p43"/>
            <p:cNvSpPr/>
            <p:nvPr/>
          </p:nvSpPr>
          <p:spPr>
            <a:xfrm>
              <a:off x="5547343" y="1580799"/>
              <a:ext cx="128662" cy="108453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43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687" name="Google Shape;687;p43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5"/>
          <p:cNvSpPr/>
          <p:nvPr/>
        </p:nvSpPr>
        <p:spPr>
          <a:xfrm>
            <a:off x="3636425" y="3058825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5"/>
          <p:cNvSpPr/>
          <p:nvPr/>
        </p:nvSpPr>
        <p:spPr>
          <a:xfrm>
            <a:off x="3636425" y="3913688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OBJECTIUS DEL PROJECTE</a:t>
            </a:r>
          </a:p>
        </p:txBody>
      </p:sp>
      <p:sp>
        <p:nvSpPr>
          <p:cNvPr id="715" name="Google Shape;715;p45"/>
          <p:cNvSpPr txBox="1">
            <a:spLocks noGrp="1"/>
          </p:cNvSpPr>
          <p:nvPr>
            <p:ph type="title" idx="3"/>
          </p:nvPr>
        </p:nvSpPr>
        <p:spPr>
          <a:xfrm>
            <a:off x="3505200" y="535000"/>
            <a:ext cx="4918500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CONTINGUTS</a:t>
            </a:r>
            <a:endParaRPr dirty="0"/>
          </a:p>
        </p:txBody>
      </p:sp>
      <p:sp>
        <p:nvSpPr>
          <p:cNvPr id="716" name="Google Shape;716;p45"/>
          <p:cNvSpPr txBox="1">
            <a:spLocks noGrp="1"/>
          </p:cNvSpPr>
          <p:nvPr>
            <p:ph type="title" idx="4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8" name="Google Shape;718;p45"/>
          <p:cNvSpPr txBox="1">
            <a:spLocks noGrp="1"/>
          </p:cNvSpPr>
          <p:nvPr>
            <p:ph type="subTitle" idx="6"/>
          </p:nvPr>
        </p:nvSpPr>
        <p:spPr>
          <a:xfrm>
            <a:off x="4443125" y="4047537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SIMULACIONS</a:t>
            </a:r>
            <a:endParaRPr dirty="0"/>
          </a:p>
        </p:txBody>
      </p:sp>
      <p:sp>
        <p:nvSpPr>
          <p:cNvPr id="719" name="Google Shape;719;p45"/>
          <p:cNvSpPr txBox="1">
            <a:spLocks noGrp="1"/>
          </p:cNvSpPr>
          <p:nvPr>
            <p:ph type="title" idx="7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9"/>
          </p:nvPr>
        </p:nvSpPr>
        <p:spPr>
          <a:xfrm>
            <a:off x="4423172" y="3175350"/>
            <a:ext cx="4545806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ESQUEMÀTIC </a:t>
            </a:r>
            <a:r>
              <a:rPr lang="es-ES" sz="2300" dirty="0"/>
              <a:t>I</a:t>
            </a:r>
            <a:r>
              <a:rPr lang="en" sz="2300" dirty="0"/>
              <a:t> COMPONENTS</a:t>
            </a:r>
            <a:endParaRPr sz="2300" dirty="0"/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DIAGRAMA DE BLOCS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5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5"/>
          <p:cNvSpPr/>
          <p:nvPr/>
        </p:nvSpPr>
        <p:spPr>
          <a:xfrm>
            <a:off x="3636425" y="1349100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5"/>
          <p:cNvSpPr/>
          <p:nvPr/>
        </p:nvSpPr>
        <p:spPr>
          <a:xfrm>
            <a:off x="3636425" y="2203963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5"/>
          <p:cNvSpPr/>
          <p:nvPr/>
        </p:nvSpPr>
        <p:spPr>
          <a:xfrm>
            <a:off x="3636425" y="3058825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5"/>
          <p:cNvSpPr/>
          <p:nvPr/>
        </p:nvSpPr>
        <p:spPr>
          <a:xfrm>
            <a:off x="3636425" y="3913688"/>
            <a:ext cx="694800" cy="694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3524525" y="14869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14" name="Google Shape;714;p45"/>
          <p:cNvSpPr txBox="1">
            <a:spLocks noGrp="1"/>
          </p:cNvSpPr>
          <p:nvPr>
            <p:ph type="subTitle" idx="2"/>
          </p:nvPr>
        </p:nvSpPr>
        <p:spPr>
          <a:xfrm>
            <a:off x="4391025" y="1450451"/>
            <a:ext cx="4610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LAYOUT I PCB</a:t>
            </a:r>
          </a:p>
        </p:txBody>
      </p:sp>
      <p:sp>
        <p:nvSpPr>
          <p:cNvPr id="716" name="Google Shape;716;p45"/>
          <p:cNvSpPr txBox="1">
            <a:spLocks noGrp="1"/>
          </p:cNvSpPr>
          <p:nvPr>
            <p:ph type="title" idx="4"/>
          </p:nvPr>
        </p:nvSpPr>
        <p:spPr>
          <a:xfrm>
            <a:off x="3524525" y="4051550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719" name="Google Shape;719;p45"/>
          <p:cNvSpPr txBox="1">
            <a:spLocks noGrp="1"/>
          </p:cNvSpPr>
          <p:nvPr>
            <p:ph type="title" idx="7"/>
          </p:nvPr>
        </p:nvSpPr>
        <p:spPr>
          <a:xfrm>
            <a:off x="3524525" y="3196683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9"/>
          </p:nvPr>
        </p:nvSpPr>
        <p:spPr>
          <a:xfrm>
            <a:off x="4423172" y="3175350"/>
            <a:ext cx="4545806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RESOURCES</a:t>
            </a:r>
            <a:endParaRPr sz="2300" dirty="0"/>
          </a:p>
        </p:txBody>
      </p:sp>
      <p:sp>
        <p:nvSpPr>
          <p:cNvPr id="722" name="Google Shape;722;p45"/>
          <p:cNvSpPr txBox="1">
            <a:spLocks noGrp="1"/>
          </p:cNvSpPr>
          <p:nvPr>
            <p:ph type="title" idx="13"/>
          </p:nvPr>
        </p:nvSpPr>
        <p:spPr>
          <a:xfrm>
            <a:off x="3524525" y="2341817"/>
            <a:ext cx="918600" cy="419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15"/>
          </p:nvPr>
        </p:nvSpPr>
        <p:spPr>
          <a:xfrm>
            <a:off x="4428837" y="2322638"/>
            <a:ext cx="40380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BOM</a:t>
            </a:r>
          </a:p>
        </p:txBody>
      </p:sp>
      <p:grpSp>
        <p:nvGrpSpPr>
          <p:cNvPr id="725" name="Google Shape;725;p45"/>
          <p:cNvGrpSpPr/>
          <p:nvPr/>
        </p:nvGrpSpPr>
        <p:grpSpPr>
          <a:xfrm>
            <a:off x="909222" y="328500"/>
            <a:ext cx="1416152" cy="3644700"/>
            <a:chOff x="913822" y="341700"/>
            <a:chExt cx="1416152" cy="3644700"/>
          </a:xfrm>
        </p:grpSpPr>
        <p:grpSp>
          <p:nvGrpSpPr>
            <p:cNvPr id="726" name="Google Shape;726;p45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727" name="Google Shape;727;p45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45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5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1" name="Google Shape;731;p45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732" name="Google Shape;732;p45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45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735" name="Google Shape;735;p45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45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738" name="Google Shape;738;p45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45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741" name="Google Shape;741;p45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45"/>
          <p:cNvGrpSpPr/>
          <p:nvPr/>
        </p:nvGrpSpPr>
        <p:grpSpPr>
          <a:xfrm>
            <a:off x="840503" y="978572"/>
            <a:ext cx="1548193" cy="2344555"/>
            <a:chOff x="874813" y="1108300"/>
            <a:chExt cx="1488647" cy="2254380"/>
          </a:xfrm>
        </p:grpSpPr>
        <p:sp>
          <p:nvSpPr>
            <p:cNvPr id="744" name="Google Shape;744;p45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5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5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5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749;p45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750" name="Google Shape;750;p45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642456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latin typeface="Raleway ExtraBold"/>
                <a:ea typeface="Raleway ExtraBold"/>
                <a:cs typeface="Raleway ExtraBold"/>
                <a:sym typeface="Raleway ExtraBold"/>
              </a:rPr>
              <a:t>OBJECTIUS DEL PROJECTE</a:t>
            </a:r>
            <a:endParaRPr lang="es-ES" sz="4000"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966048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3945910" y="665737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OBJECTIUS DEL PROJECTE </a:t>
            </a:r>
            <a:r>
              <a:rPr lang="en" sz="3600" dirty="0">
                <a:latin typeface="Raleway SemiBold"/>
                <a:ea typeface="Raleway SemiBold"/>
                <a:cs typeface="Raleway SemiBold"/>
                <a:sym typeface="Raleway SemiBold"/>
              </a:rPr>
              <a:t>(Característiques):</a:t>
            </a:r>
            <a:endParaRPr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17520" y="2584164"/>
            <a:ext cx="5261106" cy="255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En primer lloc cal explicar que estem davant de l'elaboració d’un mòdul crític per a la seguretat i el funcionament del vehicle. El sistema de SEIENTS DIGITALS és la interfície entre l'energia del cotxe i la seguretat del conductor. Per tant ens basarem en aquests puts adjuntats al guió: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100" dirty="0"/>
              <a:t>   </a:t>
            </a:r>
            <a:r>
              <a:rPr lang="ca-ES" sz="1050" dirty="0"/>
              <a:t>a) 3 motors (posició, alçada, reclinació) amb els seus finals de carrera.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b) Calefacció del seient.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c) Sensor digital de cinturons.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50" dirty="0"/>
              <a:t>   d) Memòria externa no volàtil per guardar posicions </a:t>
            </a:r>
            <a:r>
              <a:rPr lang="ca-ES" sz="1050" dirty="0" err="1"/>
              <a:t>pre</a:t>
            </a:r>
            <a:r>
              <a:rPr lang="ca-ES" sz="1050" dirty="0"/>
              <a:t>-programades.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8"/>
          <p:cNvSpPr/>
          <p:nvPr/>
        </p:nvSpPr>
        <p:spPr>
          <a:xfrm>
            <a:off x="0" y="-4725"/>
            <a:ext cx="3229200" cy="360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48"/>
          <p:cNvGrpSpPr/>
          <p:nvPr/>
        </p:nvGrpSpPr>
        <p:grpSpPr>
          <a:xfrm>
            <a:off x="587051" y="-4725"/>
            <a:ext cx="2055103" cy="3600596"/>
            <a:chOff x="715100" y="0"/>
            <a:chExt cx="2055103" cy="3600596"/>
          </a:xfrm>
        </p:grpSpPr>
        <p:sp>
          <p:nvSpPr>
            <p:cNvPr id="859" name="Google Shape;859;p48"/>
            <p:cNvSpPr/>
            <p:nvPr/>
          </p:nvSpPr>
          <p:spPr>
            <a:xfrm>
              <a:off x="715100" y="0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1" y="1"/>
                  </a:moveTo>
                  <a:lnTo>
                    <a:pt x="25182" y="51566"/>
                  </a:lnTo>
                  <a:lnTo>
                    <a:pt x="503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715100" y="1496445"/>
              <a:ext cx="2055103" cy="2104151"/>
            </a:xfrm>
            <a:custGeom>
              <a:avLst/>
              <a:gdLst/>
              <a:ahLst/>
              <a:cxnLst/>
              <a:rect l="l" t="t" r="r" b="b"/>
              <a:pathLst>
                <a:path w="50364" h="51566" extrusionOk="0">
                  <a:moveTo>
                    <a:pt x="25182" y="1"/>
                  </a:moveTo>
                  <a:lnTo>
                    <a:pt x="1" y="51565"/>
                  </a:lnTo>
                  <a:lnTo>
                    <a:pt x="50364" y="51565"/>
                  </a:lnTo>
                  <a:lnTo>
                    <a:pt x="25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48"/>
          <p:cNvSpPr/>
          <p:nvPr/>
        </p:nvSpPr>
        <p:spPr>
          <a:xfrm>
            <a:off x="0" y="3595725"/>
            <a:ext cx="3229200" cy="1552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title"/>
          </p:nvPr>
        </p:nvSpPr>
        <p:spPr>
          <a:xfrm flipH="1">
            <a:off x="-768321" y="88878"/>
            <a:ext cx="4201200" cy="22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OBJECTIUS PRINCIPALS DEL PROJECTE</a:t>
            </a:r>
            <a:endParaRPr sz="3600" dirty="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64" name="Google Shape;864;p48"/>
          <p:cNvGrpSpPr/>
          <p:nvPr/>
        </p:nvGrpSpPr>
        <p:grpSpPr>
          <a:xfrm flipH="1">
            <a:off x="365293" y="3810001"/>
            <a:ext cx="2498613" cy="1123948"/>
            <a:chOff x="6237531" y="3846675"/>
            <a:chExt cx="2498613" cy="1123948"/>
          </a:xfrm>
        </p:grpSpPr>
        <p:sp>
          <p:nvSpPr>
            <p:cNvPr id="865" name="Google Shape;865;p48"/>
            <p:cNvSpPr/>
            <p:nvPr/>
          </p:nvSpPr>
          <p:spPr>
            <a:xfrm>
              <a:off x="6237531" y="3846675"/>
              <a:ext cx="1493171" cy="147392"/>
            </a:xfrm>
            <a:custGeom>
              <a:avLst/>
              <a:gdLst/>
              <a:ahLst/>
              <a:cxnLst/>
              <a:rect l="l" t="t" r="r" b="b"/>
              <a:pathLst>
                <a:path w="24820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3595" y="2449"/>
                  </a:lnTo>
                  <a:cubicBezTo>
                    <a:pt x="24274" y="2449"/>
                    <a:pt x="24820" y="1903"/>
                    <a:pt x="24820" y="1225"/>
                  </a:cubicBezTo>
                  <a:cubicBezTo>
                    <a:pt x="24820" y="546"/>
                    <a:pt x="24274" y="0"/>
                    <a:pt x="23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7821111" y="3846675"/>
              <a:ext cx="915034" cy="147392"/>
            </a:xfrm>
            <a:custGeom>
              <a:avLst/>
              <a:gdLst/>
              <a:ahLst/>
              <a:cxnLst/>
              <a:rect l="l" t="t" r="r" b="b"/>
              <a:pathLst>
                <a:path w="15210" h="2450" extrusionOk="0">
                  <a:moveTo>
                    <a:pt x="1225" y="0"/>
                  </a:moveTo>
                  <a:cubicBezTo>
                    <a:pt x="546" y="0"/>
                    <a:pt x="0" y="546"/>
                    <a:pt x="0" y="1225"/>
                  </a:cubicBezTo>
                  <a:cubicBezTo>
                    <a:pt x="0" y="1903"/>
                    <a:pt x="546" y="2449"/>
                    <a:pt x="1225" y="2449"/>
                  </a:cubicBezTo>
                  <a:lnTo>
                    <a:pt x="13985" y="2449"/>
                  </a:lnTo>
                  <a:cubicBezTo>
                    <a:pt x="14663" y="2449"/>
                    <a:pt x="15210" y="1903"/>
                    <a:pt x="15210" y="1225"/>
                  </a:cubicBezTo>
                  <a:cubicBezTo>
                    <a:pt x="15210" y="546"/>
                    <a:pt x="14663" y="0"/>
                    <a:pt x="13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6237531" y="4090874"/>
              <a:ext cx="776485" cy="147332"/>
            </a:xfrm>
            <a:custGeom>
              <a:avLst/>
              <a:gdLst/>
              <a:ahLst/>
              <a:cxnLst/>
              <a:rect l="l" t="t" r="r" b="b"/>
              <a:pathLst>
                <a:path w="12907" h="2449" extrusionOk="0">
                  <a:moveTo>
                    <a:pt x="1226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6" y="2448"/>
                  </a:cubicBezTo>
                  <a:lnTo>
                    <a:pt x="11682" y="2448"/>
                  </a:lnTo>
                  <a:cubicBezTo>
                    <a:pt x="12361" y="2448"/>
                    <a:pt x="12907" y="1902"/>
                    <a:pt x="12907" y="1224"/>
                  </a:cubicBezTo>
                  <a:cubicBezTo>
                    <a:pt x="12907" y="545"/>
                    <a:pt x="12361" y="0"/>
                    <a:pt x="11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7104283" y="4090874"/>
              <a:ext cx="1631780" cy="147332"/>
            </a:xfrm>
            <a:custGeom>
              <a:avLst/>
              <a:gdLst/>
              <a:ahLst/>
              <a:cxnLst/>
              <a:rect l="l" t="t" r="r" b="b"/>
              <a:pathLst>
                <a:path w="27124" h="2449" extrusionOk="0">
                  <a:moveTo>
                    <a:pt x="1225" y="0"/>
                  </a:moveTo>
                  <a:cubicBezTo>
                    <a:pt x="547" y="0"/>
                    <a:pt x="1" y="545"/>
                    <a:pt x="1" y="1224"/>
                  </a:cubicBezTo>
                  <a:cubicBezTo>
                    <a:pt x="1" y="1902"/>
                    <a:pt x="547" y="2448"/>
                    <a:pt x="1225" y="2448"/>
                  </a:cubicBezTo>
                  <a:lnTo>
                    <a:pt x="25899" y="2448"/>
                  </a:lnTo>
                  <a:cubicBezTo>
                    <a:pt x="26578" y="2448"/>
                    <a:pt x="27124" y="1902"/>
                    <a:pt x="27124" y="1224"/>
                  </a:cubicBezTo>
                  <a:cubicBezTo>
                    <a:pt x="27124" y="545"/>
                    <a:pt x="26578" y="0"/>
                    <a:pt x="2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8"/>
            <p:cNvSpPr/>
            <p:nvPr/>
          </p:nvSpPr>
          <p:spPr>
            <a:xfrm>
              <a:off x="6237531" y="4334953"/>
              <a:ext cx="1296689" cy="147392"/>
            </a:xfrm>
            <a:custGeom>
              <a:avLst/>
              <a:gdLst/>
              <a:ahLst/>
              <a:cxnLst/>
              <a:rect l="l" t="t" r="r" b="b"/>
              <a:pathLst>
                <a:path w="21554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0329" y="2449"/>
                  </a:lnTo>
                  <a:cubicBezTo>
                    <a:pt x="21007" y="2449"/>
                    <a:pt x="21554" y="1903"/>
                    <a:pt x="21554" y="1225"/>
                  </a:cubicBezTo>
                  <a:cubicBezTo>
                    <a:pt x="21554" y="546"/>
                    <a:pt x="21007" y="0"/>
                    <a:pt x="203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8"/>
            <p:cNvSpPr/>
            <p:nvPr/>
          </p:nvSpPr>
          <p:spPr>
            <a:xfrm>
              <a:off x="7624502" y="4334953"/>
              <a:ext cx="1111636" cy="147392"/>
            </a:xfrm>
            <a:custGeom>
              <a:avLst/>
              <a:gdLst/>
              <a:ahLst/>
              <a:cxnLst/>
              <a:rect l="l" t="t" r="r" b="b"/>
              <a:pathLst>
                <a:path w="18478" h="2450" extrusionOk="0">
                  <a:moveTo>
                    <a:pt x="1225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5" y="2449"/>
                  </a:cubicBezTo>
                  <a:lnTo>
                    <a:pt x="17253" y="2449"/>
                  </a:lnTo>
                  <a:cubicBezTo>
                    <a:pt x="17931" y="2449"/>
                    <a:pt x="18478" y="1903"/>
                    <a:pt x="18478" y="1225"/>
                  </a:cubicBezTo>
                  <a:cubicBezTo>
                    <a:pt x="18478" y="546"/>
                    <a:pt x="17931" y="0"/>
                    <a:pt x="17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8"/>
            <p:cNvSpPr/>
            <p:nvPr/>
          </p:nvSpPr>
          <p:spPr>
            <a:xfrm>
              <a:off x="6237531" y="4579092"/>
              <a:ext cx="1825916" cy="147392"/>
            </a:xfrm>
            <a:custGeom>
              <a:avLst/>
              <a:gdLst/>
              <a:ahLst/>
              <a:cxnLst/>
              <a:rect l="l" t="t" r="r" b="b"/>
              <a:pathLst>
                <a:path w="30351" h="2450" extrusionOk="0">
                  <a:moveTo>
                    <a:pt x="1226" y="0"/>
                  </a:moveTo>
                  <a:cubicBezTo>
                    <a:pt x="547" y="0"/>
                    <a:pt x="1" y="546"/>
                    <a:pt x="1" y="1225"/>
                  </a:cubicBezTo>
                  <a:cubicBezTo>
                    <a:pt x="1" y="1903"/>
                    <a:pt x="547" y="2449"/>
                    <a:pt x="1226" y="2449"/>
                  </a:cubicBezTo>
                  <a:lnTo>
                    <a:pt x="29126" y="2449"/>
                  </a:lnTo>
                  <a:cubicBezTo>
                    <a:pt x="29804" y="2449"/>
                    <a:pt x="30350" y="1903"/>
                    <a:pt x="30350" y="1225"/>
                  </a:cubicBezTo>
                  <a:cubicBezTo>
                    <a:pt x="30350" y="546"/>
                    <a:pt x="29804" y="0"/>
                    <a:pt x="29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8"/>
            <p:cNvSpPr/>
            <p:nvPr/>
          </p:nvSpPr>
          <p:spPr>
            <a:xfrm>
              <a:off x="8153746" y="4579092"/>
              <a:ext cx="582349" cy="147392"/>
            </a:xfrm>
            <a:custGeom>
              <a:avLst/>
              <a:gdLst/>
              <a:ahLst/>
              <a:cxnLst/>
              <a:rect l="l" t="t" r="r" b="b"/>
              <a:pathLst>
                <a:path w="9680" h="2450" extrusionOk="0">
                  <a:moveTo>
                    <a:pt x="1225" y="0"/>
                  </a:moveTo>
                  <a:cubicBezTo>
                    <a:pt x="547" y="0"/>
                    <a:pt x="0" y="546"/>
                    <a:pt x="0" y="1225"/>
                  </a:cubicBezTo>
                  <a:cubicBezTo>
                    <a:pt x="0" y="1903"/>
                    <a:pt x="547" y="2449"/>
                    <a:pt x="1225" y="2449"/>
                  </a:cubicBezTo>
                  <a:lnTo>
                    <a:pt x="8455" y="2449"/>
                  </a:lnTo>
                  <a:cubicBezTo>
                    <a:pt x="9134" y="2449"/>
                    <a:pt x="9680" y="1903"/>
                    <a:pt x="9680" y="1225"/>
                  </a:cubicBezTo>
                  <a:cubicBezTo>
                    <a:pt x="9680" y="546"/>
                    <a:pt x="9134" y="0"/>
                    <a:pt x="8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8"/>
            <p:cNvSpPr/>
            <p:nvPr/>
          </p:nvSpPr>
          <p:spPr>
            <a:xfrm>
              <a:off x="6237531" y="4823231"/>
              <a:ext cx="940481" cy="147392"/>
            </a:xfrm>
            <a:custGeom>
              <a:avLst/>
              <a:gdLst/>
              <a:ahLst/>
              <a:cxnLst/>
              <a:rect l="l" t="t" r="r" b="b"/>
              <a:pathLst>
                <a:path w="15633" h="2450" extrusionOk="0">
                  <a:moveTo>
                    <a:pt x="1226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6" y="2450"/>
                  </a:cubicBezTo>
                  <a:lnTo>
                    <a:pt x="14408" y="2450"/>
                  </a:lnTo>
                  <a:cubicBezTo>
                    <a:pt x="15086" y="2450"/>
                    <a:pt x="15632" y="1903"/>
                    <a:pt x="15632" y="1225"/>
                  </a:cubicBezTo>
                  <a:cubicBezTo>
                    <a:pt x="15632" y="547"/>
                    <a:pt x="15086" y="0"/>
                    <a:pt x="14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8"/>
            <p:cNvSpPr/>
            <p:nvPr/>
          </p:nvSpPr>
          <p:spPr>
            <a:xfrm>
              <a:off x="7268344" y="4823231"/>
              <a:ext cx="1467784" cy="147392"/>
            </a:xfrm>
            <a:custGeom>
              <a:avLst/>
              <a:gdLst/>
              <a:ahLst/>
              <a:cxnLst/>
              <a:rect l="l" t="t" r="r" b="b"/>
              <a:pathLst>
                <a:path w="24398" h="2450" extrusionOk="0">
                  <a:moveTo>
                    <a:pt x="1225" y="0"/>
                  </a:moveTo>
                  <a:cubicBezTo>
                    <a:pt x="547" y="0"/>
                    <a:pt x="1" y="547"/>
                    <a:pt x="1" y="1225"/>
                  </a:cubicBezTo>
                  <a:cubicBezTo>
                    <a:pt x="1" y="1903"/>
                    <a:pt x="547" y="2450"/>
                    <a:pt x="1225" y="2450"/>
                  </a:cubicBezTo>
                  <a:lnTo>
                    <a:pt x="23173" y="2450"/>
                  </a:lnTo>
                  <a:cubicBezTo>
                    <a:pt x="23851" y="2450"/>
                    <a:pt x="24398" y="1903"/>
                    <a:pt x="24398" y="1225"/>
                  </a:cubicBezTo>
                  <a:cubicBezTo>
                    <a:pt x="24398" y="547"/>
                    <a:pt x="23851" y="0"/>
                    <a:pt x="23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48"/>
          <p:cNvGrpSpPr/>
          <p:nvPr/>
        </p:nvGrpSpPr>
        <p:grpSpPr>
          <a:xfrm>
            <a:off x="838451" y="522313"/>
            <a:ext cx="1552263" cy="2546518"/>
            <a:chOff x="966500" y="527038"/>
            <a:chExt cx="1552263" cy="2546518"/>
          </a:xfrm>
        </p:grpSpPr>
        <p:sp>
          <p:nvSpPr>
            <p:cNvPr id="876" name="Google Shape;876;p48"/>
            <p:cNvSpPr/>
            <p:nvPr/>
          </p:nvSpPr>
          <p:spPr>
            <a:xfrm>
              <a:off x="977844" y="539974"/>
              <a:ext cx="1529616" cy="2520647"/>
            </a:xfrm>
            <a:custGeom>
              <a:avLst/>
              <a:gdLst/>
              <a:ahLst/>
              <a:cxnLst/>
              <a:rect l="l" t="t" r="r" b="b"/>
              <a:pathLst>
                <a:path w="37486" h="61773" extrusionOk="0">
                  <a:moveTo>
                    <a:pt x="18743" y="1"/>
                  </a:moveTo>
                  <a:lnTo>
                    <a:pt x="18608" y="75"/>
                  </a:lnTo>
                  <a:cubicBezTo>
                    <a:pt x="13054" y="3146"/>
                    <a:pt x="8394" y="7562"/>
                    <a:pt x="5134" y="12847"/>
                  </a:cubicBezTo>
                  <a:cubicBezTo>
                    <a:pt x="3483" y="15523"/>
                    <a:pt x="2209" y="18394"/>
                    <a:pt x="1344" y="21380"/>
                  </a:cubicBezTo>
                  <a:cubicBezTo>
                    <a:pt x="452" y="24461"/>
                    <a:pt x="0" y="27660"/>
                    <a:pt x="0" y="30886"/>
                  </a:cubicBezTo>
                  <a:cubicBezTo>
                    <a:pt x="0" y="34114"/>
                    <a:pt x="452" y="37312"/>
                    <a:pt x="1344" y="40393"/>
                  </a:cubicBezTo>
                  <a:cubicBezTo>
                    <a:pt x="2209" y="43379"/>
                    <a:pt x="3484" y="46250"/>
                    <a:pt x="5134" y="48927"/>
                  </a:cubicBezTo>
                  <a:cubicBezTo>
                    <a:pt x="8394" y="54211"/>
                    <a:pt x="13054" y="58628"/>
                    <a:pt x="18608" y="61699"/>
                  </a:cubicBezTo>
                  <a:lnTo>
                    <a:pt x="18743" y="61773"/>
                  </a:lnTo>
                  <a:lnTo>
                    <a:pt x="18877" y="61699"/>
                  </a:lnTo>
                  <a:cubicBezTo>
                    <a:pt x="24432" y="58628"/>
                    <a:pt x="29092" y="54211"/>
                    <a:pt x="32351" y="48927"/>
                  </a:cubicBezTo>
                  <a:cubicBezTo>
                    <a:pt x="34002" y="46250"/>
                    <a:pt x="35277" y="43379"/>
                    <a:pt x="36142" y="40393"/>
                  </a:cubicBezTo>
                  <a:cubicBezTo>
                    <a:pt x="37033" y="37312"/>
                    <a:pt x="37485" y="34114"/>
                    <a:pt x="37485" y="30886"/>
                  </a:cubicBezTo>
                  <a:cubicBezTo>
                    <a:pt x="37485" y="27660"/>
                    <a:pt x="37033" y="24461"/>
                    <a:pt x="36142" y="21380"/>
                  </a:cubicBezTo>
                  <a:cubicBezTo>
                    <a:pt x="35277" y="18394"/>
                    <a:pt x="34002" y="15523"/>
                    <a:pt x="32351" y="12847"/>
                  </a:cubicBezTo>
                  <a:cubicBezTo>
                    <a:pt x="29092" y="7562"/>
                    <a:pt x="24432" y="3146"/>
                    <a:pt x="18877" y="75"/>
                  </a:cubicBezTo>
                  <a:lnTo>
                    <a:pt x="1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8"/>
            <p:cNvSpPr/>
            <p:nvPr/>
          </p:nvSpPr>
          <p:spPr>
            <a:xfrm>
              <a:off x="966500" y="527038"/>
              <a:ext cx="1552263" cy="2546518"/>
            </a:xfrm>
            <a:custGeom>
              <a:avLst/>
              <a:gdLst/>
              <a:ahLst/>
              <a:cxnLst/>
              <a:rect l="l" t="t" r="r" b="b"/>
              <a:pathLst>
                <a:path w="38041" h="62407" extrusionOk="0">
                  <a:moveTo>
                    <a:pt x="19021" y="634"/>
                  </a:moveTo>
                  <a:cubicBezTo>
                    <a:pt x="30059" y="6736"/>
                    <a:pt x="37486" y="18141"/>
                    <a:pt x="37486" y="31203"/>
                  </a:cubicBezTo>
                  <a:cubicBezTo>
                    <a:pt x="37486" y="44266"/>
                    <a:pt x="30059" y="55670"/>
                    <a:pt x="19021" y="61772"/>
                  </a:cubicBezTo>
                  <a:cubicBezTo>
                    <a:pt x="7983" y="55670"/>
                    <a:pt x="556" y="44266"/>
                    <a:pt x="556" y="31203"/>
                  </a:cubicBezTo>
                  <a:cubicBezTo>
                    <a:pt x="556" y="18141"/>
                    <a:pt x="7983" y="6738"/>
                    <a:pt x="19021" y="634"/>
                  </a:cubicBezTo>
                  <a:close/>
                  <a:moveTo>
                    <a:pt x="19021" y="0"/>
                  </a:moveTo>
                  <a:lnTo>
                    <a:pt x="18752" y="149"/>
                  </a:lnTo>
                  <a:cubicBezTo>
                    <a:pt x="15965" y="1690"/>
                    <a:pt x="13390" y="3573"/>
                    <a:pt x="11097" y="5746"/>
                  </a:cubicBezTo>
                  <a:cubicBezTo>
                    <a:pt x="8804" y="7919"/>
                    <a:pt x="6812" y="10365"/>
                    <a:pt x="5177" y="13017"/>
                  </a:cubicBezTo>
                  <a:cubicBezTo>
                    <a:pt x="3513" y="15715"/>
                    <a:pt x="2227" y="18610"/>
                    <a:pt x="1355" y="21621"/>
                  </a:cubicBezTo>
                  <a:cubicBezTo>
                    <a:pt x="456" y="24726"/>
                    <a:pt x="1" y="27950"/>
                    <a:pt x="1" y="31203"/>
                  </a:cubicBezTo>
                  <a:cubicBezTo>
                    <a:pt x="1" y="34457"/>
                    <a:pt x="456" y="37681"/>
                    <a:pt x="1355" y="40787"/>
                  </a:cubicBezTo>
                  <a:cubicBezTo>
                    <a:pt x="2227" y="43797"/>
                    <a:pt x="3513" y="46692"/>
                    <a:pt x="5177" y="49390"/>
                  </a:cubicBezTo>
                  <a:cubicBezTo>
                    <a:pt x="6812" y="52042"/>
                    <a:pt x="8804" y="54488"/>
                    <a:pt x="11097" y="56662"/>
                  </a:cubicBezTo>
                  <a:cubicBezTo>
                    <a:pt x="13390" y="58835"/>
                    <a:pt x="15965" y="60718"/>
                    <a:pt x="18752" y="62258"/>
                  </a:cubicBezTo>
                  <a:lnTo>
                    <a:pt x="19021" y="62406"/>
                  </a:lnTo>
                  <a:lnTo>
                    <a:pt x="19290" y="62258"/>
                  </a:lnTo>
                  <a:cubicBezTo>
                    <a:pt x="22077" y="60718"/>
                    <a:pt x="24652" y="58835"/>
                    <a:pt x="26945" y="56662"/>
                  </a:cubicBezTo>
                  <a:cubicBezTo>
                    <a:pt x="29238" y="54488"/>
                    <a:pt x="31229" y="52042"/>
                    <a:pt x="32866" y="49390"/>
                  </a:cubicBezTo>
                  <a:cubicBezTo>
                    <a:pt x="34529" y="46692"/>
                    <a:pt x="35815" y="43797"/>
                    <a:pt x="36686" y="40787"/>
                  </a:cubicBezTo>
                  <a:cubicBezTo>
                    <a:pt x="37586" y="37681"/>
                    <a:pt x="38041" y="34457"/>
                    <a:pt x="38041" y="31203"/>
                  </a:cubicBezTo>
                  <a:cubicBezTo>
                    <a:pt x="38041" y="27950"/>
                    <a:pt x="37586" y="24726"/>
                    <a:pt x="36686" y="21621"/>
                  </a:cubicBezTo>
                  <a:cubicBezTo>
                    <a:pt x="35815" y="18610"/>
                    <a:pt x="34529" y="15715"/>
                    <a:pt x="32866" y="13017"/>
                  </a:cubicBezTo>
                  <a:cubicBezTo>
                    <a:pt x="31229" y="10365"/>
                    <a:pt x="29238" y="7919"/>
                    <a:pt x="26945" y="5746"/>
                  </a:cubicBezTo>
                  <a:cubicBezTo>
                    <a:pt x="24652" y="3573"/>
                    <a:pt x="22077" y="1690"/>
                    <a:pt x="19290" y="149"/>
                  </a:cubicBezTo>
                  <a:lnTo>
                    <a:pt x="19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8"/>
            <p:cNvSpPr/>
            <p:nvPr/>
          </p:nvSpPr>
          <p:spPr>
            <a:xfrm>
              <a:off x="1137800" y="1195467"/>
              <a:ext cx="1209664" cy="1209705"/>
            </a:xfrm>
            <a:custGeom>
              <a:avLst/>
              <a:gdLst/>
              <a:ahLst/>
              <a:cxnLst/>
              <a:rect l="l" t="t" r="r" b="b"/>
              <a:pathLst>
                <a:path w="29645" h="29646" extrusionOk="0">
                  <a:moveTo>
                    <a:pt x="14823" y="0"/>
                  </a:moveTo>
                  <a:cubicBezTo>
                    <a:pt x="10891" y="0"/>
                    <a:pt x="7122" y="1561"/>
                    <a:pt x="4342" y="4341"/>
                  </a:cubicBezTo>
                  <a:cubicBezTo>
                    <a:pt x="1562" y="7122"/>
                    <a:pt x="1" y="10891"/>
                    <a:pt x="1" y="14822"/>
                  </a:cubicBezTo>
                  <a:cubicBezTo>
                    <a:pt x="1" y="18754"/>
                    <a:pt x="1562" y="22524"/>
                    <a:pt x="4342" y="25303"/>
                  </a:cubicBezTo>
                  <a:cubicBezTo>
                    <a:pt x="7122" y="28083"/>
                    <a:pt x="10891" y="29646"/>
                    <a:pt x="14823" y="29646"/>
                  </a:cubicBezTo>
                  <a:cubicBezTo>
                    <a:pt x="18754" y="29646"/>
                    <a:pt x="22524" y="28083"/>
                    <a:pt x="25304" y="25303"/>
                  </a:cubicBezTo>
                  <a:cubicBezTo>
                    <a:pt x="28084" y="22524"/>
                    <a:pt x="29645" y="18754"/>
                    <a:pt x="29645" y="14822"/>
                  </a:cubicBezTo>
                  <a:cubicBezTo>
                    <a:pt x="29645" y="10891"/>
                    <a:pt x="28084" y="7122"/>
                    <a:pt x="25304" y="4341"/>
                  </a:cubicBezTo>
                  <a:cubicBezTo>
                    <a:pt x="22524" y="1561"/>
                    <a:pt x="18754" y="0"/>
                    <a:pt x="1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8"/>
            <p:cNvSpPr/>
            <p:nvPr/>
          </p:nvSpPr>
          <p:spPr>
            <a:xfrm>
              <a:off x="1324810" y="1382476"/>
              <a:ext cx="835646" cy="835646"/>
            </a:xfrm>
            <a:custGeom>
              <a:avLst/>
              <a:gdLst/>
              <a:ahLst/>
              <a:cxnLst/>
              <a:rect l="l" t="t" r="r" b="b"/>
              <a:pathLst>
                <a:path w="20479" h="20479" extrusionOk="0">
                  <a:moveTo>
                    <a:pt x="10240" y="1"/>
                  </a:moveTo>
                  <a:cubicBezTo>
                    <a:pt x="7524" y="1"/>
                    <a:pt x="4919" y="1080"/>
                    <a:pt x="3000" y="2999"/>
                  </a:cubicBezTo>
                  <a:cubicBezTo>
                    <a:pt x="1079" y="4920"/>
                    <a:pt x="1" y="7524"/>
                    <a:pt x="1" y="10239"/>
                  </a:cubicBezTo>
                  <a:cubicBezTo>
                    <a:pt x="1" y="12955"/>
                    <a:pt x="1079" y="15560"/>
                    <a:pt x="3000" y="17479"/>
                  </a:cubicBezTo>
                  <a:cubicBezTo>
                    <a:pt x="4919" y="19400"/>
                    <a:pt x="7524" y="20478"/>
                    <a:pt x="10240" y="20478"/>
                  </a:cubicBezTo>
                  <a:cubicBezTo>
                    <a:pt x="12956" y="20478"/>
                    <a:pt x="15560" y="19400"/>
                    <a:pt x="17480" y="17479"/>
                  </a:cubicBezTo>
                  <a:cubicBezTo>
                    <a:pt x="19401" y="15560"/>
                    <a:pt x="20479" y="12955"/>
                    <a:pt x="20479" y="10239"/>
                  </a:cubicBezTo>
                  <a:cubicBezTo>
                    <a:pt x="20479" y="7524"/>
                    <a:pt x="19401" y="4920"/>
                    <a:pt x="17480" y="2999"/>
                  </a:cubicBezTo>
                  <a:cubicBezTo>
                    <a:pt x="15560" y="1080"/>
                    <a:pt x="12956" y="1"/>
                    <a:pt x="10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8"/>
            <p:cNvSpPr/>
            <p:nvPr/>
          </p:nvSpPr>
          <p:spPr>
            <a:xfrm>
              <a:off x="1622809" y="1648934"/>
              <a:ext cx="239689" cy="349780"/>
            </a:xfrm>
            <a:custGeom>
              <a:avLst/>
              <a:gdLst/>
              <a:ahLst/>
              <a:cxnLst/>
              <a:rect l="l" t="t" r="r" b="b"/>
              <a:pathLst>
                <a:path w="5874" h="8572" extrusionOk="0">
                  <a:moveTo>
                    <a:pt x="1697" y="0"/>
                  </a:moveTo>
                  <a:lnTo>
                    <a:pt x="0" y="4883"/>
                  </a:lnTo>
                  <a:lnTo>
                    <a:pt x="2306" y="4883"/>
                  </a:lnTo>
                  <a:lnTo>
                    <a:pt x="1697" y="8571"/>
                  </a:lnTo>
                  <a:lnTo>
                    <a:pt x="5873" y="3524"/>
                  </a:lnTo>
                  <a:lnTo>
                    <a:pt x="3177" y="3524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48"/>
          <p:cNvSpPr txBox="1">
            <a:spLocks noGrp="1"/>
          </p:cNvSpPr>
          <p:nvPr>
            <p:ph type="subTitle" idx="1"/>
          </p:nvPr>
        </p:nvSpPr>
        <p:spPr>
          <a:xfrm flipH="1">
            <a:off x="3523146" y="963530"/>
            <a:ext cx="5261106" cy="3702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ca-ES" sz="1000" dirty="0"/>
              <a:t>L'objectiu principal és dissenyar i fabricar una PCB funcional per a la gestió del subsistema de seients elèctrics d'un vehicle, complint els següents punts: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Controlar 3 motors del seient:</a:t>
            </a:r>
          </a:p>
          <a:p>
            <a:pPr marL="171450" indent="-171450" algn="l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Posició longitudinal, alçada, Inclinació del respatller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finals de carrera per evitar sobrecàrregues mecàniques.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Implementar calefacció del seient amb control electrònic.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Detectar estat del cinturó de seguretat.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Guardar i recuperar posicions programades del seient mitjançant memòria no volàtil.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la interacció de l’usuari amb botonera.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Comunicar-se amb la xarxa del vehicle via bus CAN.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ca-ES" sz="1000" dirty="0"/>
              <a:t>Permetre monitorització i </a:t>
            </a:r>
            <a:r>
              <a:rPr lang="ca-ES" sz="1000" dirty="0" err="1"/>
              <a:t>debug</a:t>
            </a:r>
            <a:r>
              <a:rPr lang="ca-ES" sz="1000" dirty="0"/>
              <a:t> via </a:t>
            </a:r>
            <a:r>
              <a:rPr lang="ca-ES" sz="1000" dirty="0" err="1"/>
              <a:t>USART.c</a:t>
            </a:r>
            <a:endParaRPr lang="ca-ES" sz="1000" dirty="0"/>
          </a:p>
        </p:txBody>
      </p:sp>
    </p:spTree>
    <p:extLst>
      <p:ext uri="{BB962C8B-B14F-4D97-AF65-F5344CB8AC3E}">
        <p14:creationId xmlns:p14="http://schemas.microsoft.com/office/powerpoint/2010/main" val="71830603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7"/>
          <p:cNvGrpSpPr/>
          <p:nvPr/>
        </p:nvGrpSpPr>
        <p:grpSpPr>
          <a:xfrm flipH="1">
            <a:off x="5914770" y="91"/>
            <a:ext cx="3229223" cy="820210"/>
            <a:chOff x="5914788" y="4092325"/>
            <a:chExt cx="3229223" cy="1032360"/>
          </a:xfrm>
        </p:grpSpPr>
        <p:sp>
          <p:nvSpPr>
            <p:cNvPr id="778" name="Google Shape;778;p47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7"/>
          <p:cNvSpPr/>
          <p:nvPr/>
        </p:nvSpPr>
        <p:spPr>
          <a:xfrm flipH="1">
            <a:off x="5914780" y="781075"/>
            <a:ext cx="3229200" cy="3520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47"/>
          <p:cNvSpPr/>
          <p:nvPr/>
        </p:nvSpPr>
        <p:spPr>
          <a:xfrm flipH="1">
            <a:off x="5914780" y="4301738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2159175" y="6684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7"/>
          <p:cNvSpPr txBox="1">
            <a:spLocks noGrp="1"/>
          </p:cNvSpPr>
          <p:nvPr>
            <p:ph type="title" idx="2"/>
          </p:nvPr>
        </p:nvSpPr>
        <p:spPr>
          <a:xfrm>
            <a:off x="2020125" y="1013256"/>
            <a:ext cx="2070900" cy="11031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47"/>
          <p:cNvSpPr txBox="1">
            <a:spLocks noGrp="1"/>
          </p:cNvSpPr>
          <p:nvPr>
            <p:ph type="title"/>
          </p:nvPr>
        </p:nvSpPr>
        <p:spPr>
          <a:xfrm>
            <a:off x="1100925" y="2587625"/>
            <a:ext cx="39093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DIAGRAMA DE BLOCS</a:t>
            </a:r>
            <a:endParaRPr dirty="0"/>
          </a:p>
        </p:txBody>
      </p:sp>
      <p:grpSp>
        <p:nvGrpSpPr>
          <p:cNvPr id="809" name="Google Shape;809;p47"/>
          <p:cNvGrpSpPr/>
          <p:nvPr/>
        </p:nvGrpSpPr>
        <p:grpSpPr>
          <a:xfrm flipH="1">
            <a:off x="7064394" y="766804"/>
            <a:ext cx="910812" cy="1660393"/>
            <a:chOff x="-2015525" y="1207150"/>
            <a:chExt cx="1253526" cy="2285783"/>
          </a:xfrm>
        </p:grpSpPr>
        <p:sp>
          <p:nvSpPr>
            <p:cNvPr id="810" name="Google Shape;810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47"/>
          <p:cNvGrpSpPr/>
          <p:nvPr/>
        </p:nvGrpSpPr>
        <p:grpSpPr>
          <a:xfrm rot="10800000" flipH="1">
            <a:off x="7064394" y="2641324"/>
            <a:ext cx="910812" cy="1660393"/>
            <a:chOff x="-2015525" y="1207150"/>
            <a:chExt cx="1253526" cy="2285783"/>
          </a:xfrm>
        </p:grpSpPr>
        <p:sp>
          <p:nvSpPr>
            <p:cNvPr id="817" name="Google Shape;817;p47"/>
            <p:cNvSpPr/>
            <p:nvPr/>
          </p:nvSpPr>
          <p:spPr>
            <a:xfrm>
              <a:off x="-1465816" y="1207150"/>
              <a:ext cx="154217" cy="558388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47"/>
          <p:cNvGrpSpPr/>
          <p:nvPr/>
        </p:nvGrpSpPr>
        <p:grpSpPr>
          <a:xfrm flipH="1">
            <a:off x="6086153" y="4429063"/>
            <a:ext cx="2867297" cy="587084"/>
            <a:chOff x="207675" y="127350"/>
            <a:chExt cx="2867297" cy="587084"/>
          </a:xfrm>
        </p:grpSpPr>
        <p:grpSp>
          <p:nvGrpSpPr>
            <p:cNvPr id="824" name="Google Shape;824;p47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825" name="Google Shape;825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7" name="Google Shape;837;p47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838" name="Google Shape;838;p47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6" name="Google Shape;846;p47"/>
          <p:cNvGrpSpPr/>
          <p:nvPr/>
        </p:nvGrpSpPr>
        <p:grpSpPr>
          <a:xfrm rot="10800000">
            <a:off x="4829409" y="-14238"/>
            <a:ext cx="753870" cy="1509636"/>
            <a:chOff x="5088650" y="245050"/>
            <a:chExt cx="1046025" cy="2094680"/>
          </a:xfrm>
        </p:grpSpPr>
        <p:sp>
          <p:nvSpPr>
            <p:cNvPr id="847" name="Google Shape;847;p47"/>
            <p:cNvSpPr/>
            <p:nvPr/>
          </p:nvSpPr>
          <p:spPr>
            <a:xfrm>
              <a:off x="5547342" y="1580832"/>
              <a:ext cx="128662" cy="75889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V.2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26F57972-62EA-4E74-90C1-758847C1A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9058" y="-29496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696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1366752-51D0-417E-A1F2-BB40BF7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5" y="203161"/>
            <a:ext cx="1064555" cy="573300"/>
          </a:xfrm>
        </p:spPr>
        <p:txBody>
          <a:bodyPr/>
          <a:lstStyle/>
          <a:p>
            <a:r>
              <a:rPr lang="ca-ES" dirty="0"/>
              <a:t>V.3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0B656D7-3758-49A5-AC1D-EFEBD9E99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3088" y="0"/>
            <a:ext cx="73077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8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71"/>
          <p:cNvSpPr/>
          <p:nvPr/>
        </p:nvSpPr>
        <p:spPr>
          <a:xfrm>
            <a:off x="5914800" y="-75"/>
            <a:ext cx="3229200" cy="4328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8" name="Google Shape;1428;p71"/>
          <p:cNvGrpSpPr/>
          <p:nvPr/>
        </p:nvGrpSpPr>
        <p:grpSpPr>
          <a:xfrm flipH="1">
            <a:off x="5914611" y="4323416"/>
            <a:ext cx="3229223" cy="820210"/>
            <a:chOff x="5914788" y="4092325"/>
            <a:chExt cx="3229223" cy="1032360"/>
          </a:xfrm>
        </p:grpSpPr>
        <p:sp>
          <p:nvSpPr>
            <p:cNvPr id="1429" name="Google Shape;1429;p71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71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71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71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71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71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71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71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71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71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71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1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71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71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71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71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71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71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71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71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71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71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71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1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1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4" name="Google Shape;1454;p71"/>
          <p:cNvSpPr/>
          <p:nvPr/>
        </p:nvSpPr>
        <p:spPr>
          <a:xfrm>
            <a:off x="930338" y="639781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5" name="Google Shape;1455;p71"/>
          <p:cNvSpPr txBox="1">
            <a:spLocks noGrp="1"/>
          </p:cNvSpPr>
          <p:nvPr>
            <p:ph type="title"/>
          </p:nvPr>
        </p:nvSpPr>
        <p:spPr>
          <a:xfrm flipH="1">
            <a:off x="791307" y="2616238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ESQUEMÀTIC DEL PROJECTE</a:t>
            </a:r>
            <a:endParaRPr dirty="0"/>
          </a:p>
        </p:txBody>
      </p:sp>
      <p:sp>
        <p:nvSpPr>
          <p:cNvPr id="1456" name="Google Shape;1456;p71"/>
          <p:cNvSpPr txBox="1">
            <a:spLocks noGrp="1"/>
          </p:cNvSpPr>
          <p:nvPr>
            <p:ph type="title" idx="2"/>
          </p:nvPr>
        </p:nvSpPr>
        <p:spPr>
          <a:xfrm flipH="1">
            <a:off x="791300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458" name="Google Shape;1458;p71"/>
          <p:cNvGrpSpPr/>
          <p:nvPr/>
        </p:nvGrpSpPr>
        <p:grpSpPr>
          <a:xfrm>
            <a:off x="6824022" y="341625"/>
            <a:ext cx="1416152" cy="3644700"/>
            <a:chOff x="913822" y="341700"/>
            <a:chExt cx="1416152" cy="3644700"/>
          </a:xfrm>
        </p:grpSpPr>
        <p:grpSp>
          <p:nvGrpSpPr>
            <p:cNvPr id="1459" name="Google Shape;1459;p71"/>
            <p:cNvGrpSpPr/>
            <p:nvPr/>
          </p:nvGrpSpPr>
          <p:grpSpPr>
            <a:xfrm>
              <a:off x="979900" y="341700"/>
              <a:ext cx="1278600" cy="3644700"/>
              <a:chOff x="979900" y="314325"/>
              <a:chExt cx="1278600" cy="3644700"/>
            </a:xfrm>
          </p:grpSpPr>
          <p:sp>
            <p:nvSpPr>
              <p:cNvPr id="1460" name="Google Shape;1460;p71"/>
              <p:cNvSpPr/>
              <p:nvPr/>
            </p:nvSpPr>
            <p:spPr>
              <a:xfrm rot="5400000">
                <a:off x="-203150" y="1497375"/>
                <a:ext cx="3644700" cy="12786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71"/>
              <p:cNvSpPr/>
              <p:nvPr/>
            </p:nvSpPr>
            <p:spPr>
              <a:xfrm rot="5400000">
                <a:off x="-98195" y="1589775"/>
                <a:ext cx="3434700" cy="10938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71"/>
              <p:cNvSpPr/>
              <p:nvPr/>
            </p:nvSpPr>
            <p:spPr>
              <a:xfrm rot="5400000">
                <a:off x="2751" y="1693425"/>
                <a:ext cx="3232800" cy="8865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71"/>
              <p:cNvSpPr/>
              <p:nvPr/>
            </p:nvSpPr>
            <p:spPr>
              <a:xfrm rot="5400000">
                <a:off x="103610" y="1806825"/>
                <a:ext cx="3031200" cy="659700"/>
              </a:xfrm>
              <a:prstGeom prst="roundRect">
                <a:avLst>
                  <a:gd name="adj" fmla="val 354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71"/>
            <p:cNvGrpSpPr/>
            <p:nvPr/>
          </p:nvGrpSpPr>
          <p:grpSpPr>
            <a:xfrm>
              <a:off x="2193219" y="954497"/>
              <a:ext cx="136756" cy="175987"/>
              <a:chOff x="1897944" y="1497422"/>
              <a:chExt cx="136756" cy="175987"/>
            </a:xfrm>
          </p:grpSpPr>
          <p:sp>
            <p:nvSpPr>
              <p:cNvPr id="1465" name="Google Shape;1465;p71"/>
              <p:cNvSpPr/>
              <p:nvPr/>
            </p:nvSpPr>
            <p:spPr>
              <a:xfrm>
                <a:off x="1917715" y="1497422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71"/>
              <p:cNvSpPr/>
              <p:nvPr/>
            </p:nvSpPr>
            <p:spPr>
              <a:xfrm>
                <a:off x="1897944" y="1538742"/>
                <a:ext cx="136756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835" extrusionOk="0">
                    <a:moveTo>
                      <a:pt x="1539" y="1"/>
                    </a:moveTo>
                    <a:lnTo>
                      <a:pt x="0" y="1835"/>
                    </a:lnTo>
                    <a:lnTo>
                      <a:pt x="3078" y="1835"/>
                    </a:lnTo>
                    <a:lnTo>
                      <a:pt x="15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7" name="Google Shape;1467;p71"/>
            <p:cNvGrpSpPr/>
            <p:nvPr/>
          </p:nvGrpSpPr>
          <p:grpSpPr>
            <a:xfrm>
              <a:off x="1009180" y="733662"/>
              <a:ext cx="136800" cy="175987"/>
              <a:chOff x="975855" y="1419225"/>
              <a:chExt cx="136800" cy="175987"/>
            </a:xfrm>
          </p:grpSpPr>
          <p:sp>
            <p:nvSpPr>
              <p:cNvPr id="1468" name="Google Shape;1468;p71"/>
              <p:cNvSpPr/>
              <p:nvPr/>
            </p:nvSpPr>
            <p:spPr>
              <a:xfrm>
                <a:off x="995671" y="1419225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1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71"/>
              <p:cNvSpPr/>
              <p:nvPr/>
            </p:nvSpPr>
            <p:spPr>
              <a:xfrm>
                <a:off x="975855" y="1460545"/>
                <a:ext cx="136800" cy="81618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7" extrusionOk="0">
                    <a:moveTo>
                      <a:pt x="1540" y="1"/>
                    </a:moveTo>
                    <a:lnTo>
                      <a:pt x="1" y="1836"/>
                    </a:lnTo>
                    <a:lnTo>
                      <a:pt x="3079" y="1836"/>
                    </a:lnTo>
                    <a:lnTo>
                      <a:pt x="15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0" name="Google Shape;1470;p71"/>
            <p:cNvGrpSpPr/>
            <p:nvPr/>
          </p:nvGrpSpPr>
          <p:grpSpPr>
            <a:xfrm>
              <a:off x="2102522" y="3241113"/>
              <a:ext cx="136844" cy="175987"/>
              <a:chOff x="1773897" y="3022038"/>
              <a:chExt cx="136844" cy="175987"/>
            </a:xfrm>
          </p:grpSpPr>
          <p:sp>
            <p:nvSpPr>
              <p:cNvPr id="1471" name="Google Shape;1471;p71"/>
              <p:cNvSpPr/>
              <p:nvPr/>
            </p:nvSpPr>
            <p:spPr>
              <a:xfrm>
                <a:off x="1793713" y="3022038"/>
                <a:ext cx="97257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9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8" y="3961"/>
                    </a:lnTo>
                    <a:lnTo>
                      <a:pt x="21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71"/>
              <p:cNvSpPr/>
              <p:nvPr/>
            </p:nvSpPr>
            <p:spPr>
              <a:xfrm>
                <a:off x="1773897" y="3075132"/>
                <a:ext cx="136844" cy="81573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1836" extrusionOk="0">
                    <a:moveTo>
                      <a:pt x="1" y="0"/>
                    </a:moveTo>
                    <a:lnTo>
                      <a:pt x="1541" y="1835"/>
                    </a:lnTo>
                    <a:lnTo>
                      <a:pt x="30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3" name="Google Shape;1473;p71"/>
            <p:cNvGrpSpPr/>
            <p:nvPr/>
          </p:nvGrpSpPr>
          <p:grpSpPr>
            <a:xfrm>
              <a:off x="913822" y="2760610"/>
              <a:ext cx="136800" cy="175987"/>
              <a:chOff x="851897" y="2593910"/>
              <a:chExt cx="136800" cy="175987"/>
            </a:xfrm>
          </p:grpSpPr>
          <p:sp>
            <p:nvSpPr>
              <p:cNvPr id="1474" name="Google Shape;1474;p71"/>
              <p:cNvSpPr/>
              <p:nvPr/>
            </p:nvSpPr>
            <p:spPr>
              <a:xfrm>
                <a:off x="871713" y="2593910"/>
                <a:ext cx="97213" cy="175987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961" extrusionOk="0">
                    <a:moveTo>
                      <a:pt x="0" y="0"/>
                    </a:moveTo>
                    <a:lnTo>
                      <a:pt x="0" y="3961"/>
                    </a:lnTo>
                    <a:lnTo>
                      <a:pt x="2187" y="3961"/>
                    </a:lnTo>
                    <a:lnTo>
                      <a:pt x="218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71"/>
              <p:cNvSpPr/>
              <p:nvPr/>
            </p:nvSpPr>
            <p:spPr>
              <a:xfrm>
                <a:off x="851897" y="2647049"/>
                <a:ext cx="136800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1835" extrusionOk="0">
                    <a:moveTo>
                      <a:pt x="1" y="0"/>
                    </a:moveTo>
                    <a:lnTo>
                      <a:pt x="1540" y="183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6" name="Google Shape;1476;p71"/>
          <p:cNvGrpSpPr/>
          <p:nvPr/>
        </p:nvGrpSpPr>
        <p:grpSpPr>
          <a:xfrm>
            <a:off x="6755303" y="991697"/>
            <a:ext cx="1548193" cy="2344555"/>
            <a:chOff x="874813" y="1108300"/>
            <a:chExt cx="1488647" cy="2254380"/>
          </a:xfrm>
        </p:grpSpPr>
        <p:sp>
          <p:nvSpPr>
            <p:cNvPr id="1477" name="Google Shape;1477;p71"/>
            <p:cNvSpPr/>
            <p:nvPr/>
          </p:nvSpPr>
          <p:spPr>
            <a:xfrm>
              <a:off x="1297461" y="2636239"/>
              <a:ext cx="644809" cy="563115"/>
            </a:xfrm>
            <a:custGeom>
              <a:avLst/>
              <a:gdLst/>
              <a:ahLst/>
              <a:cxnLst/>
              <a:rect l="l" t="t" r="r" b="b"/>
              <a:pathLst>
                <a:path w="14310" h="12497" extrusionOk="0">
                  <a:moveTo>
                    <a:pt x="1" y="0"/>
                  </a:moveTo>
                  <a:lnTo>
                    <a:pt x="1" y="12496"/>
                  </a:lnTo>
                  <a:lnTo>
                    <a:pt x="14310" y="12496"/>
                  </a:lnTo>
                  <a:lnTo>
                    <a:pt x="1431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71"/>
            <p:cNvSpPr/>
            <p:nvPr/>
          </p:nvSpPr>
          <p:spPr>
            <a:xfrm>
              <a:off x="1297461" y="3199338"/>
              <a:ext cx="644809" cy="163343"/>
            </a:xfrm>
            <a:custGeom>
              <a:avLst/>
              <a:gdLst/>
              <a:ahLst/>
              <a:cxnLst/>
              <a:rect l="l" t="t" r="r" b="b"/>
              <a:pathLst>
                <a:path w="14310" h="3625" extrusionOk="0">
                  <a:moveTo>
                    <a:pt x="1" y="1"/>
                  </a:moveTo>
                  <a:lnTo>
                    <a:pt x="2840" y="3624"/>
                  </a:lnTo>
                  <a:lnTo>
                    <a:pt x="11471" y="3624"/>
                  </a:lnTo>
                  <a:lnTo>
                    <a:pt x="14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71"/>
            <p:cNvSpPr/>
            <p:nvPr/>
          </p:nvSpPr>
          <p:spPr>
            <a:xfrm>
              <a:off x="874813" y="1108300"/>
              <a:ext cx="1488647" cy="1698266"/>
            </a:xfrm>
            <a:custGeom>
              <a:avLst/>
              <a:gdLst/>
              <a:ahLst/>
              <a:cxnLst/>
              <a:rect l="l" t="t" r="r" b="b"/>
              <a:pathLst>
                <a:path w="33037" h="37689" extrusionOk="0">
                  <a:moveTo>
                    <a:pt x="16539" y="0"/>
                  </a:moveTo>
                  <a:cubicBezTo>
                    <a:pt x="7530" y="0"/>
                    <a:pt x="108" y="7329"/>
                    <a:pt x="36" y="16364"/>
                  </a:cubicBezTo>
                  <a:cubicBezTo>
                    <a:pt x="0" y="20651"/>
                    <a:pt x="1601" y="24564"/>
                    <a:pt x="4251" y="27517"/>
                  </a:cubicBezTo>
                  <a:cubicBezTo>
                    <a:pt x="5795" y="29238"/>
                    <a:pt x="6617" y="31488"/>
                    <a:pt x="6617" y="33799"/>
                  </a:cubicBezTo>
                  <a:lnTo>
                    <a:pt x="6617" y="35435"/>
                  </a:lnTo>
                  <a:cubicBezTo>
                    <a:pt x="6617" y="36679"/>
                    <a:pt x="7627" y="37689"/>
                    <a:pt x="8871" y="37689"/>
                  </a:cubicBezTo>
                  <a:lnTo>
                    <a:pt x="24200" y="37689"/>
                  </a:lnTo>
                  <a:cubicBezTo>
                    <a:pt x="25444" y="37689"/>
                    <a:pt x="26453" y="36679"/>
                    <a:pt x="26453" y="35435"/>
                  </a:cubicBezTo>
                  <a:lnTo>
                    <a:pt x="26453" y="33764"/>
                  </a:lnTo>
                  <a:cubicBezTo>
                    <a:pt x="26453" y="31451"/>
                    <a:pt x="27301" y="29217"/>
                    <a:pt x="28842" y="27493"/>
                  </a:cubicBezTo>
                  <a:cubicBezTo>
                    <a:pt x="31451" y="24575"/>
                    <a:pt x="33036" y="20724"/>
                    <a:pt x="33036" y="16501"/>
                  </a:cubicBezTo>
                  <a:cubicBezTo>
                    <a:pt x="33036" y="7461"/>
                    <a:pt x="25768" y="119"/>
                    <a:pt x="16756" y="2"/>
                  </a:cubicBezTo>
                  <a:cubicBezTo>
                    <a:pt x="16684" y="1"/>
                    <a:pt x="16612" y="0"/>
                    <a:pt x="165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71"/>
            <p:cNvSpPr/>
            <p:nvPr/>
          </p:nvSpPr>
          <p:spPr>
            <a:xfrm>
              <a:off x="1324857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4251" y="15776"/>
                  </a:moveTo>
                  <a:lnTo>
                    <a:pt x="4251" y="2126"/>
                  </a:lnTo>
                  <a:cubicBezTo>
                    <a:pt x="4251" y="952"/>
                    <a:pt x="3300" y="1"/>
                    <a:pt x="2126" y="1"/>
                  </a:cubicBezTo>
                  <a:lnTo>
                    <a:pt x="2126" y="1"/>
                  </a:lnTo>
                  <a:cubicBezTo>
                    <a:pt x="953" y="1"/>
                    <a:pt x="0" y="952"/>
                    <a:pt x="0" y="2126"/>
                  </a:cubicBezTo>
                  <a:lnTo>
                    <a:pt x="0" y="2126"/>
                  </a:lnTo>
                  <a:cubicBezTo>
                    <a:pt x="0" y="3299"/>
                    <a:pt x="953" y="4252"/>
                    <a:pt x="2126" y="4252"/>
                  </a:cubicBezTo>
                  <a:lnTo>
                    <a:pt x="6547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71"/>
            <p:cNvSpPr/>
            <p:nvPr/>
          </p:nvSpPr>
          <p:spPr>
            <a:xfrm>
              <a:off x="1619854" y="2095671"/>
              <a:ext cx="295053" cy="710867"/>
            </a:xfrm>
            <a:custGeom>
              <a:avLst/>
              <a:gdLst/>
              <a:ahLst/>
              <a:cxnLst/>
              <a:rect l="l" t="t" r="r" b="b"/>
              <a:pathLst>
                <a:path w="6548" h="15776" fill="none" extrusionOk="0">
                  <a:moveTo>
                    <a:pt x="2296" y="15776"/>
                  </a:moveTo>
                  <a:lnTo>
                    <a:pt x="2296" y="2126"/>
                  </a:lnTo>
                  <a:cubicBezTo>
                    <a:pt x="2296" y="952"/>
                    <a:pt x="3248" y="1"/>
                    <a:pt x="4423" y="1"/>
                  </a:cubicBezTo>
                  <a:lnTo>
                    <a:pt x="4423" y="1"/>
                  </a:lnTo>
                  <a:cubicBezTo>
                    <a:pt x="5596" y="1"/>
                    <a:pt x="6548" y="952"/>
                    <a:pt x="6548" y="2126"/>
                  </a:cubicBezTo>
                  <a:lnTo>
                    <a:pt x="6548" y="2126"/>
                  </a:lnTo>
                  <a:cubicBezTo>
                    <a:pt x="6548" y="3299"/>
                    <a:pt x="5596" y="4252"/>
                    <a:pt x="4423" y="4252"/>
                  </a:cubicBezTo>
                  <a:lnTo>
                    <a:pt x="0" y="4252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2" name="Google Shape;1482;p71"/>
          <p:cNvGrpSpPr/>
          <p:nvPr/>
        </p:nvGrpSpPr>
        <p:grpSpPr>
          <a:xfrm rot="10800000">
            <a:off x="3498734" y="-73"/>
            <a:ext cx="753870" cy="1800196"/>
            <a:chOff x="5088650" y="245050"/>
            <a:chExt cx="1046025" cy="2497843"/>
          </a:xfrm>
        </p:grpSpPr>
        <p:sp>
          <p:nvSpPr>
            <p:cNvPr id="1483" name="Google Shape;1483;p71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1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1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71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71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1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412819" y="242394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ALIMENTACIÓ:</a:t>
            </a:r>
            <a:endParaRPr sz="2400" dirty="0"/>
          </a:p>
        </p:txBody>
      </p:sp>
      <p:pic>
        <p:nvPicPr>
          <p:cNvPr id="19" name="Imagen 18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7F9ED4A0-48FE-4045-94FD-6B9CEA25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19" y="1193397"/>
            <a:ext cx="8318362" cy="275670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69919" y="228107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SENSORS:</a:t>
            </a:r>
            <a:endParaRPr sz="2400" dirty="0"/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7A5172F-4DA4-4A05-A9F0-BF003FC4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205" y="307433"/>
            <a:ext cx="3914776" cy="1874632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A624C13C-590C-4E92-B5E7-CC17640B059F}"/>
              </a:ext>
            </a:extLst>
          </p:cNvPr>
          <p:cNvSpPr txBox="1">
            <a:spLocks/>
          </p:cNvSpPr>
          <p:nvPr/>
        </p:nvSpPr>
        <p:spPr>
          <a:xfrm>
            <a:off x="6707981" y="171387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E065D5-764D-465D-9A84-609037789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194" y="2433451"/>
            <a:ext cx="4114798" cy="2481942"/>
          </a:xfrm>
          <a:prstGeom prst="rect">
            <a:avLst/>
          </a:prstGeom>
        </p:spPr>
      </p:pic>
      <p:sp>
        <p:nvSpPr>
          <p:cNvPr id="7" name="Título 4">
            <a:extLst>
              <a:ext uri="{FF2B5EF4-FFF2-40B4-BE49-F238E27FC236}">
                <a16:creationId xmlns:a16="http://schemas.microsoft.com/office/drawing/2014/main" id="{D45B43E1-E002-4325-8423-7697399B0957}"/>
              </a:ext>
            </a:extLst>
          </p:cNvPr>
          <p:cNvSpPr txBox="1">
            <a:spLocks/>
          </p:cNvSpPr>
          <p:nvPr/>
        </p:nvSpPr>
        <p:spPr>
          <a:xfrm>
            <a:off x="6807992" y="2433451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</p:spTree>
    <p:extLst>
      <p:ext uri="{BB962C8B-B14F-4D97-AF65-F5344CB8AC3E}">
        <p14:creationId xmlns:p14="http://schemas.microsoft.com/office/powerpoint/2010/main" val="547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DRIVERS:</a:t>
            </a:r>
            <a:endParaRPr sz="2400" dirty="0"/>
          </a:p>
        </p:txBody>
      </p:sp>
      <p:pic>
        <p:nvPicPr>
          <p:cNvPr id="3" name="Imagen 2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272AE783-7DA2-4DE5-8EAB-347B1071D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94" y="772832"/>
            <a:ext cx="6043612" cy="3989498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44415F23-B906-4113-9B99-18B506A0D270}"/>
              </a:ext>
            </a:extLst>
          </p:cNvPr>
          <p:cNvSpPr txBox="1">
            <a:spLocks/>
          </p:cNvSpPr>
          <p:nvPr/>
        </p:nvSpPr>
        <p:spPr>
          <a:xfrm>
            <a:off x="7650956" y="650019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260890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DRIVERS: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44415F23-B906-4113-9B99-18B506A0D270}"/>
              </a:ext>
            </a:extLst>
          </p:cNvPr>
          <p:cNvSpPr txBox="1">
            <a:spLocks/>
          </p:cNvSpPr>
          <p:nvPr/>
        </p:nvSpPr>
        <p:spPr>
          <a:xfrm>
            <a:off x="7650956" y="650019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05CDFD-B7AF-4A60-AFA0-8173559D7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23" y="650019"/>
            <a:ext cx="519755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EEPROM: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A636C9-6222-4496-BCFB-D0E5372B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580" y="224484"/>
            <a:ext cx="4572000" cy="4719484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246204CE-F4AD-44EA-9150-20A8C1084F63}"/>
              </a:ext>
            </a:extLst>
          </p:cNvPr>
          <p:cNvSpPr txBox="1">
            <a:spLocks/>
          </p:cNvSpPr>
          <p:nvPr/>
        </p:nvSpPr>
        <p:spPr>
          <a:xfrm>
            <a:off x="7263580" y="199532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427856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0" y="19953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EEPROM: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246204CE-F4AD-44EA-9150-20A8C1084F63}"/>
              </a:ext>
            </a:extLst>
          </p:cNvPr>
          <p:cNvSpPr txBox="1">
            <a:spLocks/>
          </p:cNvSpPr>
          <p:nvPr/>
        </p:nvSpPr>
        <p:spPr>
          <a:xfrm>
            <a:off x="7277148" y="199532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F96C9E-19DD-4FE0-8C3B-D8DC16FA5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34" y="775336"/>
            <a:ext cx="5761914" cy="3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23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55632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MOSFET: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C9EC90-9D48-40E9-B467-67A9ADC1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182" y="249538"/>
            <a:ext cx="3873636" cy="4657726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74BB0353-E5B6-459F-9A4B-4F35227832EC}"/>
              </a:ext>
            </a:extLst>
          </p:cNvPr>
          <p:cNvSpPr txBox="1">
            <a:spLocks/>
          </p:cNvSpPr>
          <p:nvPr/>
        </p:nvSpPr>
        <p:spPr>
          <a:xfrm>
            <a:off x="6508818" y="236236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3441902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55632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MOSFET:</a:t>
            </a:r>
            <a:endParaRPr sz="2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74BB0353-E5B6-459F-9A4B-4F35227832EC}"/>
              </a:ext>
            </a:extLst>
          </p:cNvPr>
          <p:cNvSpPr txBox="1">
            <a:spLocks/>
          </p:cNvSpPr>
          <p:nvPr/>
        </p:nvSpPr>
        <p:spPr>
          <a:xfrm>
            <a:off x="7282862" y="822838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48E3F7-E20A-4896-99D9-F24F80BA9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138" y="822838"/>
            <a:ext cx="5421724" cy="399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89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177079" y="249538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CAN/DE-9:</a:t>
            </a:r>
            <a:endParaRPr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0AC84B-3D01-4475-B6CA-8EC104DAD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1" y="1163993"/>
            <a:ext cx="4586280" cy="32753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1CE629-868F-4508-AC9B-C135D4996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025" y="299545"/>
            <a:ext cx="2371724" cy="2158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4748F8-565A-4180-B370-8680593BA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025" y="2936081"/>
            <a:ext cx="2409562" cy="18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7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205651" y="256682"/>
            <a:ext cx="30304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BOTONERA:</a:t>
            </a:r>
            <a:endParaRPr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36D20F-DFF0-4843-B29F-14971B02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04" y="256682"/>
            <a:ext cx="3328602" cy="463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7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91388" y="242394"/>
            <a:ext cx="37162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MICROCONTROLADOR:</a:t>
            </a:r>
            <a:endParaRPr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FB6DA6-0A30-4338-979E-19C6DA0AB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3" y="647544"/>
            <a:ext cx="5972174" cy="4253562"/>
          </a:xfrm>
          <a:prstGeom prst="rect">
            <a:avLst/>
          </a:prstGeom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C9BF6A56-8FBA-46E6-B63C-3C3BBE476509}"/>
              </a:ext>
            </a:extLst>
          </p:cNvPr>
          <p:cNvSpPr txBox="1">
            <a:spLocks/>
          </p:cNvSpPr>
          <p:nvPr/>
        </p:nvSpPr>
        <p:spPr>
          <a:xfrm>
            <a:off x="7558087" y="647544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V.2</a:t>
            </a:r>
          </a:p>
        </p:txBody>
      </p:sp>
    </p:spTree>
    <p:extLst>
      <p:ext uri="{BB962C8B-B14F-4D97-AF65-F5344CB8AC3E}">
        <p14:creationId xmlns:p14="http://schemas.microsoft.com/office/powerpoint/2010/main" val="3554036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 txBox="1">
            <a:spLocks noGrp="1"/>
          </p:cNvSpPr>
          <p:nvPr>
            <p:ph type="title"/>
          </p:nvPr>
        </p:nvSpPr>
        <p:spPr>
          <a:xfrm>
            <a:off x="391388" y="242394"/>
            <a:ext cx="3716269" cy="573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MICROCONTROLADOR:</a:t>
            </a:r>
            <a:endParaRPr sz="20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C9BF6A56-8FBA-46E6-B63C-3C3BBE476509}"/>
              </a:ext>
            </a:extLst>
          </p:cNvPr>
          <p:cNvSpPr txBox="1">
            <a:spLocks/>
          </p:cNvSpPr>
          <p:nvPr/>
        </p:nvSpPr>
        <p:spPr>
          <a:xfrm>
            <a:off x="7558087" y="647544"/>
            <a:ext cx="1064555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 Black"/>
              <a:buNone/>
              <a:defRPr sz="32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ca-ES" dirty="0"/>
              <a:t>V.3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4C2009-E841-40EB-8697-881D36E6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29" y="815694"/>
            <a:ext cx="6237058" cy="402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82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ea typeface="Raleway ExtraBold"/>
                <a:cs typeface="Raleway ExtraBold"/>
                <a:sym typeface="Raleway ExtraBold"/>
              </a:rPr>
              <a:t>SIMULACIONS LTSPICE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EB1D0B-6591-4B80-ABB2-47B0B4580E67}"/>
              </a:ext>
            </a:extLst>
          </p:cNvPr>
          <p:cNvSpPr txBox="1"/>
          <p:nvPr/>
        </p:nvSpPr>
        <p:spPr>
          <a:xfrm>
            <a:off x="934402" y="628888"/>
            <a:ext cx="7275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 particular, s’ha simulat el regulador de tensió (LM1117) amb diferents condicions de càrrega per comprovar la seva capacitat de mantenir una tensió estable de 3.3V davant variacions de corrent: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CC8359-3A57-4C6A-8776-1E41AC5C0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7" y="2367356"/>
            <a:ext cx="2704824" cy="15544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D29F18-0AC0-44C8-AF62-CBCB5C015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34" y="2228858"/>
            <a:ext cx="4684394" cy="1831492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9BC2DB1-E760-44DB-80EE-A7BA556131FC}"/>
              </a:ext>
            </a:extLst>
          </p:cNvPr>
          <p:cNvCxnSpPr/>
          <p:nvPr/>
        </p:nvCxnSpPr>
        <p:spPr>
          <a:xfrm>
            <a:off x="3139440" y="3144604"/>
            <a:ext cx="624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EE2214-C068-4C2D-AF68-F25125CD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7531"/>
            <a:ext cx="3078480" cy="2743322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3E2A557-2FFB-43BF-BB4A-D0D9038B9A42}"/>
              </a:ext>
            </a:extLst>
          </p:cNvPr>
          <p:cNvCxnSpPr>
            <a:cxnSpLocks/>
          </p:cNvCxnSpPr>
          <p:nvPr/>
        </p:nvCxnSpPr>
        <p:spPr>
          <a:xfrm>
            <a:off x="4046220" y="3679192"/>
            <a:ext cx="77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9FC9BE51-856F-452D-B9C3-EA32D8D87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946" y="2307531"/>
            <a:ext cx="3006314" cy="27433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DD21B4E-AC4B-49E2-A5B2-DEC63AEA6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380" y="290939"/>
            <a:ext cx="4312920" cy="168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aleway ExtraBold"/>
                <a:sym typeface="Raleway ExtraBold"/>
              </a:rPr>
              <a:t>LAYOUT I PCB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4892162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4F608B5-CF62-4CD2-A4B7-0BD365E2A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097DB7-2E1A-4B74-840D-C035321B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65158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6578259" y="2582250"/>
            <a:ext cx="1482828" cy="776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Raleway ExtraBold"/>
                <a:sym typeface="Raleway ExtraBold"/>
              </a:rPr>
              <a:t>BOM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293292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/>
          <p:nvPr/>
        </p:nvSpPr>
        <p:spPr>
          <a:xfrm>
            <a:off x="0" y="-13200"/>
            <a:ext cx="3229200" cy="43281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78"/>
          <p:cNvSpPr/>
          <p:nvPr/>
        </p:nvSpPr>
        <p:spPr>
          <a:xfrm flipH="1">
            <a:off x="2705" y="4314888"/>
            <a:ext cx="3229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6423273" y="611206"/>
            <a:ext cx="1792800" cy="1792800"/>
          </a:xfrm>
          <a:prstGeom prst="roundRect">
            <a:avLst>
              <a:gd name="adj" fmla="val 3157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78"/>
          <p:cNvSpPr txBox="1">
            <a:spLocks noGrp="1"/>
          </p:cNvSpPr>
          <p:nvPr>
            <p:ph type="title"/>
          </p:nvPr>
        </p:nvSpPr>
        <p:spPr>
          <a:xfrm>
            <a:off x="3892916" y="2582250"/>
            <a:ext cx="4462200" cy="14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Raleway ExtraBold"/>
                <a:sym typeface="Raleway ExtraBold"/>
              </a:rPr>
              <a:t>RESOURCES</a:t>
            </a:r>
            <a:endParaRPr dirty="0"/>
          </a:p>
        </p:txBody>
      </p:sp>
      <p:sp>
        <p:nvSpPr>
          <p:cNvPr id="1644" name="Google Shape;1644;p78"/>
          <p:cNvSpPr txBox="1">
            <a:spLocks noGrp="1"/>
          </p:cNvSpPr>
          <p:nvPr>
            <p:ph type="title" idx="2"/>
          </p:nvPr>
        </p:nvSpPr>
        <p:spPr>
          <a:xfrm>
            <a:off x="6284223" y="639775"/>
            <a:ext cx="20709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1646" name="Google Shape;1646;p78"/>
          <p:cNvGrpSpPr/>
          <p:nvPr/>
        </p:nvGrpSpPr>
        <p:grpSpPr>
          <a:xfrm>
            <a:off x="843217" y="4508416"/>
            <a:ext cx="1548175" cy="454743"/>
            <a:chOff x="715088" y="4521623"/>
            <a:chExt cx="1548175" cy="454743"/>
          </a:xfrm>
        </p:grpSpPr>
        <p:sp>
          <p:nvSpPr>
            <p:cNvPr id="1647" name="Google Shape;1647;p78"/>
            <p:cNvSpPr/>
            <p:nvPr/>
          </p:nvSpPr>
          <p:spPr>
            <a:xfrm>
              <a:off x="1375490" y="4521623"/>
              <a:ext cx="887773" cy="454743"/>
            </a:xfrm>
            <a:custGeom>
              <a:avLst/>
              <a:gdLst/>
              <a:ahLst/>
              <a:cxnLst/>
              <a:rect l="l" t="t" r="r" b="b"/>
              <a:pathLst>
                <a:path w="20863" h="10686" extrusionOk="0">
                  <a:moveTo>
                    <a:pt x="5343" y="1"/>
                  </a:moveTo>
                  <a:cubicBezTo>
                    <a:pt x="2383" y="1"/>
                    <a:pt x="0" y="2383"/>
                    <a:pt x="0" y="5343"/>
                  </a:cubicBezTo>
                  <a:cubicBezTo>
                    <a:pt x="0" y="8303"/>
                    <a:pt x="2383" y="10686"/>
                    <a:pt x="5343" y="10686"/>
                  </a:cubicBezTo>
                  <a:lnTo>
                    <a:pt x="15519" y="10686"/>
                  </a:lnTo>
                  <a:cubicBezTo>
                    <a:pt x="18479" y="10686"/>
                    <a:pt x="20862" y="8303"/>
                    <a:pt x="20862" y="5343"/>
                  </a:cubicBezTo>
                  <a:cubicBezTo>
                    <a:pt x="20862" y="2383"/>
                    <a:pt x="18479" y="1"/>
                    <a:pt x="15519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8"/>
            <p:cNvSpPr/>
            <p:nvPr/>
          </p:nvSpPr>
          <p:spPr>
            <a:xfrm>
              <a:off x="1855078" y="4572646"/>
              <a:ext cx="352718" cy="352696"/>
            </a:xfrm>
            <a:custGeom>
              <a:avLst/>
              <a:gdLst/>
              <a:ahLst/>
              <a:cxnLst/>
              <a:rect l="l" t="t" r="r" b="b"/>
              <a:pathLst>
                <a:path w="8289" h="8288" extrusionOk="0">
                  <a:moveTo>
                    <a:pt x="4145" y="1"/>
                  </a:moveTo>
                  <a:cubicBezTo>
                    <a:pt x="1856" y="1"/>
                    <a:pt x="0" y="1856"/>
                    <a:pt x="0" y="4144"/>
                  </a:cubicBezTo>
                  <a:cubicBezTo>
                    <a:pt x="0" y="6432"/>
                    <a:pt x="1856" y="8288"/>
                    <a:pt x="4145" y="8288"/>
                  </a:cubicBezTo>
                  <a:cubicBezTo>
                    <a:pt x="6433" y="8288"/>
                    <a:pt x="8289" y="6432"/>
                    <a:pt x="8289" y="4144"/>
                  </a:cubicBezTo>
                  <a:cubicBezTo>
                    <a:pt x="8289" y="1856"/>
                    <a:pt x="6433" y="1"/>
                    <a:pt x="4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8"/>
            <p:cNvSpPr/>
            <p:nvPr/>
          </p:nvSpPr>
          <p:spPr>
            <a:xfrm>
              <a:off x="715088" y="4705672"/>
              <a:ext cx="86679" cy="86685"/>
            </a:xfrm>
            <a:custGeom>
              <a:avLst/>
              <a:gdLst/>
              <a:ahLst/>
              <a:cxnLst/>
              <a:rect l="l" t="t" r="r" b="b"/>
              <a:pathLst>
                <a:path w="2037" h="2037" extrusionOk="0">
                  <a:moveTo>
                    <a:pt x="1019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9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8"/>
            <p:cNvSpPr/>
            <p:nvPr/>
          </p:nvSpPr>
          <p:spPr>
            <a:xfrm>
              <a:off x="931647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5" y="0"/>
                    <a:pt x="0" y="456"/>
                    <a:pt x="0" y="1018"/>
                  </a:cubicBezTo>
                  <a:cubicBezTo>
                    <a:pt x="0" y="1580"/>
                    <a:pt x="455" y="2036"/>
                    <a:pt x="1018" y="2036"/>
                  </a:cubicBezTo>
                  <a:cubicBezTo>
                    <a:pt x="1580" y="2036"/>
                    <a:pt x="2035" y="1580"/>
                    <a:pt x="2035" y="1018"/>
                  </a:cubicBezTo>
                  <a:cubicBezTo>
                    <a:pt x="2035" y="456"/>
                    <a:pt x="1580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8"/>
            <p:cNvSpPr/>
            <p:nvPr/>
          </p:nvSpPr>
          <p:spPr>
            <a:xfrm>
              <a:off x="1148164" y="4705672"/>
              <a:ext cx="86637" cy="86685"/>
            </a:xfrm>
            <a:custGeom>
              <a:avLst/>
              <a:gdLst/>
              <a:ahLst/>
              <a:cxnLst/>
              <a:rect l="l" t="t" r="r" b="b"/>
              <a:pathLst>
                <a:path w="2036" h="2037" extrusionOk="0">
                  <a:moveTo>
                    <a:pt x="1018" y="0"/>
                  </a:moveTo>
                  <a:cubicBezTo>
                    <a:pt x="456" y="0"/>
                    <a:pt x="1" y="456"/>
                    <a:pt x="1" y="1018"/>
                  </a:cubicBezTo>
                  <a:cubicBezTo>
                    <a:pt x="1" y="1580"/>
                    <a:pt x="456" y="2036"/>
                    <a:pt x="1018" y="2036"/>
                  </a:cubicBezTo>
                  <a:cubicBezTo>
                    <a:pt x="1581" y="2036"/>
                    <a:pt x="2036" y="1580"/>
                    <a:pt x="2036" y="1018"/>
                  </a:cubicBezTo>
                  <a:cubicBezTo>
                    <a:pt x="2036" y="456"/>
                    <a:pt x="1581" y="0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78"/>
          <p:cNvGrpSpPr/>
          <p:nvPr/>
        </p:nvGrpSpPr>
        <p:grpSpPr>
          <a:xfrm>
            <a:off x="679228" y="466972"/>
            <a:ext cx="1870728" cy="3367742"/>
            <a:chOff x="6679763" y="256500"/>
            <a:chExt cx="1699272" cy="3059081"/>
          </a:xfrm>
        </p:grpSpPr>
        <p:sp>
          <p:nvSpPr>
            <p:cNvPr id="1653" name="Google Shape;1653;p78"/>
            <p:cNvSpPr/>
            <p:nvPr/>
          </p:nvSpPr>
          <p:spPr>
            <a:xfrm>
              <a:off x="6958622" y="526493"/>
              <a:ext cx="1141493" cy="2510824"/>
            </a:xfrm>
            <a:custGeom>
              <a:avLst/>
              <a:gdLst/>
              <a:ahLst/>
              <a:cxnLst/>
              <a:rect l="l" t="t" r="r" b="b"/>
              <a:pathLst>
                <a:path w="25747" h="56633" extrusionOk="0">
                  <a:moveTo>
                    <a:pt x="12875" y="1"/>
                  </a:moveTo>
                  <a:cubicBezTo>
                    <a:pt x="5764" y="1"/>
                    <a:pt x="1" y="6424"/>
                    <a:pt x="1" y="14347"/>
                  </a:cubicBezTo>
                  <a:cubicBezTo>
                    <a:pt x="1" y="21142"/>
                    <a:pt x="4241" y="26835"/>
                    <a:pt x="9935" y="28316"/>
                  </a:cubicBezTo>
                  <a:cubicBezTo>
                    <a:pt x="4241" y="29798"/>
                    <a:pt x="1" y="35489"/>
                    <a:pt x="1" y="42286"/>
                  </a:cubicBezTo>
                  <a:cubicBezTo>
                    <a:pt x="1" y="50209"/>
                    <a:pt x="5764" y="56632"/>
                    <a:pt x="12875" y="56632"/>
                  </a:cubicBezTo>
                  <a:cubicBezTo>
                    <a:pt x="19984" y="56632"/>
                    <a:pt x="25747" y="50209"/>
                    <a:pt x="25747" y="42286"/>
                  </a:cubicBezTo>
                  <a:cubicBezTo>
                    <a:pt x="25747" y="35489"/>
                    <a:pt x="21507" y="29798"/>
                    <a:pt x="15813" y="28316"/>
                  </a:cubicBezTo>
                  <a:cubicBezTo>
                    <a:pt x="21507" y="26835"/>
                    <a:pt x="25747" y="21142"/>
                    <a:pt x="25747" y="14347"/>
                  </a:cubicBezTo>
                  <a:cubicBezTo>
                    <a:pt x="25747" y="6424"/>
                    <a:pt x="19984" y="1"/>
                    <a:pt x="12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8"/>
            <p:cNvSpPr/>
            <p:nvPr/>
          </p:nvSpPr>
          <p:spPr>
            <a:xfrm>
              <a:off x="6861309" y="391984"/>
              <a:ext cx="194631" cy="194631"/>
            </a:xfrm>
            <a:custGeom>
              <a:avLst/>
              <a:gdLst/>
              <a:ahLst/>
              <a:cxnLst/>
              <a:rect l="l" t="t" r="r" b="b"/>
              <a:pathLst>
                <a:path w="4390" h="4390" extrusionOk="0">
                  <a:moveTo>
                    <a:pt x="2196" y="0"/>
                  </a:moveTo>
                  <a:cubicBezTo>
                    <a:pt x="984" y="0"/>
                    <a:pt x="1" y="983"/>
                    <a:pt x="1" y="2195"/>
                  </a:cubicBezTo>
                  <a:cubicBezTo>
                    <a:pt x="1" y="3407"/>
                    <a:pt x="984" y="4389"/>
                    <a:pt x="2196" y="4389"/>
                  </a:cubicBezTo>
                  <a:cubicBezTo>
                    <a:pt x="3407" y="4389"/>
                    <a:pt x="4390" y="3407"/>
                    <a:pt x="4390" y="2195"/>
                  </a:cubicBezTo>
                  <a:cubicBezTo>
                    <a:pt x="4390" y="983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8"/>
            <p:cNvSpPr/>
            <p:nvPr/>
          </p:nvSpPr>
          <p:spPr>
            <a:xfrm>
              <a:off x="6861309" y="2985510"/>
              <a:ext cx="194631" cy="194586"/>
            </a:xfrm>
            <a:custGeom>
              <a:avLst/>
              <a:gdLst/>
              <a:ahLst/>
              <a:cxnLst/>
              <a:rect l="l" t="t" r="r" b="b"/>
              <a:pathLst>
                <a:path w="4390" h="4389" extrusionOk="0">
                  <a:moveTo>
                    <a:pt x="2196" y="0"/>
                  </a:moveTo>
                  <a:cubicBezTo>
                    <a:pt x="984" y="0"/>
                    <a:pt x="1" y="982"/>
                    <a:pt x="1" y="2194"/>
                  </a:cubicBezTo>
                  <a:cubicBezTo>
                    <a:pt x="1" y="3407"/>
                    <a:pt x="984" y="4388"/>
                    <a:pt x="2196" y="4388"/>
                  </a:cubicBezTo>
                  <a:cubicBezTo>
                    <a:pt x="3407" y="4388"/>
                    <a:pt x="4390" y="3407"/>
                    <a:pt x="4390" y="2194"/>
                  </a:cubicBezTo>
                  <a:cubicBezTo>
                    <a:pt x="4390" y="982"/>
                    <a:pt x="3407" y="0"/>
                    <a:pt x="2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8"/>
            <p:cNvSpPr/>
            <p:nvPr/>
          </p:nvSpPr>
          <p:spPr>
            <a:xfrm>
              <a:off x="6928697" y="489297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1" y="0"/>
                  </a:moveTo>
                  <a:lnTo>
                    <a:pt x="1" y="58311"/>
                  </a:lnTo>
                  <a:lnTo>
                    <a:pt x="1350" y="58311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8"/>
            <p:cNvSpPr/>
            <p:nvPr/>
          </p:nvSpPr>
          <p:spPr>
            <a:xfrm>
              <a:off x="7152449" y="416279"/>
              <a:ext cx="753872" cy="170335"/>
            </a:xfrm>
            <a:custGeom>
              <a:avLst/>
              <a:gdLst/>
              <a:ahLst/>
              <a:cxnLst/>
              <a:rect l="l" t="t" r="r" b="b"/>
              <a:pathLst>
                <a:path w="17004" h="3842" extrusionOk="0">
                  <a:moveTo>
                    <a:pt x="0" y="1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8"/>
            <p:cNvSpPr/>
            <p:nvPr/>
          </p:nvSpPr>
          <p:spPr>
            <a:xfrm>
              <a:off x="6679763" y="256500"/>
              <a:ext cx="1699272" cy="214094"/>
            </a:xfrm>
            <a:custGeom>
              <a:avLst/>
              <a:gdLst/>
              <a:ahLst/>
              <a:cxnLst/>
              <a:rect l="l" t="t" r="r" b="b"/>
              <a:pathLst>
                <a:path w="38328" h="4829" extrusionOk="0">
                  <a:moveTo>
                    <a:pt x="0" y="1"/>
                  </a:moveTo>
                  <a:lnTo>
                    <a:pt x="2341" y="4828"/>
                  </a:lnTo>
                  <a:lnTo>
                    <a:pt x="35987" y="4828"/>
                  </a:lnTo>
                  <a:lnTo>
                    <a:pt x="38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8002815" y="2985510"/>
              <a:ext cx="194586" cy="194586"/>
            </a:xfrm>
            <a:custGeom>
              <a:avLst/>
              <a:gdLst/>
              <a:ahLst/>
              <a:cxnLst/>
              <a:rect l="l" t="t" r="r" b="b"/>
              <a:pathLst>
                <a:path w="4389" h="4389" extrusionOk="0">
                  <a:moveTo>
                    <a:pt x="2194" y="0"/>
                  </a:moveTo>
                  <a:cubicBezTo>
                    <a:pt x="983" y="0"/>
                    <a:pt x="0" y="982"/>
                    <a:pt x="0" y="2194"/>
                  </a:cubicBezTo>
                  <a:cubicBezTo>
                    <a:pt x="0" y="3407"/>
                    <a:pt x="983" y="4388"/>
                    <a:pt x="2194" y="4388"/>
                  </a:cubicBezTo>
                  <a:cubicBezTo>
                    <a:pt x="3406" y="4388"/>
                    <a:pt x="4389" y="3407"/>
                    <a:pt x="4389" y="2194"/>
                  </a:cubicBezTo>
                  <a:cubicBezTo>
                    <a:pt x="4389" y="982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8002815" y="409895"/>
              <a:ext cx="194586" cy="194631"/>
            </a:xfrm>
            <a:custGeom>
              <a:avLst/>
              <a:gdLst/>
              <a:ahLst/>
              <a:cxnLst/>
              <a:rect l="l" t="t" r="r" b="b"/>
              <a:pathLst>
                <a:path w="4389" h="4390" extrusionOk="0">
                  <a:moveTo>
                    <a:pt x="2194" y="0"/>
                  </a:moveTo>
                  <a:cubicBezTo>
                    <a:pt x="983" y="0"/>
                    <a:pt x="0" y="983"/>
                    <a:pt x="0" y="2194"/>
                  </a:cubicBezTo>
                  <a:cubicBezTo>
                    <a:pt x="0" y="3407"/>
                    <a:pt x="983" y="4389"/>
                    <a:pt x="2194" y="4389"/>
                  </a:cubicBezTo>
                  <a:cubicBezTo>
                    <a:pt x="3406" y="4389"/>
                    <a:pt x="4389" y="3407"/>
                    <a:pt x="4389" y="2194"/>
                  </a:cubicBezTo>
                  <a:cubicBezTo>
                    <a:pt x="4389" y="983"/>
                    <a:pt x="3406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8070203" y="497676"/>
              <a:ext cx="59852" cy="2585218"/>
            </a:xfrm>
            <a:custGeom>
              <a:avLst/>
              <a:gdLst/>
              <a:ahLst/>
              <a:cxnLst/>
              <a:rect l="l" t="t" r="r" b="b"/>
              <a:pathLst>
                <a:path w="1350" h="58311" extrusionOk="0">
                  <a:moveTo>
                    <a:pt x="0" y="0"/>
                  </a:moveTo>
                  <a:lnTo>
                    <a:pt x="0" y="58310"/>
                  </a:lnTo>
                  <a:lnTo>
                    <a:pt x="1349" y="58310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7152449" y="2985510"/>
              <a:ext cx="753872" cy="170291"/>
            </a:xfrm>
            <a:custGeom>
              <a:avLst/>
              <a:gdLst/>
              <a:ahLst/>
              <a:cxnLst/>
              <a:rect l="l" t="t" r="r" b="b"/>
              <a:pathLst>
                <a:path w="17004" h="3841" extrusionOk="0">
                  <a:moveTo>
                    <a:pt x="0" y="0"/>
                  </a:moveTo>
                  <a:lnTo>
                    <a:pt x="0" y="3841"/>
                  </a:lnTo>
                  <a:lnTo>
                    <a:pt x="17004" y="3841"/>
                  </a:lnTo>
                  <a:lnTo>
                    <a:pt x="170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6679763" y="3101532"/>
              <a:ext cx="1699272" cy="214049"/>
            </a:xfrm>
            <a:custGeom>
              <a:avLst/>
              <a:gdLst/>
              <a:ahLst/>
              <a:cxnLst/>
              <a:rect l="l" t="t" r="r" b="b"/>
              <a:pathLst>
                <a:path w="38328" h="4828" extrusionOk="0">
                  <a:moveTo>
                    <a:pt x="2341" y="0"/>
                  </a:moveTo>
                  <a:lnTo>
                    <a:pt x="0" y="4828"/>
                  </a:lnTo>
                  <a:lnTo>
                    <a:pt x="38328" y="4828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7495105" y="2737463"/>
              <a:ext cx="68542" cy="247966"/>
            </a:xfrm>
            <a:custGeom>
              <a:avLst/>
              <a:gdLst/>
              <a:ahLst/>
              <a:cxnLst/>
              <a:rect l="l" t="t" r="r" b="b"/>
              <a:pathLst>
                <a:path w="1546" h="5593" extrusionOk="0">
                  <a:moveTo>
                    <a:pt x="1" y="1"/>
                  </a:moveTo>
                  <a:lnTo>
                    <a:pt x="1" y="5592"/>
                  </a:lnTo>
                  <a:lnTo>
                    <a:pt x="1545" y="5592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78"/>
            <p:cNvSpPr/>
            <p:nvPr/>
          </p:nvSpPr>
          <p:spPr>
            <a:xfrm>
              <a:off x="7430422" y="2441490"/>
              <a:ext cx="197911" cy="441399"/>
            </a:xfrm>
            <a:custGeom>
              <a:avLst/>
              <a:gdLst/>
              <a:ahLst/>
              <a:cxnLst/>
              <a:rect l="l" t="t" r="r" b="b"/>
              <a:pathLst>
                <a:path w="4464" h="9956" extrusionOk="0">
                  <a:moveTo>
                    <a:pt x="1506" y="1"/>
                  </a:moveTo>
                  <a:cubicBezTo>
                    <a:pt x="676" y="1"/>
                    <a:pt x="1" y="675"/>
                    <a:pt x="1" y="1506"/>
                  </a:cubicBezTo>
                  <a:lnTo>
                    <a:pt x="1" y="8450"/>
                  </a:lnTo>
                  <a:cubicBezTo>
                    <a:pt x="1" y="9280"/>
                    <a:pt x="676" y="9955"/>
                    <a:pt x="1506" y="9955"/>
                  </a:cubicBezTo>
                  <a:lnTo>
                    <a:pt x="2958" y="9955"/>
                  </a:lnTo>
                  <a:cubicBezTo>
                    <a:pt x="3788" y="9955"/>
                    <a:pt x="4463" y="9280"/>
                    <a:pt x="4463" y="8450"/>
                  </a:cubicBezTo>
                  <a:lnTo>
                    <a:pt x="4463" y="1506"/>
                  </a:lnTo>
                  <a:cubicBezTo>
                    <a:pt x="4463" y="675"/>
                    <a:pt x="3788" y="1"/>
                    <a:pt x="29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78"/>
            <p:cNvSpPr/>
            <p:nvPr/>
          </p:nvSpPr>
          <p:spPr>
            <a:xfrm>
              <a:off x="7376955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78"/>
            <p:cNvSpPr/>
            <p:nvPr/>
          </p:nvSpPr>
          <p:spPr>
            <a:xfrm>
              <a:off x="7574773" y="1970533"/>
              <a:ext cx="107025" cy="505995"/>
            </a:xfrm>
            <a:custGeom>
              <a:avLst/>
              <a:gdLst/>
              <a:ahLst/>
              <a:cxnLst/>
              <a:rect l="l" t="t" r="r" b="b"/>
              <a:pathLst>
                <a:path w="2414" h="11413" extrusionOk="0">
                  <a:moveTo>
                    <a:pt x="1207" y="1"/>
                  </a:moveTo>
                  <a:cubicBezTo>
                    <a:pt x="541" y="1"/>
                    <a:pt x="0" y="541"/>
                    <a:pt x="0" y="1208"/>
                  </a:cubicBezTo>
                  <a:lnTo>
                    <a:pt x="0" y="10205"/>
                  </a:lnTo>
                  <a:cubicBezTo>
                    <a:pt x="0" y="10871"/>
                    <a:pt x="541" y="11412"/>
                    <a:pt x="1207" y="11412"/>
                  </a:cubicBezTo>
                  <a:cubicBezTo>
                    <a:pt x="1873" y="11412"/>
                    <a:pt x="2414" y="10871"/>
                    <a:pt x="2414" y="10205"/>
                  </a:cubicBezTo>
                  <a:lnTo>
                    <a:pt x="2414" y="1208"/>
                  </a:lnTo>
                  <a:cubicBezTo>
                    <a:pt x="2414" y="540"/>
                    <a:pt x="1873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78"/>
            <p:cNvSpPr/>
            <p:nvPr/>
          </p:nvSpPr>
          <p:spPr>
            <a:xfrm>
              <a:off x="7251092" y="2248284"/>
              <a:ext cx="556582" cy="386468"/>
            </a:xfrm>
            <a:custGeom>
              <a:avLst/>
              <a:gdLst/>
              <a:ahLst/>
              <a:cxnLst/>
              <a:rect l="l" t="t" r="r" b="b"/>
              <a:pathLst>
                <a:path w="12554" h="8717" extrusionOk="0">
                  <a:moveTo>
                    <a:pt x="0" y="1"/>
                  </a:moveTo>
                  <a:lnTo>
                    <a:pt x="0" y="6318"/>
                  </a:lnTo>
                  <a:cubicBezTo>
                    <a:pt x="0" y="7643"/>
                    <a:pt x="1074" y="8717"/>
                    <a:pt x="2398" y="8717"/>
                  </a:cubicBezTo>
                  <a:lnTo>
                    <a:pt x="10156" y="8717"/>
                  </a:lnTo>
                  <a:cubicBezTo>
                    <a:pt x="11480" y="8717"/>
                    <a:pt x="12554" y="7643"/>
                    <a:pt x="12554" y="6318"/>
                  </a:cubicBezTo>
                  <a:lnTo>
                    <a:pt x="125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78"/>
            <p:cNvSpPr/>
            <p:nvPr/>
          </p:nvSpPr>
          <p:spPr>
            <a:xfrm>
              <a:off x="7473293" y="2369847"/>
              <a:ext cx="112168" cy="163640"/>
            </a:xfrm>
            <a:custGeom>
              <a:avLst/>
              <a:gdLst/>
              <a:ahLst/>
              <a:cxnLst/>
              <a:rect l="l" t="t" r="r" b="b"/>
              <a:pathLst>
                <a:path w="2530" h="3691" extrusionOk="0">
                  <a:moveTo>
                    <a:pt x="732" y="0"/>
                  </a:moveTo>
                  <a:lnTo>
                    <a:pt x="1" y="2103"/>
                  </a:lnTo>
                  <a:lnTo>
                    <a:pt x="994" y="2103"/>
                  </a:lnTo>
                  <a:lnTo>
                    <a:pt x="732" y="3691"/>
                  </a:lnTo>
                  <a:lnTo>
                    <a:pt x="2529" y="1518"/>
                  </a:lnTo>
                  <a:lnTo>
                    <a:pt x="1368" y="151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78"/>
            <p:cNvSpPr/>
            <p:nvPr/>
          </p:nvSpPr>
          <p:spPr>
            <a:xfrm>
              <a:off x="7473603" y="962471"/>
              <a:ext cx="106271" cy="596660"/>
            </a:xfrm>
            <a:custGeom>
              <a:avLst/>
              <a:gdLst/>
              <a:ahLst/>
              <a:cxnLst/>
              <a:rect l="l" t="t" r="r" b="b"/>
              <a:pathLst>
                <a:path w="2397" h="13458" extrusionOk="0">
                  <a:moveTo>
                    <a:pt x="1" y="0"/>
                  </a:moveTo>
                  <a:lnTo>
                    <a:pt x="1" y="13458"/>
                  </a:lnTo>
                  <a:lnTo>
                    <a:pt x="2397" y="13458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8"/>
            <p:cNvSpPr/>
            <p:nvPr/>
          </p:nvSpPr>
          <p:spPr>
            <a:xfrm>
              <a:off x="7351242" y="831819"/>
              <a:ext cx="350956" cy="209261"/>
            </a:xfrm>
            <a:custGeom>
              <a:avLst/>
              <a:gdLst/>
              <a:ahLst/>
              <a:cxnLst/>
              <a:rect l="l" t="t" r="r" b="b"/>
              <a:pathLst>
                <a:path w="7916" h="4720" extrusionOk="0">
                  <a:moveTo>
                    <a:pt x="3959" y="1"/>
                  </a:moveTo>
                  <a:lnTo>
                    <a:pt x="0" y="4719"/>
                  </a:lnTo>
                  <a:lnTo>
                    <a:pt x="7916" y="4719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78"/>
          <p:cNvGrpSpPr/>
          <p:nvPr/>
        </p:nvGrpSpPr>
        <p:grpSpPr>
          <a:xfrm rot="10800000">
            <a:off x="4794134" y="-73"/>
            <a:ext cx="753870" cy="1800196"/>
            <a:chOff x="5088650" y="245050"/>
            <a:chExt cx="1046025" cy="2497843"/>
          </a:xfrm>
        </p:grpSpPr>
        <p:sp>
          <p:nvSpPr>
            <p:cNvPr id="1673" name="Google Shape;1673;p78"/>
            <p:cNvSpPr/>
            <p:nvPr/>
          </p:nvSpPr>
          <p:spPr>
            <a:xfrm>
              <a:off x="5547342" y="1157910"/>
              <a:ext cx="128662" cy="1584984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78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78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78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78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78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25862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9" name="Google Shape;2189;p94"/>
          <p:cNvGrpSpPr/>
          <p:nvPr/>
        </p:nvGrpSpPr>
        <p:grpSpPr>
          <a:xfrm rot="-5400000" flipH="1">
            <a:off x="7675663" y="1669168"/>
            <a:ext cx="753870" cy="1592276"/>
            <a:chOff x="5088650" y="245050"/>
            <a:chExt cx="1046025" cy="2209346"/>
          </a:xfrm>
        </p:grpSpPr>
        <p:sp>
          <p:nvSpPr>
            <p:cNvPr id="2190" name="Google Shape;2190;p94"/>
            <p:cNvSpPr/>
            <p:nvPr/>
          </p:nvSpPr>
          <p:spPr>
            <a:xfrm>
              <a:off x="5547343" y="1580787"/>
              <a:ext cx="128662" cy="873609"/>
            </a:xfrm>
            <a:custGeom>
              <a:avLst/>
              <a:gdLst/>
              <a:ahLst/>
              <a:cxnLst/>
              <a:rect l="l" t="t" r="r" b="b"/>
              <a:pathLst>
                <a:path w="5147" h="18637" extrusionOk="0">
                  <a:moveTo>
                    <a:pt x="0" y="0"/>
                  </a:moveTo>
                  <a:lnTo>
                    <a:pt x="0" y="18636"/>
                  </a:lnTo>
                  <a:lnTo>
                    <a:pt x="5147" y="18636"/>
                  </a:lnTo>
                  <a:lnTo>
                    <a:pt x="5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94"/>
            <p:cNvSpPr/>
            <p:nvPr/>
          </p:nvSpPr>
          <p:spPr>
            <a:xfrm>
              <a:off x="5425725" y="1130250"/>
              <a:ext cx="371850" cy="829500"/>
            </a:xfrm>
            <a:custGeom>
              <a:avLst/>
              <a:gdLst/>
              <a:ahLst/>
              <a:cxnLst/>
              <a:rect l="l" t="t" r="r" b="b"/>
              <a:pathLst>
                <a:path w="14874" h="33180" extrusionOk="0">
                  <a:moveTo>
                    <a:pt x="5020" y="0"/>
                  </a:moveTo>
                  <a:cubicBezTo>
                    <a:pt x="2250" y="0"/>
                    <a:pt x="0" y="2248"/>
                    <a:pt x="0" y="5019"/>
                  </a:cubicBezTo>
                  <a:lnTo>
                    <a:pt x="0" y="28161"/>
                  </a:lnTo>
                  <a:cubicBezTo>
                    <a:pt x="0" y="30931"/>
                    <a:pt x="2250" y="33179"/>
                    <a:pt x="5019" y="33179"/>
                  </a:cubicBezTo>
                  <a:lnTo>
                    <a:pt x="9855" y="33179"/>
                  </a:lnTo>
                  <a:cubicBezTo>
                    <a:pt x="12625" y="33179"/>
                    <a:pt x="14874" y="30931"/>
                    <a:pt x="14874" y="28161"/>
                  </a:cubicBezTo>
                  <a:lnTo>
                    <a:pt x="14874" y="5019"/>
                  </a:lnTo>
                  <a:cubicBezTo>
                    <a:pt x="14874" y="2250"/>
                    <a:pt x="12625" y="0"/>
                    <a:pt x="9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94"/>
            <p:cNvSpPr/>
            <p:nvPr/>
          </p:nvSpPr>
          <p:spPr>
            <a:xfrm>
              <a:off x="532515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2" y="1"/>
                    <a:pt x="1" y="1801"/>
                    <a:pt x="1" y="4024"/>
                  </a:cubicBezTo>
                  <a:lnTo>
                    <a:pt x="1" y="34014"/>
                  </a:lnTo>
                  <a:cubicBezTo>
                    <a:pt x="1" y="36235"/>
                    <a:pt x="1802" y="38036"/>
                    <a:pt x="4023" y="38036"/>
                  </a:cubicBezTo>
                  <a:cubicBezTo>
                    <a:pt x="6245" y="38036"/>
                    <a:pt x="8047" y="36235"/>
                    <a:pt x="8047" y="34014"/>
                  </a:cubicBezTo>
                  <a:lnTo>
                    <a:pt x="8047" y="4024"/>
                  </a:lnTo>
                  <a:cubicBezTo>
                    <a:pt x="8047" y="1801"/>
                    <a:pt x="6245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4"/>
            <p:cNvSpPr/>
            <p:nvPr/>
          </p:nvSpPr>
          <p:spPr>
            <a:xfrm>
              <a:off x="5697000" y="245050"/>
              <a:ext cx="201175" cy="950925"/>
            </a:xfrm>
            <a:custGeom>
              <a:avLst/>
              <a:gdLst/>
              <a:ahLst/>
              <a:cxnLst/>
              <a:rect l="l" t="t" r="r" b="b"/>
              <a:pathLst>
                <a:path w="8047" h="38037" fill="none" extrusionOk="0">
                  <a:moveTo>
                    <a:pt x="4023" y="1"/>
                  </a:moveTo>
                  <a:cubicBezTo>
                    <a:pt x="1801" y="1"/>
                    <a:pt x="0" y="1801"/>
                    <a:pt x="0" y="4024"/>
                  </a:cubicBezTo>
                  <a:lnTo>
                    <a:pt x="0" y="34014"/>
                  </a:lnTo>
                  <a:cubicBezTo>
                    <a:pt x="0" y="36235"/>
                    <a:pt x="1801" y="38036"/>
                    <a:pt x="4023" y="38036"/>
                  </a:cubicBezTo>
                  <a:cubicBezTo>
                    <a:pt x="6244" y="38036"/>
                    <a:pt x="8046" y="36235"/>
                    <a:pt x="8046" y="34014"/>
                  </a:cubicBezTo>
                  <a:lnTo>
                    <a:pt x="8046" y="4024"/>
                  </a:lnTo>
                  <a:cubicBezTo>
                    <a:pt x="8046" y="1801"/>
                    <a:pt x="6244" y="1"/>
                    <a:pt x="402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4"/>
            <p:cNvSpPr/>
            <p:nvPr/>
          </p:nvSpPr>
          <p:spPr>
            <a:xfrm>
              <a:off x="5088650" y="767125"/>
              <a:ext cx="1046025" cy="726250"/>
            </a:xfrm>
            <a:custGeom>
              <a:avLst/>
              <a:gdLst/>
              <a:ahLst/>
              <a:cxnLst/>
              <a:rect l="l" t="t" r="r" b="b"/>
              <a:pathLst>
                <a:path w="41841" h="29050" extrusionOk="0">
                  <a:moveTo>
                    <a:pt x="0" y="1"/>
                  </a:moveTo>
                  <a:lnTo>
                    <a:pt x="0" y="21058"/>
                  </a:lnTo>
                  <a:cubicBezTo>
                    <a:pt x="0" y="25472"/>
                    <a:pt x="3578" y="29050"/>
                    <a:pt x="7991" y="29050"/>
                  </a:cubicBezTo>
                  <a:lnTo>
                    <a:pt x="33849" y="29050"/>
                  </a:lnTo>
                  <a:cubicBezTo>
                    <a:pt x="38262" y="29050"/>
                    <a:pt x="41841" y="25472"/>
                    <a:pt x="41841" y="21058"/>
                  </a:cubicBezTo>
                  <a:lnTo>
                    <a:pt x="418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94"/>
            <p:cNvSpPr/>
            <p:nvPr/>
          </p:nvSpPr>
          <p:spPr>
            <a:xfrm rot="10800000">
              <a:off x="5505475" y="993700"/>
              <a:ext cx="212350" cy="309900"/>
            </a:xfrm>
            <a:custGeom>
              <a:avLst/>
              <a:gdLst/>
              <a:ahLst/>
              <a:cxnLst/>
              <a:rect l="l" t="t" r="r" b="b"/>
              <a:pathLst>
                <a:path w="8494" h="12396" extrusionOk="0">
                  <a:moveTo>
                    <a:pt x="2454" y="0"/>
                  </a:moveTo>
                  <a:lnTo>
                    <a:pt x="0" y="7061"/>
                  </a:lnTo>
                  <a:lnTo>
                    <a:pt x="3335" y="7061"/>
                  </a:lnTo>
                  <a:lnTo>
                    <a:pt x="2454" y="12395"/>
                  </a:lnTo>
                  <a:lnTo>
                    <a:pt x="8494" y="5096"/>
                  </a:lnTo>
                  <a:lnTo>
                    <a:pt x="4593" y="5096"/>
                  </a:lnTo>
                  <a:lnTo>
                    <a:pt x="6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7" name="Google Shape;2187;p94"/>
          <p:cNvSpPr txBox="1">
            <a:spLocks noGrp="1"/>
          </p:cNvSpPr>
          <p:nvPr>
            <p:ph type="body" idx="1"/>
          </p:nvPr>
        </p:nvSpPr>
        <p:spPr>
          <a:xfrm>
            <a:off x="720000" y="558165"/>
            <a:ext cx="653646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latin typeface="Raleway SemiBold"/>
                <a:ea typeface="Raleway SemiBold"/>
                <a:cs typeface="Raleway SemiBold"/>
                <a:sym typeface="Raleway SemiBold"/>
              </a:rPr>
              <a:t>Webgrafia:</a:t>
            </a:r>
            <a:endParaRPr sz="2400" dirty="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(2012). PIC24HJ128GP502 </a:t>
            </a:r>
            <a:r>
              <a:rPr lang="es-ES" sz="1200" dirty="0" err="1">
                <a:uFill>
                  <a:noFill/>
                </a:uFill>
              </a:rPr>
              <a:t>Family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High-Performance, 16-bit Digital </a:t>
            </a:r>
            <a:r>
              <a:rPr lang="es-ES" sz="1200" dirty="0" err="1">
                <a:uFill>
                  <a:noFill/>
                </a:uFill>
              </a:rPr>
              <a:t>Signal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Controllers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microchip.com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Microchip </a:t>
            </a:r>
            <a:r>
              <a:rPr lang="es-ES" sz="1200" b="1" dirty="0" err="1">
                <a:uFill>
                  <a:noFill/>
                </a:uFill>
              </a:rPr>
              <a:t>Technology</a:t>
            </a:r>
            <a:r>
              <a:rPr lang="es-ES" sz="1200" dirty="0">
                <a:uFill>
                  <a:noFill/>
                </a:uFill>
              </a:rPr>
              <a:t>. (2016). MCP2561/2 High-</a:t>
            </a:r>
            <a:r>
              <a:rPr lang="es-ES" sz="1200" dirty="0" err="1">
                <a:uFill>
                  <a:noFill/>
                </a:uFill>
              </a:rPr>
              <a:t>Speed</a:t>
            </a:r>
            <a:r>
              <a:rPr lang="es-ES" sz="1200" dirty="0">
                <a:uFill>
                  <a:noFill/>
                </a:uFill>
              </a:rPr>
              <a:t> CAN </a:t>
            </a:r>
            <a:r>
              <a:rPr lang="es-ES" sz="1200" dirty="0" err="1">
                <a:uFill>
                  <a:noFill/>
                </a:uFill>
              </a:rPr>
              <a:t>Transceiver</a:t>
            </a:r>
            <a:r>
              <a:rPr lang="es-ES" sz="1200" dirty="0">
                <a:uFill>
                  <a:noFill/>
                </a:uFill>
              </a:rPr>
              <a:t> Data </a:t>
            </a:r>
            <a:r>
              <a:rPr lang="es-ES" sz="1200" dirty="0" err="1">
                <a:uFill>
                  <a:noFill/>
                </a:uFill>
              </a:rPr>
              <a:t>Sheet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].Texas Instruments. (2020). LM1117 800-mA, Low-</a:t>
            </a:r>
            <a:r>
              <a:rPr lang="es-ES" sz="1200" dirty="0" err="1">
                <a:uFill>
                  <a:noFill/>
                </a:uFill>
              </a:rPr>
              <a:t>Dropout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Voltage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Regulator</a:t>
            </a:r>
            <a:r>
              <a:rPr lang="es-ES" sz="1200" dirty="0">
                <a:uFill>
                  <a:noFill/>
                </a:uFill>
              </a:rPr>
              <a:t>. [En </a:t>
            </a:r>
            <a:r>
              <a:rPr lang="es-ES" sz="1200" dirty="0" err="1">
                <a:uFill>
                  <a:noFill/>
                </a:uFill>
              </a:rPr>
              <a:t>línia</a:t>
            </a:r>
            <a:r>
              <a:rPr lang="es-ES" sz="1200" dirty="0">
                <a:uFill>
                  <a:noFill/>
                </a:uFill>
              </a:rPr>
              <a:t>]. Disponible a: ti.com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 err="1">
                <a:uFill>
                  <a:noFill/>
                </a:uFill>
              </a:rPr>
              <a:t>Infineon</a:t>
            </a:r>
            <a:r>
              <a:rPr lang="es-ES" sz="1200" b="1" dirty="0">
                <a:uFill>
                  <a:noFill/>
                </a:uFill>
              </a:rPr>
              <a:t> Technologies</a:t>
            </a:r>
            <a:r>
              <a:rPr lang="es-ES" sz="1200" dirty="0">
                <a:uFill>
                  <a:noFill/>
                </a:uFill>
              </a:rPr>
              <a:t>. (2023). Automotive </a:t>
            </a:r>
            <a:r>
              <a:rPr lang="es-ES" sz="1200" dirty="0" err="1">
                <a:uFill>
                  <a:noFill/>
                </a:uFill>
              </a:rPr>
              <a:t>MOSFETs</a:t>
            </a:r>
            <a:r>
              <a:rPr lang="es-ES" sz="1200" dirty="0">
                <a:uFill>
                  <a:noFill/>
                </a:uFill>
              </a:rPr>
              <a:t> </a:t>
            </a:r>
            <a:r>
              <a:rPr lang="es-ES" sz="1200" dirty="0" err="1">
                <a:uFill>
                  <a:noFill/>
                </a:uFill>
              </a:rPr>
              <a:t>Selection</a:t>
            </a:r>
            <a:r>
              <a:rPr lang="es-ES" sz="1200" dirty="0">
                <a:uFill>
                  <a:noFill/>
                </a:uFill>
              </a:rPr>
              <a:t> Guide.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b="1" dirty="0">
                <a:uFill>
                  <a:noFill/>
                </a:uFill>
              </a:rPr>
              <a:t>Vector </a:t>
            </a:r>
            <a:r>
              <a:rPr lang="es-ES" sz="1200" b="1" dirty="0" err="1">
                <a:uFill>
                  <a:noFill/>
                </a:uFill>
              </a:rPr>
              <a:t>Informatik</a:t>
            </a:r>
            <a:r>
              <a:rPr lang="es-ES" sz="1200" b="1" dirty="0">
                <a:uFill>
                  <a:noFill/>
                </a:uFill>
              </a:rPr>
              <a:t> </a:t>
            </a:r>
            <a:r>
              <a:rPr lang="es-ES" sz="1200" b="1" dirty="0" err="1">
                <a:uFill>
                  <a:noFill/>
                </a:uFill>
              </a:rPr>
              <a:t>GmbH</a:t>
            </a:r>
            <a:r>
              <a:rPr lang="es-ES" sz="1200" dirty="0">
                <a:uFill>
                  <a:noFill/>
                </a:uFill>
              </a:rPr>
              <a:t>. (2024). CAN </a:t>
            </a:r>
            <a:r>
              <a:rPr lang="es-ES" sz="1200" dirty="0" err="1">
                <a:uFill>
                  <a:noFill/>
                </a:uFill>
              </a:rPr>
              <a:t>Knowledge</a:t>
            </a:r>
            <a:r>
              <a:rPr lang="es-ES" sz="1200" dirty="0">
                <a:uFill>
                  <a:noFill/>
                </a:uFill>
              </a:rPr>
              <a:t> Base. [web]. vector.com.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All About Circuits</a:t>
            </a:r>
            <a:r>
              <a:rPr lang="en-US" sz="1200" dirty="0">
                <a:uFill>
                  <a:noFill/>
                </a:uFill>
              </a:rPr>
              <a:t>. (2024). Understanding the I2C Bus. [Article </a:t>
            </a:r>
            <a:r>
              <a:rPr lang="en-US" sz="1200" dirty="0" err="1">
                <a:uFill>
                  <a:noFill/>
                </a:uFill>
              </a:rPr>
              <a:t>tècnic</a:t>
            </a:r>
            <a:r>
              <a:rPr lang="en-US" sz="1200" dirty="0">
                <a:uFill>
                  <a:noFill/>
                </a:uFill>
              </a:rPr>
              <a:t>]. Disponible a: allaboutcircuits.com.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 dirty="0">
                <a:uFill>
                  <a:noFill/>
                </a:uFill>
              </a:rPr>
              <a:t>Microchip Developer Help</a:t>
            </a:r>
            <a:r>
              <a:rPr lang="en-US" sz="1200" dirty="0">
                <a:uFill>
                  <a:noFill/>
                </a:uFill>
              </a:rPr>
              <a:t>. Getting Started with MPLAB X IDE and XC16 Compiler. [Portal de </a:t>
            </a:r>
            <a:r>
              <a:rPr lang="en-US" sz="1200" dirty="0" err="1">
                <a:uFill>
                  <a:noFill/>
                </a:uFill>
              </a:rPr>
              <a:t>suport</a:t>
            </a:r>
            <a:r>
              <a:rPr lang="en-US" sz="1200" dirty="0">
                <a:uFill>
                  <a:noFill/>
                </a:uFill>
              </a:rPr>
              <a:t>].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endParaRPr lang="en-US" sz="1200" dirty="0">
              <a:uFill>
                <a:noFill/>
              </a:u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92"/>
          <p:cNvSpPr/>
          <p:nvPr/>
        </p:nvSpPr>
        <p:spPr>
          <a:xfrm flipH="1">
            <a:off x="-9600" y="781000"/>
            <a:ext cx="3229200" cy="3591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p92"/>
          <p:cNvSpPr/>
          <p:nvPr/>
        </p:nvSpPr>
        <p:spPr>
          <a:xfrm flipH="1">
            <a:off x="-9593" y="-12"/>
            <a:ext cx="3229200" cy="841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0" name="Google Shape;2050;p92"/>
          <p:cNvGrpSpPr/>
          <p:nvPr/>
        </p:nvGrpSpPr>
        <p:grpSpPr>
          <a:xfrm flipH="1">
            <a:off x="-9593" y="4324341"/>
            <a:ext cx="3229223" cy="820210"/>
            <a:chOff x="5914788" y="4092325"/>
            <a:chExt cx="3229223" cy="1032360"/>
          </a:xfrm>
        </p:grpSpPr>
        <p:sp>
          <p:nvSpPr>
            <p:cNvPr id="2051" name="Google Shape;2051;p92"/>
            <p:cNvSpPr/>
            <p:nvPr/>
          </p:nvSpPr>
          <p:spPr>
            <a:xfrm>
              <a:off x="9046392" y="50306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1522" y="1"/>
                  </a:moveTo>
                  <a:lnTo>
                    <a:pt x="1" y="1467"/>
                  </a:lnTo>
                  <a:lnTo>
                    <a:pt x="1522" y="146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8686560" y="4683876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7134" y="1"/>
                  </a:moveTo>
                  <a:lnTo>
                    <a:pt x="0" y="6875"/>
                  </a:lnTo>
                  <a:lnTo>
                    <a:pt x="3321" y="6875"/>
                  </a:lnTo>
                  <a:lnTo>
                    <a:pt x="7134" y="3201"/>
                  </a:lnTo>
                  <a:lnTo>
                    <a:pt x="7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92"/>
            <p:cNvSpPr/>
            <p:nvPr/>
          </p:nvSpPr>
          <p:spPr>
            <a:xfrm>
              <a:off x="8899497" y="4889053"/>
              <a:ext cx="244490" cy="235632"/>
            </a:xfrm>
            <a:custGeom>
              <a:avLst/>
              <a:gdLst/>
              <a:ahLst/>
              <a:cxnLst/>
              <a:rect l="l" t="t" r="r" b="b"/>
              <a:pathLst>
                <a:path w="3813" h="3675" extrusionOk="0">
                  <a:moveTo>
                    <a:pt x="3813" y="1"/>
                  </a:moveTo>
                  <a:lnTo>
                    <a:pt x="0" y="3675"/>
                  </a:lnTo>
                  <a:lnTo>
                    <a:pt x="2292" y="3675"/>
                  </a:lnTo>
                  <a:lnTo>
                    <a:pt x="3813" y="2209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2"/>
            <p:cNvSpPr/>
            <p:nvPr/>
          </p:nvSpPr>
          <p:spPr>
            <a:xfrm>
              <a:off x="7966831" y="4092325"/>
              <a:ext cx="1177179" cy="1032356"/>
            </a:xfrm>
            <a:custGeom>
              <a:avLst/>
              <a:gdLst/>
              <a:ahLst/>
              <a:cxnLst/>
              <a:rect l="l" t="t" r="r" b="b"/>
              <a:pathLst>
                <a:path w="18359" h="16101" extrusionOk="0">
                  <a:moveTo>
                    <a:pt x="16709" y="1"/>
                  </a:moveTo>
                  <a:lnTo>
                    <a:pt x="1" y="16101"/>
                  </a:lnTo>
                  <a:lnTo>
                    <a:pt x="3320" y="16101"/>
                  </a:lnTo>
                  <a:lnTo>
                    <a:pt x="18359" y="1610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2"/>
            <p:cNvSpPr/>
            <p:nvPr/>
          </p:nvSpPr>
          <p:spPr>
            <a:xfrm>
              <a:off x="5914788" y="4092325"/>
              <a:ext cx="457432" cy="440808"/>
            </a:xfrm>
            <a:custGeom>
              <a:avLst/>
              <a:gdLst/>
              <a:ahLst/>
              <a:cxnLst/>
              <a:rect l="l" t="t" r="r" b="b"/>
              <a:pathLst>
                <a:path w="7134" h="6875" extrusionOk="0">
                  <a:moveTo>
                    <a:pt x="3814" y="1"/>
                  </a:moveTo>
                  <a:lnTo>
                    <a:pt x="0" y="3674"/>
                  </a:lnTo>
                  <a:lnTo>
                    <a:pt x="0" y="6874"/>
                  </a:lnTo>
                  <a:lnTo>
                    <a:pt x="71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2"/>
            <p:cNvSpPr/>
            <p:nvPr/>
          </p:nvSpPr>
          <p:spPr>
            <a:xfrm>
              <a:off x="7606935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2"/>
            <p:cNvSpPr/>
            <p:nvPr/>
          </p:nvSpPr>
          <p:spPr>
            <a:xfrm>
              <a:off x="5914788" y="4092325"/>
              <a:ext cx="97591" cy="94060"/>
            </a:xfrm>
            <a:custGeom>
              <a:avLst/>
              <a:gdLst/>
              <a:ahLst/>
              <a:cxnLst/>
              <a:rect l="l" t="t" r="r" b="b"/>
              <a:pathLst>
                <a:path w="1522" h="1467" extrusionOk="0">
                  <a:moveTo>
                    <a:pt x="0" y="1"/>
                  </a:moveTo>
                  <a:lnTo>
                    <a:pt x="0" y="146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2"/>
            <p:cNvSpPr/>
            <p:nvPr/>
          </p:nvSpPr>
          <p:spPr>
            <a:xfrm>
              <a:off x="8326728" y="4337127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12746" y="1"/>
                  </a:moveTo>
                  <a:lnTo>
                    <a:pt x="0" y="12283"/>
                  </a:lnTo>
                  <a:lnTo>
                    <a:pt x="3321" y="12283"/>
                  </a:lnTo>
                  <a:lnTo>
                    <a:pt x="12746" y="3201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92"/>
            <p:cNvSpPr/>
            <p:nvPr/>
          </p:nvSpPr>
          <p:spPr>
            <a:xfrm>
              <a:off x="6527310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92"/>
            <p:cNvSpPr/>
            <p:nvPr/>
          </p:nvSpPr>
          <p:spPr>
            <a:xfrm>
              <a:off x="7247039" y="4092325"/>
              <a:ext cx="1284452" cy="1032356"/>
            </a:xfrm>
            <a:custGeom>
              <a:avLst/>
              <a:gdLst/>
              <a:ahLst/>
              <a:cxnLst/>
              <a:rect l="l" t="t" r="r" b="b"/>
              <a:pathLst>
                <a:path w="2003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3322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92"/>
            <p:cNvSpPr/>
            <p:nvPr/>
          </p:nvSpPr>
          <p:spPr>
            <a:xfrm>
              <a:off x="6887207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2"/>
            <p:cNvSpPr/>
            <p:nvPr/>
          </p:nvSpPr>
          <p:spPr>
            <a:xfrm>
              <a:off x="6167478" y="4092325"/>
              <a:ext cx="1284388" cy="1032356"/>
            </a:xfrm>
            <a:custGeom>
              <a:avLst/>
              <a:gdLst/>
              <a:ahLst/>
              <a:cxnLst/>
              <a:rect l="l" t="t" r="r" b="b"/>
              <a:pathLst>
                <a:path w="20031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3321" y="16101"/>
                  </a:lnTo>
                  <a:lnTo>
                    <a:pt x="200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92"/>
            <p:cNvSpPr/>
            <p:nvPr/>
          </p:nvSpPr>
          <p:spPr>
            <a:xfrm>
              <a:off x="5914788" y="4092325"/>
              <a:ext cx="1177243" cy="1032356"/>
            </a:xfrm>
            <a:custGeom>
              <a:avLst/>
              <a:gdLst/>
              <a:ahLst/>
              <a:cxnLst/>
              <a:rect l="l" t="t" r="r" b="b"/>
              <a:pathLst>
                <a:path w="18360" h="16101" extrusionOk="0">
                  <a:moveTo>
                    <a:pt x="15039" y="1"/>
                  </a:moveTo>
                  <a:lnTo>
                    <a:pt x="0" y="14491"/>
                  </a:lnTo>
                  <a:lnTo>
                    <a:pt x="0" y="16101"/>
                  </a:lnTo>
                  <a:lnTo>
                    <a:pt x="1650" y="16101"/>
                  </a:lnTo>
                  <a:lnTo>
                    <a:pt x="183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92"/>
            <p:cNvSpPr/>
            <p:nvPr/>
          </p:nvSpPr>
          <p:spPr>
            <a:xfrm>
              <a:off x="5914788" y="4092325"/>
              <a:ext cx="817274" cy="787555"/>
            </a:xfrm>
            <a:custGeom>
              <a:avLst/>
              <a:gdLst/>
              <a:ahLst/>
              <a:cxnLst/>
              <a:rect l="l" t="t" r="r" b="b"/>
              <a:pathLst>
                <a:path w="12746" h="12283" extrusionOk="0">
                  <a:moveTo>
                    <a:pt x="9426" y="1"/>
                  </a:moveTo>
                  <a:lnTo>
                    <a:pt x="0" y="9083"/>
                  </a:lnTo>
                  <a:lnTo>
                    <a:pt x="0" y="12282"/>
                  </a:lnTo>
                  <a:lnTo>
                    <a:pt x="12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92"/>
            <p:cNvSpPr/>
            <p:nvPr/>
          </p:nvSpPr>
          <p:spPr>
            <a:xfrm>
              <a:off x="5914788" y="4092325"/>
              <a:ext cx="244554" cy="235632"/>
            </a:xfrm>
            <a:custGeom>
              <a:avLst/>
              <a:gdLst/>
              <a:ahLst/>
              <a:cxnLst/>
              <a:rect l="l" t="t" r="r" b="b"/>
              <a:pathLst>
                <a:path w="3814" h="3675" extrusionOk="0">
                  <a:moveTo>
                    <a:pt x="1521" y="1"/>
                  </a:moveTo>
                  <a:lnTo>
                    <a:pt x="0" y="1466"/>
                  </a:lnTo>
                  <a:lnTo>
                    <a:pt x="0" y="3674"/>
                  </a:lnTo>
                  <a:lnTo>
                    <a:pt x="38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92"/>
            <p:cNvSpPr/>
            <p:nvPr/>
          </p:nvSpPr>
          <p:spPr>
            <a:xfrm>
              <a:off x="5914788" y="4092325"/>
              <a:ext cx="604459" cy="582379"/>
            </a:xfrm>
            <a:custGeom>
              <a:avLst/>
              <a:gdLst/>
              <a:ahLst/>
              <a:cxnLst/>
              <a:rect l="l" t="t" r="r" b="b"/>
              <a:pathLst>
                <a:path w="9427" h="9083" extrusionOk="0">
                  <a:moveTo>
                    <a:pt x="7133" y="1"/>
                  </a:moveTo>
                  <a:lnTo>
                    <a:pt x="0" y="6874"/>
                  </a:lnTo>
                  <a:lnTo>
                    <a:pt x="0" y="9083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2"/>
            <p:cNvSpPr/>
            <p:nvPr/>
          </p:nvSpPr>
          <p:spPr>
            <a:xfrm>
              <a:off x="5914788" y="409232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2746" y="1"/>
                  </a:moveTo>
                  <a:lnTo>
                    <a:pt x="0" y="12282"/>
                  </a:lnTo>
                  <a:lnTo>
                    <a:pt x="0" y="14491"/>
                  </a:lnTo>
                  <a:lnTo>
                    <a:pt x="150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2"/>
            <p:cNvSpPr/>
            <p:nvPr/>
          </p:nvSpPr>
          <p:spPr>
            <a:xfrm>
              <a:off x="6020519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2"/>
            <p:cNvSpPr/>
            <p:nvPr/>
          </p:nvSpPr>
          <p:spPr>
            <a:xfrm>
              <a:off x="6380415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2"/>
            <p:cNvSpPr/>
            <p:nvPr/>
          </p:nvSpPr>
          <p:spPr>
            <a:xfrm>
              <a:off x="6740248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2"/>
            <p:cNvSpPr/>
            <p:nvPr/>
          </p:nvSpPr>
          <p:spPr>
            <a:xfrm>
              <a:off x="7100144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0" y="16101"/>
                  </a:lnTo>
                  <a:lnTo>
                    <a:pt x="2292" y="16101"/>
                  </a:lnTo>
                  <a:lnTo>
                    <a:pt x="19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2"/>
            <p:cNvSpPr/>
            <p:nvPr/>
          </p:nvSpPr>
          <p:spPr>
            <a:xfrm>
              <a:off x="7459976" y="4092325"/>
              <a:ext cx="1218408" cy="1032356"/>
            </a:xfrm>
            <a:custGeom>
              <a:avLst/>
              <a:gdLst/>
              <a:ahLst/>
              <a:cxnLst/>
              <a:rect l="l" t="t" r="r" b="b"/>
              <a:pathLst>
                <a:path w="19002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2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2"/>
            <p:cNvSpPr/>
            <p:nvPr/>
          </p:nvSpPr>
          <p:spPr>
            <a:xfrm>
              <a:off x="7819808" y="4092325"/>
              <a:ext cx="1218472" cy="1032356"/>
            </a:xfrm>
            <a:custGeom>
              <a:avLst/>
              <a:gdLst/>
              <a:ahLst/>
              <a:cxnLst/>
              <a:rect l="l" t="t" r="r" b="b"/>
              <a:pathLst>
                <a:path w="19003" h="16101" extrusionOk="0">
                  <a:moveTo>
                    <a:pt x="16710" y="1"/>
                  </a:moveTo>
                  <a:lnTo>
                    <a:pt x="1" y="16101"/>
                  </a:lnTo>
                  <a:lnTo>
                    <a:pt x="2294" y="16101"/>
                  </a:lnTo>
                  <a:lnTo>
                    <a:pt x="19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2"/>
            <p:cNvSpPr/>
            <p:nvPr/>
          </p:nvSpPr>
          <p:spPr>
            <a:xfrm>
              <a:off x="8179704" y="4195555"/>
              <a:ext cx="964301" cy="929127"/>
            </a:xfrm>
            <a:custGeom>
              <a:avLst/>
              <a:gdLst/>
              <a:ahLst/>
              <a:cxnLst/>
              <a:rect l="l" t="t" r="r" b="b"/>
              <a:pathLst>
                <a:path w="15039" h="14491" extrusionOk="0">
                  <a:moveTo>
                    <a:pt x="15039" y="0"/>
                  </a:moveTo>
                  <a:lnTo>
                    <a:pt x="0" y="14491"/>
                  </a:lnTo>
                  <a:lnTo>
                    <a:pt x="2293" y="14491"/>
                  </a:lnTo>
                  <a:lnTo>
                    <a:pt x="15039" y="2209"/>
                  </a:lnTo>
                  <a:lnTo>
                    <a:pt x="15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2"/>
            <p:cNvSpPr/>
            <p:nvPr/>
          </p:nvSpPr>
          <p:spPr>
            <a:xfrm>
              <a:off x="8539601" y="4542304"/>
              <a:ext cx="604395" cy="582379"/>
            </a:xfrm>
            <a:custGeom>
              <a:avLst/>
              <a:gdLst/>
              <a:ahLst/>
              <a:cxnLst/>
              <a:rect l="l" t="t" r="r" b="b"/>
              <a:pathLst>
                <a:path w="9426" h="9083" extrusionOk="0">
                  <a:moveTo>
                    <a:pt x="9426" y="1"/>
                  </a:moveTo>
                  <a:lnTo>
                    <a:pt x="1" y="9083"/>
                  </a:lnTo>
                  <a:lnTo>
                    <a:pt x="2292" y="9083"/>
                  </a:lnTo>
                  <a:lnTo>
                    <a:pt x="9426" y="2209"/>
                  </a:lnTo>
                  <a:lnTo>
                    <a:pt x="9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6" name="Google Shape;2076;p92"/>
          <p:cNvSpPr txBox="1">
            <a:spLocks noGrp="1"/>
          </p:cNvSpPr>
          <p:nvPr>
            <p:ph type="ctrTitle"/>
          </p:nvPr>
        </p:nvSpPr>
        <p:spPr>
          <a:xfrm>
            <a:off x="4107656" y="2136440"/>
            <a:ext cx="38004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GRÀCIES!</a:t>
            </a:r>
            <a:endParaRPr dirty="0"/>
          </a:p>
        </p:txBody>
      </p:sp>
      <p:grpSp>
        <p:nvGrpSpPr>
          <p:cNvPr id="2096" name="Google Shape;2096;p92"/>
          <p:cNvGrpSpPr/>
          <p:nvPr/>
        </p:nvGrpSpPr>
        <p:grpSpPr>
          <a:xfrm rot="10800000" flipH="1">
            <a:off x="736137" y="1133417"/>
            <a:ext cx="1737764" cy="3190933"/>
            <a:chOff x="-2015525" y="1190673"/>
            <a:chExt cx="1253526" cy="2302260"/>
          </a:xfrm>
        </p:grpSpPr>
        <p:sp>
          <p:nvSpPr>
            <p:cNvPr id="2097" name="Google Shape;2097;p92"/>
            <p:cNvSpPr/>
            <p:nvPr/>
          </p:nvSpPr>
          <p:spPr>
            <a:xfrm>
              <a:off x="-1465824" y="1190673"/>
              <a:ext cx="154224" cy="574880"/>
            </a:xfrm>
            <a:custGeom>
              <a:avLst/>
              <a:gdLst/>
              <a:ahLst/>
              <a:cxnLst/>
              <a:rect l="l" t="t" r="r" b="b"/>
              <a:pathLst>
                <a:path w="2790" h="10102" extrusionOk="0">
                  <a:moveTo>
                    <a:pt x="0" y="0"/>
                  </a:moveTo>
                  <a:lnTo>
                    <a:pt x="0" y="10102"/>
                  </a:lnTo>
                  <a:lnTo>
                    <a:pt x="2789" y="10102"/>
                  </a:lnTo>
                  <a:lnTo>
                    <a:pt x="27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92"/>
            <p:cNvSpPr/>
            <p:nvPr/>
          </p:nvSpPr>
          <p:spPr>
            <a:xfrm>
              <a:off x="-1611576" y="1438143"/>
              <a:ext cx="445682" cy="994066"/>
            </a:xfrm>
            <a:custGeom>
              <a:avLst/>
              <a:gdLst/>
              <a:ahLst/>
              <a:cxnLst/>
              <a:rect l="l" t="t" r="r" b="b"/>
              <a:pathLst>
                <a:path w="8063" h="17984" extrusionOk="0">
                  <a:moveTo>
                    <a:pt x="2721" y="0"/>
                  </a:moveTo>
                  <a:cubicBezTo>
                    <a:pt x="1220" y="0"/>
                    <a:pt x="0" y="1220"/>
                    <a:pt x="0" y="2721"/>
                  </a:cubicBezTo>
                  <a:lnTo>
                    <a:pt x="0" y="15263"/>
                  </a:lnTo>
                  <a:cubicBezTo>
                    <a:pt x="0" y="16764"/>
                    <a:pt x="1220" y="17983"/>
                    <a:pt x="2721" y="17983"/>
                  </a:cubicBezTo>
                  <a:lnTo>
                    <a:pt x="5342" y="17983"/>
                  </a:lnTo>
                  <a:cubicBezTo>
                    <a:pt x="6843" y="17983"/>
                    <a:pt x="8062" y="16764"/>
                    <a:pt x="8062" y="15263"/>
                  </a:cubicBezTo>
                  <a:lnTo>
                    <a:pt x="8062" y="2721"/>
                  </a:lnTo>
                  <a:cubicBezTo>
                    <a:pt x="8062" y="1220"/>
                    <a:pt x="6843" y="0"/>
                    <a:pt x="5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92"/>
            <p:cNvSpPr/>
            <p:nvPr/>
          </p:nvSpPr>
          <p:spPr>
            <a:xfrm>
              <a:off x="-1286504" y="2353439"/>
              <a:ext cx="241110" cy="1139494"/>
            </a:xfrm>
            <a:custGeom>
              <a:avLst/>
              <a:gdLst/>
              <a:ahLst/>
              <a:cxnLst/>
              <a:rect l="l" t="t" r="r" b="b"/>
              <a:pathLst>
                <a:path w="4362" h="20615" extrusionOk="0">
                  <a:moveTo>
                    <a:pt x="2181" y="0"/>
                  </a:moveTo>
                  <a:cubicBezTo>
                    <a:pt x="976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6" y="20614"/>
                    <a:pt x="2181" y="20614"/>
                  </a:cubicBezTo>
                  <a:cubicBezTo>
                    <a:pt x="3385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5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92"/>
            <p:cNvSpPr/>
            <p:nvPr/>
          </p:nvSpPr>
          <p:spPr>
            <a:xfrm>
              <a:off x="-1732130" y="2353439"/>
              <a:ext cx="241165" cy="1139494"/>
            </a:xfrm>
            <a:custGeom>
              <a:avLst/>
              <a:gdLst/>
              <a:ahLst/>
              <a:cxnLst/>
              <a:rect l="l" t="t" r="r" b="b"/>
              <a:pathLst>
                <a:path w="4363" h="20615" extrusionOk="0">
                  <a:moveTo>
                    <a:pt x="2181" y="0"/>
                  </a:moveTo>
                  <a:cubicBezTo>
                    <a:pt x="978" y="0"/>
                    <a:pt x="1" y="976"/>
                    <a:pt x="1" y="2181"/>
                  </a:cubicBezTo>
                  <a:lnTo>
                    <a:pt x="1" y="18434"/>
                  </a:lnTo>
                  <a:cubicBezTo>
                    <a:pt x="1" y="19638"/>
                    <a:pt x="978" y="20614"/>
                    <a:pt x="2181" y="20614"/>
                  </a:cubicBezTo>
                  <a:cubicBezTo>
                    <a:pt x="3386" y="20614"/>
                    <a:pt x="4362" y="19638"/>
                    <a:pt x="4362" y="18434"/>
                  </a:cubicBezTo>
                  <a:lnTo>
                    <a:pt x="4362" y="2181"/>
                  </a:lnTo>
                  <a:cubicBezTo>
                    <a:pt x="4362" y="976"/>
                    <a:pt x="3386" y="0"/>
                    <a:pt x="2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92"/>
            <p:cNvSpPr/>
            <p:nvPr/>
          </p:nvSpPr>
          <p:spPr>
            <a:xfrm>
              <a:off x="-2015525" y="1996972"/>
              <a:ext cx="1253526" cy="870360"/>
            </a:xfrm>
            <a:custGeom>
              <a:avLst/>
              <a:gdLst/>
              <a:ahLst/>
              <a:cxnLst/>
              <a:rect l="l" t="t" r="r" b="b"/>
              <a:pathLst>
                <a:path w="22678" h="15746" extrusionOk="0">
                  <a:moveTo>
                    <a:pt x="4332" y="1"/>
                  </a:moveTo>
                  <a:cubicBezTo>
                    <a:pt x="1940" y="1"/>
                    <a:pt x="1" y="1940"/>
                    <a:pt x="1" y="4332"/>
                  </a:cubicBezTo>
                  <a:lnTo>
                    <a:pt x="1" y="15745"/>
                  </a:lnTo>
                  <a:lnTo>
                    <a:pt x="22678" y="15745"/>
                  </a:lnTo>
                  <a:lnTo>
                    <a:pt x="22678" y="4332"/>
                  </a:lnTo>
                  <a:cubicBezTo>
                    <a:pt x="22678" y="1940"/>
                    <a:pt x="20739" y="1"/>
                    <a:pt x="18347" y="1"/>
                  </a:cubicBezTo>
                  <a:close/>
                </a:path>
              </a:pathLst>
            </a:custGeom>
            <a:solidFill>
              <a:schemeClr val="lt1"/>
            </a:solidFill>
            <a:ln w="13875" cap="flat" cmpd="sng">
              <a:solidFill>
                <a:schemeClr val="dk1"/>
              </a:solidFill>
              <a:prstDash val="solid"/>
              <a:miter lim="111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92"/>
            <p:cNvSpPr/>
            <p:nvPr/>
          </p:nvSpPr>
          <p:spPr>
            <a:xfrm>
              <a:off x="-1515066" y="2225036"/>
              <a:ext cx="252607" cy="368518"/>
            </a:xfrm>
            <a:custGeom>
              <a:avLst/>
              <a:gdLst/>
              <a:ahLst/>
              <a:cxnLst/>
              <a:rect l="l" t="t" r="r" b="b"/>
              <a:pathLst>
                <a:path w="4570" h="6667" extrusionOk="0">
                  <a:moveTo>
                    <a:pt x="3250" y="0"/>
                  </a:moveTo>
                  <a:lnTo>
                    <a:pt x="1" y="3925"/>
                  </a:lnTo>
                  <a:lnTo>
                    <a:pt x="2099" y="3925"/>
                  </a:lnTo>
                  <a:lnTo>
                    <a:pt x="949" y="6666"/>
                  </a:lnTo>
                  <a:lnTo>
                    <a:pt x="3250" y="6666"/>
                  </a:lnTo>
                  <a:lnTo>
                    <a:pt x="4570" y="2869"/>
                  </a:lnTo>
                  <a:lnTo>
                    <a:pt x="2777" y="2869"/>
                  </a:lnTo>
                  <a:lnTo>
                    <a:pt x="3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3" name="Google Shape;2103;p92"/>
          <p:cNvGrpSpPr/>
          <p:nvPr/>
        </p:nvGrpSpPr>
        <p:grpSpPr>
          <a:xfrm flipH="1">
            <a:off x="171358" y="127313"/>
            <a:ext cx="2867297" cy="587084"/>
            <a:chOff x="207675" y="127350"/>
            <a:chExt cx="2867297" cy="587084"/>
          </a:xfrm>
        </p:grpSpPr>
        <p:grpSp>
          <p:nvGrpSpPr>
            <p:cNvPr id="2104" name="Google Shape;2104;p92"/>
            <p:cNvGrpSpPr/>
            <p:nvPr/>
          </p:nvGrpSpPr>
          <p:grpSpPr>
            <a:xfrm>
              <a:off x="207675" y="127350"/>
              <a:ext cx="1712411" cy="587084"/>
              <a:chOff x="1722125" y="3637225"/>
              <a:chExt cx="1075500" cy="368725"/>
            </a:xfrm>
          </p:grpSpPr>
          <p:sp>
            <p:nvSpPr>
              <p:cNvPr id="2105" name="Google Shape;2105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92"/>
              <p:cNvSpPr/>
              <p:nvPr/>
            </p:nvSpPr>
            <p:spPr>
              <a:xfrm>
                <a:off x="25011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92"/>
              <p:cNvSpPr/>
              <p:nvPr/>
            </p:nvSpPr>
            <p:spPr>
              <a:xfrm>
                <a:off x="2439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1" y="4243"/>
                    </a:lnTo>
                    <a:lnTo>
                      <a:pt x="7116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92"/>
              <p:cNvSpPr/>
              <p:nvPr/>
            </p:nvSpPr>
            <p:spPr>
              <a:xfrm>
                <a:off x="2681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92"/>
              <p:cNvSpPr/>
              <p:nvPr/>
            </p:nvSpPr>
            <p:spPr>
              <a:xfrm>
                <a:off x="2619700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7" name="Google Shape;2117;p92"/>
            <p:cNvGrpSpPr/>
            <p:nvPr/>
          </p:nvGrpSpPr>
          <p:grpSpPr>
            <a:xfrm>
              <a:off x="1933325" y="127350"/>
              <a:ext cx="1141647" cy="587084"/>
              <a:chOff x="1722125" y="3637225"/>
              <a:chExt cx="717025" cy="368725"/>
            </a:xfrm>
          </p:grpSpPr>
          <p:sp>
            <p:nvSpPr>
              <p:cNvPr id="2118" name="Google Shape;2118;p92"/>
              <p:cNvSpPr/>
              <p:nvPr/>
            </p:nvSpPr>
            <p:spPr>
              <a:xfrm>
                <a:off x="1784150" y="3703450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4" y="12099"/>
                    </a:ln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92"/>
              <p:cNvSpPr/>
              <p:nvPr/>
            </p:nvSpPr>
            <p:spPr>
              <a:xfrm>
                <a:off x="17221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8" y="1"/>
                    </a:moveTo>
                    <a:lnTo>
                      <a:pt x="0" y="4243"/>
                    </a:lnTo>
                    <a:lnTo>
                      <a:pt x="7117" y="4243"/>
                    </a:lnTo>
                    <a:lnTo>
                      <a:pt x="35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92"/>
              <p:cNvSpPr/>
              <p:nvPr/>
            </p:nvSpPr>
            <p:spPr>
              <a:xfrm>
                <a:off x="1964725" y="3637225"/>
                <a:ext cx="53875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5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92"/>
              <p:cNvSpPr/>
              <p:nvPr/>
            </p:nvSpPr>
            <p:spPr>
              <a:xfrm>
                <a:off x="1902725" y="3899875"/>
                <a:ext cx="177925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3" extrusionOk="0">
                    <a:moveTo>
                      <a:pt x="1" y="0"/>
                    </a:moveTo>
                    <a:lnTo>
                      <a:pt x="3558" y="4242"/>
                    </a:lnTo>
                    <a:lnTo>
                      <a:pt x="71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92"/>
              <p:cNvSpPr/>
              <p:nvPr/>
            </p:nvSpPr>
            <p:spPr>
              <a:xfrm>
                <a:off x="2142625" y="3703450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1" y="1"/>
                    </a:moveTo>
                    <a:lnTo>
                      <a:pt x="1" y="12099"/>
                    </a:lnTo>
                    <a:lnTo>
                      <a:pt x="2156" y="12099"/>
                    </a:lnTo>
                    <a:lnTo>
                      <a:pt x="21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92"/>
              <p:cNvSpPr/>
              <p:nvPr/>
            </p:nvSpPr>
            <p:spPr>
              <a:xfrm>
                <a:off x="2080625" y="3637225"/>
                <a:ext cx="177925" cy="106100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4244" extrusionOk="0">
                    <a:moveTo>
                      <a:pt x="3559" y="1"/>
                    </a:moveTo>
                    <a:lnTo>
                      <a:pt x="0" y="4243"/>
                    </a:lnTo>
                    <a:lnTo>
                      <a:pt x="7116" y="4243"/>
                    </a:lnTo>
                    <a:lnTo>
                      <a:pt x="3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92"/>
              <p:cNvSpPr/>
              <p:nvPr/>
            </p:nvSpPr>
            <p:spPr>
              <a:xfrm>
                <a:off x="2323225" y="3637225"/>
                <a:ext cx="53900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2100" extrusionOk="0">
                    <a:moveTo>
                      <a:pt x="0" y="1"/>
                    </a:moveTo>
                    <a:lnTo>
                      <a:pt x="0" y="12099"/>
                    </a:lnTo>
                    <a:lnTo>
                      <a:pt x="2155" y="12099"/>
                    </a:lnTo>
                    <a:lnTo>
                      <a:pt x="21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92"/>
              <p:cNvSpPr/>
              <p:nvPr/>
            </p:nvSpPr>
            <p:spPr>
              <a:xfrm>
                <a:off x="2261200" y="3899875"/>
                <a:ext cx="177950" cy="106075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4243" extrusionOk="0">
                    <a:moveTo>
                      <a:pt x="1" y="0"/>
                    </a:moveTo>
                    <a:lnTo>
                      <a:pt x="3559" y="4242"/>
                    </a:lnTo>
                    <a:lnTo>
                      <a:pt x="7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2879E8A4-64D4-4A1A-B9A5-E52551370C25}"/>
              </a:ext>
            </a:extLst>
          </p:cNvPr>
          <p:cNvSpPr/>
          <p:nvPr/>
        </p:nvSpPr>
        <p:spPr>
          <a:xfrm>
            <a:off x="4107656" y="3321844"/>
            <a:ext cx="4000500" cy="1196992"/>
          </a:xfrm>
          <a:prstGeom prst="rect">
            <a:avLst/>
          </a:prstGeom>
          <a:solidFill>
            <a:srgbClr val="E8E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ity Consumption Consulting by Slidesgo">
  <a:themeElements>
    <a:clrScheme name="Simple Light">
      <a:dk1>
        <a:srgbClr val="191919"/>
      </a:dk1>
      <a:lt1>
        <a:srgbClr val="E8E6D6"/>
      </a:lt1>
      <a:dk2>
        <a:srgbClr val="FEB530"/>
      </a:dk2>
      <a:lt2>
        <a:srgbClr val="F46123"/>
      </a:lt2>
      <a:accent1>
        <a:srgbClr val="1F8E2E"/>
      </a:accent1>
      <a:accent2>
        <a:srgbClr val="2E83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1F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514</Words>
  <Application>Microsoft Office PowerPoint</Application>
  <PresentationFormat>Presentación en pantalla (16:9)</PresentationFormat>
  <Paragraphs>84</Paragraphs>
  <Slides>31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Arial</vt:lpstr>
      <vt:lpstr>Open Sans</vt:lpstr>
      <vt:lpstr>Bebas Neue</vt:lpstr>
      <vt:lpstr>Raleway ExtraBold</vt:lpstr>
      <vt:lpstr>Hepta Slab SemiBold</vt:lpstr>
      <vt:lpstr>Raleway SemiBold</vt:lpstr>
      <vt:lpstr>Raleway Black</vt:lpstr>
      <vt:lpstr>Electricity Consumption Consulting by Slidesgo</vt:lpstr>
      <vt:lpstr>EINES DE DISSENY PROJECTE: GRUP D TARDA (SEIENTS)</vt:lpstr>
      <vt:lpstr>01</vt:lpstr>
      <vt:lpstr>05</vt:lpstr>
      <vt:lpstr>01</vt:lpstr>
      <vt:lpstr>OBJECTIUS DEL PROJECTE (Característiques):</vt:lpstr>
      <vt:lpstr>OBJECTIUS PRINCIPALS DEL PROJECTE</vt:lpstr>
      <vt:lpstr>02</vt:lpstr>
      <vt:lpstr>V.2</vt:lpstr>
      <vt:lpstr>V.3</vt:lpstr>
      <vt:lpstr>ESQUEMÀTIC DEL PROJECTE</vt:lpstr>
      <vt:lpstr>ALIMENTACIÓ:</vt:lpstr>
      <vt:lpstr>SENSORS:</vt:lpstr>
      <vt:lpstr>DRIVERS:</vt:lpstr>
      <vt:lpstr>DRIVERS:</vt:lpstr>
      <vt:lpstr>EEPROM:</vt:lpstr>
      <vt:lpstr>EEPROM:</vt:lpstr>
      <vt:lpstr>MOSFET:</vt:lpstr>
      <vt:lpstr>MOSFET:</vt:lpstr>
      <vt:lpstr>CAN/DE-9:</vt:lpstr>
      <vt:lpstr>BOTONERA:</vt:lpstr>
      <vt:lpstr>MICROCONTROLADOR:</vt:lpstr>
      <vt:lpstr>MICROCONTROLADOR:</vt:lpstr>
      <vt:lpstr>SIMULACIONS LTSPICE</vt:lpstr>
      <vt:lpstr>Presentación de PowerPoint</vt:lpstr>
      <vt:lpstr>Presentación de PowerPoint</vt:lpstr>
      <vt:lpstr>LAYOUT I PCB</vt:lpstr>
      <vt:lpstr>Presentación de PowerPoint</vt:lpstr>
      <vt:lpstr>BOM</vt:lpstr>
      <vt:lpstr>RESOURCES</vt:lpstr>
      <vt:lpstr>Presentación de PowerPoint</vt:lpstr>
      <vt:lpstr>GRÀCIES!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EINES DE DISSENY PROJECTE: GRUP D SEIENTS</dc:title>
  <dc:creator>Joan Martínez González</dc:creator>
  <cp:lastModifiedBy>isabel gonzalez</cp:lastModifiedBy>
  <cp:revision>47</cp:revision>
  <dcterms:modified xsi:type="dcterms:W3CDTF">2026-04-09T12:31:57Z</dcterms:modified>
</cp:coreProperties>
</file>