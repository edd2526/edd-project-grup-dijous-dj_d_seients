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41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65" r:id="rId30"/>
    <p:sldId id="358" r:id="rId31"/>
    <p:sldId id="359" r:id="rId32"/>
    <p:sldId id="363" r:id="rId33"/>
    <p:sldId id="364" r:id="rId34"/>
    <p:sldId id="360" r:id="rId35"/>
    <p:sldId id="361" r:id="rId36"/>
    <p:sldId id="362" r:id="rId37"/>
    <p:sldId id="340" r:id="rId38"/>
    <p:sldId id="307" r:id="rId39"/>
    <p:sldId id="305" r:id="rId40"/>
  </p:sldIdLst>
  <p:sldSz cx="9144000" cy="5143500" type="screen16x9"/>
  <p:notesSz cx="6858000" cy="9144000"/>
  <p:embeddedFontLst>
    <p:embeddedFont>
      <p:font typeface="Bebas Neue" panose="020B0604020202020204" charset="0"/>
      <p:regular r:id="rId42"/>
    </p:embeddedFont>
    <p:embeddedFont>
      <p:font typeface="Hepta Slab SemiBold" panose="020B0604020202020204" charset="0"/>
      <p:regular r:id="rId43"/>
      <p:bold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  <p:embeddedFont>
      <p:font typeface="Raleway Black" pitchFamily="2" charset="0"/>
      <p:bold r:id="rId49"/>
      <p:boldItalic r:id="rId50"/>
    </p:embeddedFont>
    <p:embeddedFont>
      <p:font typeface="Raleway ExtraBold" pitchFamily="2" charset="0"/>
      <p:bold r:id="rId51"/>
      <p:boldItalic r:id="rId52"/>
    </p:embeddedFont>
    <p:embeddedFont>
      <p:font typeface="Raleway SemiBold" pitchFamily="2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>
      <p:cViewPr>
        <p:scale>
          <a:sx n="100" d="100"/>
          <a:sy n="100" d="100"/>
        </p:scale>
        <p:origin x="1656" y="178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C78E103-F21F-43D9-9BE6-FE8BFD47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92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33558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  <p:pic>
        <p:nvPicPr>
          <p:cNvPr id="26" name="Imagen 25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17E60005-BAB2-4507-B5FB-ECDCACA02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6581" y="3399939"/>
            <a:ext cx="4519858" cy="82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2F1AF770-08CF-49EF-BE49-D1B35427CD26}"/>
              </a:ext>
            </a:extLst>
          </p:cNvPr>
          <p:cNvSpPr txBox="1">
            <a:spLocks/>
          </p:cNvSpPr>
          <p:nvPr/>
        </p:nvSpPr>
        <p:spPr>
          <a:xfrm flipH="1">
            <a:off x="937254" y="186406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dirty="0"/>
              <a:t>Com a idea general, el cost del projecte no és fix, sinó que depèn principalment de: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46119C-E783-4C46-ADF9-4BF51D5B1507}"/>
              </a:ext>
            </a:extLst>
          </p:cNvPr>
          <p:cNvSpPr txBox="1"/>
          <p:nvPr/>
        </p:nvSpPr>
        <p:spPr>
          <a:xfrm>
            <a:off x="3447436" y="2606522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809271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340483"/>
            <a:ext cx="3716594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600" dirty="0"/>
              <a:t>l el </a:t>
            </a:r>
            <a:r>
              <a:rPr lang="fr-FR" sz="1600" dirty="0" err="1"/>
              <a:t>projecte</a:t>
            </a:r>
            <a:r>
              <a:rPr lang="fr-FR" sz="1600" dirty="0"/>
              <a:t> </a:t>
            </a:r>
            <a:r>
              <a:rPr lang="fr-FR" sz="1600" dirty="0" err="1"/>
              <a:t>demana</a:t>
            </a:r>
            <a:r>
              <a:rPr lang="fr-FR" sz="1600" dirty="0"/>
              <a:t> </a:t>
            </a:r>
            <a:r>
              <a:rPr lang="fr-FR" sz="1600" dirty="0" err="1"/>
              <a:t>analitzar</a:t>
            </a:r>
            <a:r>
              <a:rPr lang="fr-FR" sz="1600" dirty="0"/>
              <a:t>:</a:t>
            </a:r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x50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x1.000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x20.000 </a:t>
            </a:r>
            <a:r>
              <a:rPr lang="fr-FR" sz="1600" dirty="0" err="1"/>
              <a:t>unitats</a:t>
            </a:r>
            <a:endParaRPr lang="ca-ES" sz="1600" dirty="0"/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85" y="1138308"/>
            <a:ext cx="3960940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873187"/>
              </p:ext>
            </p:extLst>
          </p:nvPr>
        </p:nvGraphicFramePr>
        <p:xfrm>
          <a:off x="714375" y="1809750"/>
          <a:ext cx="771525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Volum (per unitats)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noProof="0"/>
                        <a:t>Cost 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x1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ca-ES" b="1" noProof="0" dirty="0"/>
                        <a:t>63,863 €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88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638,63 €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x50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3193.15 €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63.863 €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x20.000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1.277.260 €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601EE580-EDAC-4E46-BF25-A205D60C534F}"/>
              </a:ext>
            </a:extLst>
          </p:cNvPr>
          <p:cNvSpPr txBox="1">
            <a:spLocks/>
          </p:cNvSpPr>
          <p:nvPr/>
        </p:nvSpPr>
        <p:spPr>
          <a:xfrm flipH="1">
            <a:off x="582560" y="2700799"/>
            <a:ext cx="3716594" cy="64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es-ES" sz="1600" dirty="0" err="1"/>
              <a:t>Segons</a:t>
            </a:r>
            <a:r>
              <a:rPr lang="es-ES" sz="1600" dirty="0"/>
              <a:t> el </a:t>
            </a:r>
            <a:r>
              <a:rPr lang="es-ES" sz="1600" dirty="0" err="1"/>
              <a:t>document</a:t>
            </a:r>
            <a:r>
              <a:rPr lang="es-ES" sz="1600" dirty="0"/>
              <a:t>, el </a:t>
            </a:r>
            <a:r>
              <a:rPr lang="es-ES" sz="1600" dirty="0" err="1"/>
              <a:t>cost</a:t>
            </a:r>
            <a:r>
              <a:rPr lang="es-ES" sz="1600" dirty="0"/>
              <a:t> es </a:t>
            </a:r>
            <a:r>
              <a:rPr lang="es-ES" sz="1600" dirty="0" err="1"/>
              <a:t>divideix</a:t>
            </a:r>
            <a:r>
              <a:rPr lang="es-ES" sz="1600" dirty="0"/>
              <a:t> en:</a:t>
            </a:r>
            <a:endParaRPr lang="ca-ES" sz="1600" dirty="0"/>
          </a:p>
        </p:txBody>
      </p:sp>
      <p:sp>
        <p:nvSpPr>
          <p:cNvPr id="3" name="Abrir llave 2">
            <a:extLst>
              <a:ext uri="{FF2B5EF4-FFF2-40B4-BE49-F238E27FC236}">
                <a16:creationId xmlns:a16="http://schemas.microsoft.com/office/drawing/2014/main" id="{6A9551B4-32EB-4FE8-AF42-BBA0023A6838}"/>
              </a:ext>
            </a:extLst>
          </p:cNvPr>
          <p:cNvSpPr/>
          <p:nvPr/>
        </p:nvSpPr>
        <p:spPr>
          <a:xfrm>
            <a:off x="4490884" y="1487745"/>
            <a:ext cx="81116" cy="300867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ED45DB3F-D557-4854-9081-BE5906F621B8}"/>
              </a:ext>
            </a:extLst>
          </p:cNvPr>
          <p:cNvSpPr txBox="1">
            <a:spLocks/>
          </p:cNvSpPr>
          <p:nvPr/>
        </p:nvSpPr>
        <p:spPr>
          <a:xfrm flipH="1">
            <a:off x="4628535" y="1423219"/>
            <a:ext cx="3716594" cy="2957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 err="1"/>
              <a:t>Components</a:t>
            </a:r>
            <a:r>
              <a:rPr lang="es-ES" sz="1600" b="1" dirty="0"/>
              <a:t> (BOM)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/>
              <a:t> </a:t>
            </a:r>
            <a:r>
              <a:rPr lang="es-ES" sz="1600" b="1" dirty="0" err="1"/>
              <a:t>Fabricació</a:t>
            </a:r>
            <a:r>
              <a:rPr lang="es-ES" sz="1600" b="1" dirty="0"/>
              <a:t> de la PCB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ca-ES" sz="1600" b="1" dirty="0"/>
              <a:t>Muntatge</a:t>
            </a:r>
          </a:p>
        </p:txBody>
      </p:sp>
    </p:spTree>
    <p:extLst>
      <p:ext uri="{BB962C8B-B14F-4D97-AF65-F5344CB8AC3E}">
        <p14:creationId xmlns:p14="http://schemas.microsoft.com/office/powerpoint/2010/main" val="1200545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661987"/>
            <a:ext cx="3399504" cy="316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dirty="0"/>
              <a:t>l </a:t>
            </a:r>
            <a:r>
              <a:rPr lang="fr-FR" dirty="0" err="1"/>
              <a:t>què</a:t>
            </a:r>
            <a:r>
              <a:rPr lang="fr-FR" dirty="0"/>
              <a:t> passa amb el </a:t>
            </a:r>
            <a:r>
              <a:rPr lang="fr-FR" dirty="0" err="1"/>
              <a:t>cost</a:t>
            </a:r>
            <a:r>
              <a:rPr lang="fr-FR" dirty="0"/>
              <a:t>?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ES" sz="1200" dirty="0"/>
              <a:t>A mesura que augmenta la </a:t>
            </a:r>
            <a:r>
              <a:rPr lang="es-ES" sz="1200" dirty="0" err="1"/>
              <a:t>producció</a:t>
            </a:r>
            <a:r>
              <a:rPr lang="es-ES" sz="1200" dirty="0"/>
              <a:t>: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200" dirty="0"/>
              <a:t>L’anàlisi de costos mostra que el preu del sistema depèn fortament del volum de producció, reduint-se significativament en producció massiva gràcies a economies d’escala i processos de fabricació automatitzats.</a:t>
            </a:r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467" y="1215122"/>
            <a:ext cx="3960940" cy="360698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0484FE3-A7CD-4B52-9414-85B4272E597C}"/>
              </a:ext>
            </a:extLst>
          </p:cNvPr>
          <p:cNvSpPr txBox="1"/>
          <p:nvPr/>
        </p:nvSpPr>
        <p:spPr>
          <a:xfrm>
            <a:off x="903338" y="2710838"/>
            <a:ext cx="263996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EL COST PER UNITAT BAIXA</a:t>
            </a:r>
          </a:p>
        </p:txBody>
      </p:sp>
    </p:spTree>
    <p:extLst>
      <p:ext uri="{BB962C8B-B14F-4D97-AF65-F5344CB8AC3E}">
        <p14:creationId xmlns:p14="http://schemas.microsoft.com/office/powerpoint/2010/main" val="1338859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CDD0614-8755-4D1F-B17A-4C666EA9A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48" y="1017692"/>
            <a:ext cx="4144156" cy="3108116"/>
          </a:xfrm>
          <a:prstGeom prst="rect">
            <a:avLst/>
          </a:prstGeom>
        </p:spPr>
      </p:pic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5193137" y="1017692"/>
            <a:ext cx="3169199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79193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Microcontrolador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852</Words>
  <Application>Microsoft Office PowerPoint</Application>
  <PresentationFormat>Presentación en pantalla (16:9)</PresentationFormat>
  <Paragraphs>145</Paragraphs>
  <Slides>39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7" baseType="lpstr">
      <vt:lpstr>Open Sans</vt:lpstr>
      <vt:lpstr>Bebas Neue</vt:lpstr>
      <vt:lpstr>Hepta Slab SemiBold</vt:lpstr>
      <vt:lpstr>Raleway ExtraBold</vt:lpstr>
      <vt:lpstr>Arial</vt:lpstr>
      <vt:lpstr>Raleway SemiBold</vt:lpstr>
      <vt:lpstr>Raleway Black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67</cp:revision>
  <dcterms:modified xsi:type="dcterms:W3CDTF">2026-04-30T08:21:05Z</dcterms:modified>
</cp:coreProperties>
</file>