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41"/>
  </p:notesMasterIdLst>
  <p:sldIdLst>
    <p:sldId id="256" r:id="rId2"/>
    <p:sldId id="258" r:id="rId3"/>
    <p:sldId id="344" r:id="rId4"/>
    <p:sldId id="332" r:id="rId5"/>
    <p:sldId id="261" r:id="rId6"/>
    <p:sldId id="336" r:id="rId7"/>
    <p:sldId id="260" r:id="rId8"/>
    <p:sldId id="335" r:id="rId9"/>
    <p:sldId id="328" r:id="rId10"/>
    <p:sldId id="284" r:id="rId11"/>
    <p:sldId id="263" r:id="rId12"/>
    <p:sldId id="334" r:id="rId13"/>
    <p:sldId id="330" r:id="rId14"/>
    <p:sldId id="346" r:id="rId15"/>
    <p:sldId id="341" r:id="rId16"/>
    <p:sldId id="347" r:id="rId17"/>
    <p:sldId id="331" r:id="rId18"/>
    <p:sldId id="352" r:id="rId19"/>
    <p:sldId id="342" r:id="rId20"/>
    <p:sldId id="343" r:id="rId21"/>
    <p:sldId id="329" r:id="rId22"/>
    <p:sldId id="348" r:id="rId23"/>
    <p:sldId id="291" r:id="rId24"/>
    <p:sldId id="264" r:id="rId25"/>
    <p:sldId id="337" r:id="rId26"/>
    <p:sldId id="339" r:id="rId27"/>
    <p:sldId id="350" r:id="rId28"/>
    <p:sldId id="357" r:id="rId29"/>
    <p:sldId id="349" r:id="rId30"/>
    <p:sldId id="358" r:id="rId31"/>
    <p:sldId id="359" r:id="rId32"/>
    <p:sldId id="363" r:id="rId33"/>
    <p:sldId id="364" r:id="rId34"/>
    <p:sldId id="360" r:id="rId35"/>
    <p:sldId id="361" r:id="rId36"/>
    <p:sldId id="362" r:id="rId37"/>
    <p:sldId id="340" r:id="rId38"/>
    <p:sldId id="307" r:id="rId39"/>
    <p:sldId id="305" r:id="rId40"/>
  </p:sldIdLst>
  <p:sldSz cx="9144000" cy="5143500" type="screen16x9"/>
  <p:notesSz cx="6858000" cy="9144000"/>
  <p:embeddedFontLst>
    <p:embeddedFont>
      <p:font typeface="Bebas Neue" panose="020B0604020202020204" charset="0"/>
      <p:regular r:id="rId42"/>
    </p:embeddedFont>
    <p:embeddedFont>
      <p:font typeface="Hepta Slab SemiBold" panose="020B0604020202020204" charset="0"/>
      <p:regular r:id="rId43"/>
      <p:bold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  <p:embeddedFont>
      <p:font typeface="Raleway Black" pitchFamily="2" charset="0"/>
      <p:bold r:id="rId49"/>
      <p:boldItalic r:id="rId50"/>
    </p:embeddedFont>
    <p:embeddedFont>
      <p:font typeface="Raleway ExtraBold" pitchFamily="2" charset="0"/>
      <p:bold r:id="rId51"/>
      <p:boldItalic r:id="rId52"/>
    </p:embeddedFont>
    <p:embeddedFont>
      <p:font typeface="Raleway SemiBold" pitchFamily="2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8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9C387E-20CA-451F-BF7C-5DC569EF3032}">
  <a:tblStyle styleId="{609C387E-20CA-451F-BF7C-5DC569EF30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" y="72"/>
      </p:cViewPr>
      <p:guideLst>
        <p:guide orient="horz" pos="58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0f1d6d777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0f1d6d777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0f1d6d777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0f1d6d777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8095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a558ccd6d5d264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a558ccd6d5d264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227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0f1d6d777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0f1d6d777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0f1d6d777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0f1d6d777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003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a558ccd6d5d264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a558ccd6d5d264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a558ccd6d5d264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a558ccd6d5d2642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174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a558ccd6d5d264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a558ccd6d5d2642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984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1a558ccd6d5d2642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1a558ccd6d5d2642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0906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646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779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57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1616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438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2431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7291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975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93846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229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a558ccd6d5d264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a558ccd6d5d264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a558ccd6d5d264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a558ccd6d5d264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9357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0543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5506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0f1d6d777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0f1d6d777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54619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4020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g1a558ccd6d5d2642_1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5" name="Google Shape;2185;g1a558ccd6d5d2642_1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1a558ccd6d5d2642_1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1a558ccd6d5d2642_1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432175"/>
            <a:ext cx="4762500" cy="21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378025"/>
            <a:ext cx="4762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333670" y="-733424"/>
            <a:ext cx="4762500" cy="1386000"/>
            <a:chOff x="-2333670" y="-733424"/>
            <a:chExt cx="4762500" cy="1386000"/>
          </a:xfrm>
        </p:grpSpPr>
        <p:sp>
          <p:nvSpPr>
            <p:cNvPr id="13" name="Google Shape;13;p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100925" y="4044894"/>
            <a:ext cx="39093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 rot="5400000" flipH="1">
            <a:off x="-2085979" y="-957899"/>
            <a:ext cx="4762500" cy="1386000"/>
            <a:chOff x="-2333670" y="-733424"/>
            <a:chExt cx="4762500" cy="1386000"/>
          </a:xfrm>
        </p:grpSpPr>
        <p:sp>
          <p:nvSpPr>
            <p:cNvPr id="23" name="Google Shape;23;p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 flipH="1">
            <a:off x="3945910" y="894337"/>
            <a:ext cx="42012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subTitle" idx="1"/>
          </p:nvPr>
        </p:nvSpPr>
        <p:spPr>
          <a:xfrm flipH="1">
            <a:off x="3945910" y="3188063"/>
            <a:ext cx="4201200" cy="10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 rot="5400000">
            <a:off x="2250370" y="-1655359"/>
            <a:ext cx="3589973" cy="1044767"/>
            <a:chOff x="-2333670" y="-733424"/>
            <a:chExt cx="4762500" cy="1386000"/>
          </a:xfrm>
        </p:grpSpPr>
        <p:sp>
          <p:nvSpPr>
            <p:cNvPr id="153" name="Google Shape;153;p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9"/>
          <p:cNvGrpSpPr/>
          <p:nvPr/>
        </p:nvGrpSpPr>
        <p:grpSpPr>
          <a:xfrm rot="10800000">
            <a:off x="7840483" y="4608491"/>
            <a:ext cx="3589973" cy="1044767"/>
            <a:chOff x="-2333670" y="-733424"/>
            <a:chExt cx="4762500" cy="1386000"/>
          </a:xfrm>
        </p:grpSpPr>
        <p:sp>
          <p:nvSpPr>
            <p:cNvPr id="158" name="Google Shape;158;p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" name="Google Shape;177;p13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178" name="Google Shape;178;p1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3"/>
          <p:cNvSpPr txBox="1">
            <a:spLocks noGrp="1"/>
          </p:cNvSpPr>
          <p:nvPr>
            <p:ph type="title" hasCustomPrompt="1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1"/>
          </p:nvPr>
        </p:nvSpPr>
        <p:spPr>
          <a:xfrm>
            <a:off x="4391025" y="1713425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2"/>
          </p:nvPr>
        </p:nvSpPr>
        <p:spPr>
          <a:xfrm>
            <a:off x="4391025" y="1331700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3"/>
          </p:nvPr>
        </p:nvSpPr>
        <p:spPr>
          <a:xfrm>
            <a:off x="3505200" y="535000"/>
            <a:ext cx="49185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title" idx="4" hasCustomPrompt="1"/>
          </p:nvPr>
        </p:nvSpPr>
        <p:spPr>
          <a:xfrm>
            <a:off x="3524525" y="4051550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5"/>
          </p:nvPr>
        </p:nvSpPr>
        <p:spPr>
          <a:xfrm>
            <a:off x="4391025" y="4295300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6"/>
          </p:nvPr>
        </p:nvSpPr>
        <p:spPr>
          <a:xfrm>
            <a:off x="4391025" y="3913700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7" hasCustomPrompt="1"/>
          </p:nvPr>
        </p:nvSpPr>
        <p:spPr>
          <a:xfrm>
            <a:off x="3524525" y="3196683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8"/>
          </p:nvPr>
        </p:nvSpPr>
        <p:spPr>
          <a:xfrm>
            <a:off x="4391025" y="3434675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9"/>
          </p:nvPr>
        </p:nvSpPr>
        <p:spPr>
          <a:xfrm>
            <a:off x="4391025" y="3053033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 idx="13" hasCustomPrompt="1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4"/>
          </p:nvPr>
        </p:nvSpPr>
        <p:spPr>
          <a:xfrm>
            <a:off x="4391025" y="2574050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5"/>
          </p:nvPr>
        </p:nvSpPr>
        <p:spPr>
          <a:xfrm>
            <a:off x="4391025" y="2192367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_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title"/>
          </p:nvPr>
        </p:nvSpPr>
        <p:spPr>
          <a:xfrm flipH="1">
            <a:off x="791307" y="2616238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91300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8" name="Google Shape;208;p15"/>
          <p:cNvSpPr txBox="1">
            <a:spLocks noGrp="1"/>
          </p:cNvSpPr>
          <p:nvPr>
            <p:ph type="subTitle" idx="1"/>
          </p:nvPr>
        </p:nvSpPr>
        <p:spPr>
          <a:xfrm flipH="1">
            <a:off x="791307" y="4073525"/>
            <a:ext cx="44622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15"/>
          <p:cNvGrpSpPr/>
          <p:nvPr/>
        </p:nvGrpSpPr>
        <p:grpSpPr>
          <a:xfrm rot="5400000">
            <a:off x="3212645" y="-1685309"/>
            <a:ext cx="3589973" cy="1044767"/>
            <a:chOff x="-2333670" y="-733424"/>
            <a:chExt cx="4762500" cy="1386000"/>
          </a:xfrm>
        </p:grpSpPr>
        <p:sp>
          <p:nvSpPr>
            <p:cNvPr id="211" name="Google Shape;211;p1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15"/>
          <p:cNvGrpSpPr/>
          <p:nvPr/>
        </p:nvGrpSpPr>
        <p:grpSpPr>
          <a:xfrm rot="10800000">
            <a:off x="-1155617" y="4741241"/>
            <a:ext cx="3589973" cy="1044767"/>
            <a:chOff x="-2333670" y="-733424"/>
            <a:chExt cx="4762500" cy="1386000"/>
          </a:xfrm>
        </p:grpSpPr>
        <p:sp>
          <p:nvSpPr>
            <p:cNvPr id="216" name="Google Shape;216;p1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6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title" idx="2" hasCustomPrompt="1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4" name="Google Shape;224;p16"/>
          <p:cNvSpPr txBox="1">
            <a:spLocks noGrp="1"/>
          </p:cNvSpPr>
          <p:nvPr>
            <p:ph type="subTitle" idx="1"/>
          </p:nvPr>
        </p:nvSpPr>
        <p:spPr>
          <a:xfrm>
            <a:off x="3892916" y="4073525"/>
            <a:ext cx="44622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16"/>
          <p:cNvGrpSpPr/>
          <p:nvPr/>
        </p:nvGrpSpPr>
        <p:grpSpPr>
          <a:xfrm rot="-5400000" flipH="1">
            <a:off x="2343805" y="-1685309"/>
            <a:ext cx="3589973" cy="1044767"/>
            <a:chOff x="-2333670" y="-733424"/>
            <a:chExt cx="4762500" cy="1386000"/>
          </a:xfrm>
        </p:grpSpPr>
        <p:sp>
          <p:nvSpPr>
            <p:cNvPr id="226" name="Google Shape;226;p1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6"/>
          <p:cNvGrpSpPr/>
          <p:nvPr/>
        </p:nvGrpSpPr>
        <p:grpSpPr>
          <a:xfrm rot="10800000" flipH="1">
            <a:off x="6712067" y="4741241"/>
            <a:ext cx="3589972" cy="1044767"/>
            <a:chOff x="-2333670" y="-733424"/>
            <a:chExt cx="4762500" cy="1386000"/>
          </a:xfrm>
        </p:grpSpPr>
        <p:sp>
          <p:nvSpPr>
            <p:cNvPr id="231" name="Google Shape;231;p1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9"/>
          <p:cNvGrpSpPr/>
          <p:nvPr/>
        </p:nvGrpSpPr>
        <p:grpSpPr>
          <a:xfrm rot="10800000" flipH="1">
            <a:off x="-3022375" y="154316"/>
            <a:ext cx="3589973" cy="1044767"/>
            <a:chOff x="-2333670" y="-733424"/>
            <a:chExt cx="4762500" cy="1386000"/>
          </a:xfrm>
        </p:grpSpPr>
        <p:sp>
          <p:nvSpPr>
            <p:cNvPr id="315" name="Google Shape;315;p1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" name="Google Shape;319;p1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3_1_1_1_1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23"/>
          <p:cNvGrpSpPr/>
          <p:nvPr/>
        </p:nvGrpSpPr>
        <p:grpSpPr>
          <a:xfrm rot="10800000">
            <a:off x="8576395" y="154391"/>
            <a:ext cx="3589973" cy="1044767"/>
            <a:chOff x="-2333670" y="-733424"/>
            <a:chExt cx="4762500" cy="1386000"/>
          </a:xfrm>
        </p:grpSpPr>
        <p:sp>
          <p:nvSpPr>
            <p:cNvPr id="360" name="Google Shape;360;p2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"/>
          <p:cNvSpPr txBox="1">
            <a:spLocks noGrp="1"/>
          </p:cNvSpPr>
          <p:nvPr>
            <p:ph type="body" idx="1"/>
          </p:nvPr>
        </p:nvSpPr>
        <p:spPr>
          <a:xfrm>
            <a:off x="720000" y="1152525"/>
            <a:ext cx="77040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6" name="Google Shape;396;p2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9" name="Google Shape;399;p26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400" name="Google Shape;400;p2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26"/>
          <p:cNvGrpSpPr/>
          <p:nvPr/>
        </p:nvGrpSpPr>
        <p:grpSpPr>
          <a:xfrm rot="10800000" flipH="1">
            <a:off x="-2936039" y="4487141"/>
            <a:ext cx="3589973" cy="1044767"/>
            <a:chOff x="-2333670" y="-733424"/>
            <a:chExt cx="4762500" cy="1386000"/>
          </a:xfrm>
        </p:grpSpPr>
        <p:sp>
          <p:nvSpPr>
            <p:cNvPr id="405" name="Google Shape;405;p2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29"/>
          <p:cNvSpPr txBox="1">
            <a:spLocks noGrp="1"/>
          </p:cNvSpPr>
          <p:nvPr>
            <p:ph type="subTitle" idx="1"/>
          </p:nvPr>
        </p:nvSpPr>
        <p:spPr>
          <a:xfrm>
            <a:off x="1781131" y="1827250"/>
            <a:ext cx="25959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0" name="Google Shape;450;p29"/>
          <p:cNvSpPr txBox="1">
            <a:spLocks noGrp="1"/>
          </p:cNvSpPr>
          <p:nvPr>
            <p:ph type="subTitle" idx="2"/>
          </p:nvPr>
        </p:nvSpPr>
        <p:spPr>
          <a:xfrm>
            <a:off x="1781156" y="2239325"/>
            <a:ext cx="25959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9"/>
          <p:cNvSpPr txBox="1">
            <a:spLocks noGrp="1"/>
          </p:cNvSpPr>
          <p:nvPr>
            <p:ph type="subTitle" idx="3"/>
          </p:nvPr>
        </p:nvSpPr>
        <p:spPr>
          <a:xfrm>
            <a:off x="4762469" y="1827250"/>
            <a:ext cx="26004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2" name="Google Shape;452;p29"/>
          <p:cNvSpPr txBox="1">
            <a:spLocks noGrp="1"/>
          </p:cNvSpPr>
          <p:nvPr>
            <p:ph type="subTitle" idx="4"/>
          </p:nvPr>
        </p:nvSpPr>
        <p:spPr>
          <a:xfrm>
            <a:off x="4762469" y="2239325"/>
            <a:ext cx="26004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29"/>
          <p:cNvSpPr txBox="1">
            <a:spLocks noGrp="1"/>
          </p:cNvSpPr>
          <p:nvPr>
            <p:ph type="subTitle" idx="5"/>
          </p:nvPr>
        </p:nvSpPr>
        <p:spPr>
          <a:xfrm>
            <a:off x="1781131" y="3349525"/>
            <a:ext cx="25959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4" name="Google Shape;454;p29"/>
          <p:cNvSpPr txBox="1">
            <a:spLocks noGrp="1"/>
          </p:cNvSpPr>
          <p:nvPr>
            <p:ph type="subTitle" idx="6"/>
          </p:nvPr>
        </p:nvSpPr>
        <p:spPr>
          <a:xfrm>
            <a:off x="1781156" y="3761600"/>
            <a:ext cx="25959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29"/>
          <p:cNvSpPr txBox="1">
            <a:spLocks noGrp="1"/>
          </p:cNvSpPr>
          <p:nvPr>
            <p:ph type="subTitle" idx="7"/>
          </p:nvPr>
        </p:nvSpPr>
        <p:spPr>
          <a:xfrm>
            <a:off x="4762469" y="3349525"/>
            <a:ext cx="26004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6" name="Google Shape;456;p29"/>
          <p:cNvSpPr txBox="1">
            <a:spLocks noGrp="1"/>
          </p:cNvSpPr>
          <p:nvPr>
            <p:ph type="subTitle" idx="8"/>
          </p:nvPr>
        </p:nvSpPr>
        <p:spPr>
          <a:xfrm>
            <a:off x="4762469" y="3761600"/>
            <a:ext cx="26004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9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9" name="Google Shape;459;p29"/>
          <p:cNvGrpSpPr/>
          <p:nvPr/>
        </p:nvGrpSpPr>
        <p:grpSpPr>
          <a:xfrm rot="5400000">
            <a:off x="-1674992" y="-1285259"/>
            <a:ext cx="3589973" cy="1044767"/>
            <a:chOff x="-2333670" y="-733424"/>
            <a:chExt cx="4762500" cy="1386000"/>
          </a:xfrm>
        </p:grpSpPr>
        <p:sp>
          <p:nvSpPr>
            <p:cNvPr id="460" name="Google Shape;460;p2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5"/>
          <p:cNvSpPr txBox="1">
            <a:spLocks noGrp="1"/>
          </p:cNvSpPr>
          <p:nvPr>
            <p:ph type="ctrTitle"/>
          </p:nvPr>
        </p:nvSpPr>
        <p:spPr>
          <a:xfrm>
            <a:off x="4204850" y="535025"/>
            <a:ext cx="38004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2" name="Google Shape;582;p35"/>
          <p:cNvSpPr txBox="1">
            <a:spLocks noGrp="1"/>
          </p:cNvSpPr>
          <p:nvPr>
            <p:ph type="subTitle" idx="1"/>
          </p:nvPr>
        </p:nvSpPr>
        <p:spPr>
          <a:xfrm>
            <a:off x="4200525" y="1447825"/>
            <a:ext cx="3809400" cy="11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3" name="Google Shape;583;p35"/>
          <p:cNvSpPr txBox="1"/>
          <p:nvPr/>
        </p:nvSpPr>
        <p:spPr>
          <a:xfrm>
            <a:off x="4200525" y="3581425"/>
            <a:ext cx="3809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p35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5" name="Google Shape;585;p35"/>
          <p:cNvGrpSpPr/>
          <p:nvPr/>
        </p:nvGrpSpPr>
        <p:grpSpPr>
          <a:xfrm rot="5400000">
            <a:off x="6496005" y="-1319374"/>
            <a:ext cx="4762500" cy="1386000"/>
            <a:chOff x="-2333670" y="-733424"/>
            <a:chExt cx="4762500" cy="1386000"/>
          </a:xfrm>
        </p:grpSpPr>
        <p:sp>
          <p:nvSpPr>
            <p:cNvPr id="586" name="Google Shape;586;p3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35"/>
          <p:cNvGrpSpPr/>
          <p:nvPr/>
        </p:nvGrpSpPr>
        <p:grpSpPr>
          <a:xfrm rot="10800000" flipH="1">
            <a:off x="4310239" y="4754891"/>
            <a:ext cx="3589973" cy="1044767"/>
            <a:chOff x="-2333670" y="-733424"/>
            <a:chExt cx="4762500" cy="1386000"/>
          </a:xfrm>
        </p:grpSpPr>
        <p:sp>
          <p:nvSpPr>
            <p:cNvPr id="591" name="Google Shape;591;p3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36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597" name="Google Shape;597;p3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36"/>
          <p:cNvGrpSpPr/>
          <p:nvPr/>
        </p:nvGrpSpPr>
        <p:grpSpPr>
          <a:xfrm rot="10800000">
            <a:off x="8581308" y="372341"/>
            <a:ext cx="3589973" cy="1044767"/>
            <a:chOff x="-2333670" y="-733424"/>
            <a:chExt cx="4762500" cy="1386000"/>
          </a:xfrm>
        </p:grpSpPr>
        <p:sp>
          <p:nvSpPr>
            <p:cNvPr id="602" name="Google Shape;602;p3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6" name="Google Shape;606;p36"/>
          <p:cNvSpPr/>
          <p:nvPr/>
        </p:nvSpPr>
        <p:spPr>
          <a:xfrm rot="5400000">
            <a:off x="4435950" y="416400"/>
            <a:ext cx="291300" cy="9162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7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0" name="Google Shape;610;p37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611" name="Google Shape;611;p3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8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8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618" name="Google Shape;618;p38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9"/>
          <p:cNvSpPr/>
          <p:nvPr/>
        </p:nvSpPr>
        <p:spPr>
          <a:xfrm flipH="1">
            <a:off x="-21389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4" name="Google Shape;624;p39"/>
          <p:cNvGrpSpPr/>
          <p:nvPr/>
        </p:nvGrpSpPr>
        <p:grpSpPr>
          <a:xfrm rot="-5400000" flipH="1">
            <a:off x="7360030" y="-1285259"/>
            <a:ext cx="3589973" cy="1044767"/>
            <a:chOff x="-2333670" y="-733424"/>
            <a:chExt cx="4762500" cy="1386000"/>
          </a:xfrm>
        </p:grpSpPr>
        <p:sp>
          <p:nvSpPr>
            <p:cNvPr id="625" name="Google Shape;625;p3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1" r:id="rId6"/>
    <p:sldLayoutId id="2147483662" r:id="rId7"/>
    <p:sldLayoutId id="2147483665" r:id="rId8"/>
    <p:sldLayoutId id="2147483669" r:id="rId9"/>
    <p:sldLayoutId id="2147483672" r:id="rId10"/>
    <p:sldLayoutId id="2147483675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3"/>
          <p:cNvSpPr/>
          <p:nvPr/>
        </p:nvSpPr>
        <p:spPr>
          <a:xfrm>
            <a:off x="5914800" y="-14250"/>
            <a:ext cx="3229200" cy="3600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3"/>
          <p:cNvSpPr/>
          <p:nvPr/>
        </p:nvSpPr>
        <p:spPr>
          <a:xfrm>
            <a:off x="5914800" y="3586200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3"/>
          <p:cNvSpPr txBox="1">
            <a:spLocks noGrp="1"/>
          </p:cNvSpPr>
          <p:nvPr>
            <p:ph type="ctrTitle"/>
          </p:nvPr>
        </p:nvSpPr>
        <p:spPr>
          <a:xfrm>
            <a:off x="715099" y="1432175"/>
            <a:ext cx="5064555" cy="21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Black"/>
                <a:ea typeface="Raleway Black"/>
                <a:cs typeface="Raleway Black"/>
                <a:sym typeface="Raleway Black"/>
              </a:rPr>
              <a:t>EINES DE DISSENY</a:t>
            </a:r>
            <a:br>
              <a:rPr lang="en" dirty="0">
                <a:latin typeface="Raleway Black"/>
                <a:ea typeface="Raleway Black"/>
                <a:cs typeface="Raleway Black"/>
                <a:sym typeface="Raleway Black"/>
              </a:rPr>
            </a:br>
            <a:r>
              <a:rPr lang="en" sz="2000" dirty="0">
                <a:latin typeface="Raleway SemiBold"/>
                <a:ea typeface="Raleway SemiBold"/>
                <a:cs typeface="Raleway SemiBold"/>
                <a:sym typeface="Raleway SemiBold"/>
              </a:rPr>
              <a:t>PROJECTE: GRUP D TARDA (SEIENTS)</a:t>
            </a:r>
            <a:endParaRPr sz="2000" dirty="0">
              <a:solidFill>
                <a:schemeClr val="accen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642" name="Google Shape;642;p43"/>
          <p:cNvSpPr txBox="1">
            <a:spLocks noGrp="1"/>
          </p:cNvSpPr>
          <p:nvPr>
            <p:ph type="subTitle" idx="1"/>
          </p:nvPr>
        </p:nvSpPr>
        <p:spPr>
          <a:xfrm>
            <a:off x="3282567" y="3437089"/>
            <a:ext cx="4762500" cy="835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Joan Martínez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Joan Heras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Manel Frías</a:t>
            </a:r>
            <a:endParaRPr dirty="0"/>
          </a:p>
        </p:txBody>
      </p:sp>
      <p:grpSp>
        <p:nvGrpSpPr>
          <p:cNvPr id="643" name="Google Shape;643;p43"/>
          <p:cNvGrpSpPr/>
          <p:nvPr/>
        </p:nvGrpSpPr>
        <p:grpSpPr>
          <a:xfrm rot="5400000">
            <a:off x="3335158" y="5364916"/>
            <a:ext cx="3589973" cy="1044767"/>
            <a:chOff x="-2333670" y="-733424"/>
            <a:chExt cx="4762500" cy="1386000"/>
          </a:xfrm>
        </p:grpSpPr>
        <p:sp>
          <p:nvSpPr>
            <p:cNvPr id="644" name="Google Shape;644;p4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8" name="Google Shape;648;p43"/>
          <p:cNvGrpSpPr/>
          <p:nvPr/>
        </p:nvGrpSpPr>
        <p:grpSpPr>
          <a:xfrm>
            <a:off x="6679763" y="256500"/>
            <a:ext cx="1699272" cy="3059081"/>
            <a:chOff x="6679763" y="256500"/>
            <a:chExt cx="1699272" cy="3059081"/>
          </a:xfrm>
        </p:grpSpPr>
        <p:sp>
          <p:nvSpPr>
            <p:cNvPr id="649" name="Google Shape;649;p43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3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3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3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3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3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3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3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3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3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3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3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3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3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3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3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3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8" name="Google Shape;668;p43"/>
          <p:cNvGrpSpPr/>
          <p:nvPr/>
        </p:nvGrpSpPr>
        <p:grpSpPr>
          <a:xfrm>
            <a:off x="6280093" y="3800476"/>
            <a:ext cx="2498613" cy="1123948"/>
            <a:chOff x="6237531" y="3846675"/>
            <a:chExt cx="2498613" cy="1123948"/>
          </a:xfrm>
        </p:grpSpPr>
        <p:sp>
          <p:nvSpPr>
            <p:cNvPr id="669" name="Google Shape;669;p43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3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3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3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3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3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3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3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3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3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679;p43"/>
          <p:cNvGrpSpPr/>
          <p:nvPr/>
        </p:nvGrpSpPr>
        <p:grpSpPr>
          <a:xfrm rot="5400000">
            <a:off x="790490" y="3751532"/>
            <a:ext cx="753870" cy="1744297"/>
            <a:chOff x="5088650" y="245050"/>
            <a:chExt cx="1046025" cy="2420282"/>
          </a:xfrm>
        </p:grpSpPr>
        <p:sp>
          <p:nvSpPr>
            <p:cNvPr id="680" name="Google Shape;680;p43"/>
            <p:cNvSpPr/>
            <p:nvPr/>
          </p:nvSpPr>
          <p:spPr>
            <a:xfrm>
              <a:off x="5547343" y="1580799"/>
              <a:ext cx="128662" cy="108453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3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43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687" name="Google Shape;687;p43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5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5"/>
          <p:cNvSpPr/>
          <p:nvPr/>
        </p:nvSpPr>
        <p:spPr>
          <a:xfrm>
            <a:off x="3636425" y="1349100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5"/>
          <p:cNvSpPr/>
          <p:nvPr/>
        </p:nvSpPr>
        <p:spPr>
          <a:xfrm>
            <a:off x="3636425" y="2203963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5"/>
          <p:cNvSpPr/>
          <p:nvPr/>
        </p:nvSpPr>
        <p:spPr>
          <a:xfrm>
            <a:off x="3636425" y="3058825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5"/>
          <p:cNvSpPr/>
          <p:nvPr/>
        </p:nvSpPr>
        <p:spPr>
          <a:xfrm>
            <a:off x="3636425" y="3913688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5"/>
          <p:cNvSpPr txBox="1">
            <a:spLocks noGrp="1"/>
          </p:cNvSpPr>
          <p:nvPr>
            <p:ph type="title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4" name="Google Shape;714;p45"/>
          <p:cNvSpPr txBox="1">
            <a:spLocks noGrp="1"/>
          </p:cNvSpPr>
          <p:nvPr>
            <p:ph type="subTitle" idx="2"/>
          </p:nvPr>
        </p:nvSpPr>
        <p:spPr>
          <a:xfrm>
            <a:off x="4391025" y="1450451"/>
            <a:ext cx="4610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OBJECTIUS DEL PROJECTE</a:t>
            </a:r>
          </a:p>
        </p:txBody>
      </p:sp>
      <p:sp>
        <p:nvSpPr>
          <p:cNvPr id="715" name="Google Shape;715;p45"/>
          <p:cNvSpPr txBox="1">
            <a:spLocks noGrp="1"/>
          </p:cNvSpPr>
          <p:nvPr>
            <p:ph type="title" idx="3"/>
          </p:nvPr>
        </p:nvSpPr>
        <p:spPr>
          <a:xfrm>
            <a:off x="3505200" y="535000"/>
            <a:ext cx="4918500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CONTINGUTS</a:t>
            </a:r>
            <a:endParaRPr dirty="0"/>
          </a:p>
        </p:txBody>
      </p:sp>
      <p:sp>
        <p:nvSpPr>
          <p:cNvPr id="716" name="Google Shape;716;p45"/>
          <p:cNvSpPr txBox="1">
            <a:spLocks noGrp="1"/>
          </p:cNvSpPr>
          <p:nvPr>
            <p:ph type="title" idx="4"/>
          </p:nvPr>
        </p:nvSpPr>
        <p:spPr>
          <a:xfrm>
            <a:off x="3524525" y="40515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18" name="Google Shape;718;p45"/>
          <p:cNvSpPr txBox="1">
            <a:spLocks noGrp="1"/>
          </p:cNvSpPr>
          <p:nvPr>
            <p:ph type="subTitle" idx="6"/>
          </p:nvPr>
        </p:nvSpPr>
        <p:spPr>
          <a:xfrm>
            <a:off x="4443125" y="4047537"/>
            <a:ext cx="40380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SIMULACIONS</a:t>
            </a:r>
            <a:endParaRPr dirty="0"/>
          </a:p>
        </p:txBody>
      </p:sp>
      <p:sp>
        <p:nvSpPr>
          <p:cNvPr id="719" name="Google Shape;719;p45"/>
          <p:cNvSpPr txBox="1">
            <a:spLocks noGrp="1"/>
          </p:cNvSpPr>
          <p:nvPr>
            <p:ph type="title" idx="7"/>
          </p:nvPr>
        </p:nvSpPr>
        <p:spPr>
          <a:xfrm>
            <a:off x="3524525" y="3196683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9"/>
          </p:nvPr>
        </p:nvSpPr>
        <p:spPr>
          <a:xfrm>
            <a:off x="4423172" y="3175350"/>
            <a:ext cx="4545806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ESQUEMÀTIC </a:t>
            </a:r>
            <a:r>
              <a:rPr lang="es-ES" sz="2300" dirty="0"/>
              <a:t>I</a:t>
            </a:r>
            <a:r>
              <a:rPr lang="en" sz="2300" dirty="0"/>
              <a:t> COMPONENTS</a:t>
            </a:r>
            <a:endParaRPr sz="2300" dirty="0"/>
          </a:p>
        </p:txBody>
      </p:sp>
      <p:sp>
        <p:nvSpPr>
          <p:cNvPr id="722" name="Google Shape;722;p45"/>
          <p:cNvSpPr txBox="1">
            <a:spLocks noGrp="1"/>
          </p:cNvSpPr>
          <p:nvPr>
            <p:ph type="title" idx="13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24" name="Google Shape;724;p45"/>
          <p:cNvSpPr txBox="1">
            <a:spLocks noGrp="1"/>
          </p:cNvSpPr>
          <p:nvPr>
            <p:ph type="subTitle" idx="15"/>
          </p:nvPr>
        </p:nvSpPr>
        <p:spPr>
          <a:xfrm>
            <a:off x="4428837" y="2322638"/>
            <a:ext cx="40380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DIAGRAMA DE BLOCS</a:t>
            </a:r>
          </a:p>
        </p:txBody>
      </p:sp>
      <p:grpSp>
        <p:nvGrpSpPr>
          <p:cNvPr id="725" name="Google Shape;725;p45"/>
          <p:cNvGrpSpPr/>
          <p:nvPr/>
        </p:nvGrpSpPr>
        <p:grpSpPr>
          <a:xfrm>
            <a:off x="909222" y="328500"/>
            <a:ext cx="1416152" cy="3644700"/>
            <a:chOff x="913822" y="341700"/>
            <a:chExt cx="1416152" cy="3644700"/>
          </a:xfrm>
        </p:grpSpPr>
        <p:grpSp>
          <p:nvGrpSpPr>
            <p:cNvPr id="726" name="Google Shape;726;p45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727" name="Google Shape;727;p45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5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5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5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1" name="Google Shape;731;p45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732" name="Google Shape;732;p45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5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835" extrusionOk="0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45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735" name="Google Shape;735;p45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5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7" extrusionOk="0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45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738" name="Google Shape;738;p45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5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1836" extrusionOk="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45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741" name="Google Shape;741;p45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5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5" extrusionOk="0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45"/>
          <p:cNvGrpSpPr/>
          <p:nvPr/>
        </p:nvGrpSpPr>
        <p:grpSpPr>
          <a:xfrm>
            <a:off x="840503" y="978572"/>
            <a:ext cx="1548193" cy="2344555"/>
            <a:chOff x="874813" y="1108300"/>
            <a:chExt cx="1488647" cy="2254380"/>
          </a:xfrm>
        </p:grpSpPr>
        <p:sp>
          <p:nvSpPr>
            <p:cNvPr id="744" name="Google Shape;744;p45"/>
            <p:cNvSpPr/>
            <p:nvPr/>
          </p:nvSpPr>
          <p:spPr>
            <a:xfrm>
              <a:off x="1297461" y="2636239"/>
              <a:ext cx="644809" cy="563115"/>
            </a:xfrm>
            <a:custGeom>
              <a:avLst/>
              <a:gdLst/>
              <a:ahLst/>
              <a:cxnLst/>
              <a:rect l="l" t="t" r="r" b="b"/>
              <a:pathLst>
                <a:path w="14310" h="12497" extrusionOk="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5"/>
            <p:cNvSpPr/>
            <p:nvPr/>
          </p:nvSpPr>
          <p:spPr>
            <a:xfrm>
              <a:off x="1297461" y="3199338"/>
              <a:ext cx="644809" cy="163343"/>
            </a:xfrm>
            <a:custGeom>
              <a:avLst/>
              <a:gdLst/>
              <a:ahLst/>
              <a:cxnLst/>
              <a:rect l="l" t="t" r="r" b="b"/>
              <a:pathLst>
                <a:path w="14310" h="3625" extrusionOk="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5"/>
            <p:cNvSpPr/>
            <p:nvPr/>
          </p:nvSpPr>
          <p:spPr>
            <a:xfrm>
              <a:off x="874813" y="1108300"/>
              <a:ext cx="1488647" cy="1698266"/>
            </a:xfrm>
            <a:custGeom>
              <a:avLst/>
              <a:gdLst/>
              <a:ahLst/>
              <a:cxnLst/>
              <a:rect l="l" t="t" r="r" b="b"/>
              <a:pathLst>
                <a:path w="33037" h="37689" extrusionOk="0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5"/>
            <p:cNvSpPr/>
            <p:nvPr/>
          </p:nvSpPr>
          <p:spPr>
            <a:xfrm>
              <a:off x="1324857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5"/>
            <p:cNvSpPr/>
            <p:nvPr/>
          </p:nvSpPr>
          <p:spPr>
            <a:xfrm>
              <a:off x="1619854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" name="Google Shape;749;p45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750" name="Google Shape;750;p45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5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5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5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5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5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5"/>
          <p:cNvSpPr/>
          <p:nvPr/>
        </p:nvSpPr>
        <p:spPr>
          <a:xfrm>
            <a:off x="3636425" y="1349100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5"/>
          <p:cNvSpPr/>
          <p:nvPr/>
        </p:nvSpPr>
        <p:spPr>
          <a:xfrm>
            <a:off x="3636425" y="2203963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5"/>
          <p:cNvSpPr/>
          <p:nvPr/>
        </p:nvSpPr>
        <p:spPr>
          <a:xfrm>
            <a:off x="3636425" y="3058825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5"/>
          <p:cNvSpPr txBox="1">
            <a:spLocks noGrp="1"/>
          </p:cNvSpPr>
          <p:nvPr>
            <p:ph type="title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14" name="Google Shape;714;p45"/>
          <p:cNvSpPr txBox="1">
            <a:spLocks noGrp="1"/>
          </p:cNvSpPr>
          <p:nvPr>
            <p:ph type="subTitle" idx="2"/>
          </p:nvPr>
        </p:nvSpPr>
        <p:spPr>
          <a:xfrm>
            <a:off x="4391025" y="1450451"/>
            <a:ext cx="4610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LAYOUT I PCB</a:t>
            </a:r>
          </a:p>
        </p:txBody>
      </p:sp>
      <p:sp>
        <p:nvSpPr>
          <p:cNvPr id="719" name="Google Shape;719;p45"/>
          <p:cNvSpPr txBox="1">
            <a:spLocks noGrp="1"/>
          </p:cNvSpPr>
          <p:nvPr>
            <p:ph type="title" idx="7"/>
          </p:nvPr>
        </p:nvSpPr>
        <p:spPr>
          <a:xfrm>
            <a:off x="3524525" y="3196683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9"/>
          </p:nvPr>
        </p:nvSpPr>
        <p:spPr>
          <a:xfrm>
            <a:off x="4423172" y="3175350"/>
            <a:ext cx="4545806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RESOURCES</a:t>
            </a:r>
            <a:endParaRPr sz="2300" dirty="0"/>
          </a:p>
        </p:txBody>
      </p:sp>
      <p:sp>
        <p:nvSpPr>
          <p:cNvPr id="722" name="Google Shape;722;p45"/>
          <p:cNvSpPr txBox="1">
            <a:spLocks noGrp="1"/>
          </p:cNvSpPr>
          <p:nvPr>
            <p:ph type="title" idx="13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724" name="Google Shape;724;p45"/>
          <p:cNvSpPr txBox="1">
            <a:spLocks noGrp="1"/>
          </p:cNvSpPr>
          <p:nvPr>
            <p:ph type="subTitle" idx="15"/>
          </p:nvPr>
        </p:nvSpPr>
        <p:spPr>
          <a:xfrm>
            <a:off x="4428837" y="2322638"/>
            <a:ext cx="40380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BOM I PRESSUPOST</a:t>
            </a:r>
          </a:p>
        </p:txBody>
      </p:sp>
      <p:grpSp>
        <p:nvGrpSpPr>
          <p:cNvPr id="725" name="Google Shape;725;p45"/>
          <p:cNvGrpSpPr/>
          <p:nvPr/>
        </p:nvGrpSpPr>
        <p:grpSpPr>
          <a:xfrm>
            <a:off x="909222" y="328500"/>
            <a:ext cx="1416152" cy="3644700"/>
            <a:chOff x="913822" y="341700"/>
            <a:chExt cx="1416152" cy="3644700"/>
          </a:xfrm>
        </p:grpSpPr>
        <p:grpSp>
          <p:nvGrpSpPr>
            <p:cNvPr id="726" name="Google Shape;726;p45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727" name="Google Shape;727;p45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5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5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5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1" name="Google Shape;731;p45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732" name="Google Shape;732;p45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5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835" extrusionOk="0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45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735" name="Google Shape;735;p45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5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7" extrusionOk="0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45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738" name="Google Shape;738;p45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5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1836" extrusionOk="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45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741" name="Google Shape;741;p45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5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5" extrusionOk="0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45"/>
          <p:cNvGrpSpPr/>
          <p:nvPr/>
        </p:nvGrpSpPr>
        <p:grpSpPr>
          <a:xfrm>
            <a:off x="840503" y="978572"/>
            <a:ext cx="1548193" cy="2344555"/>
            <a:chOff x="874813" y="1108300"/>
            <a:chExt cx="1488647" cy="2254380"/>
          </a:xfrm>
        </p:grpSpPr>
        <p:sp>
          <p:nvSpPr>
            <p:cNvPr id="744" name="Google Shape;744;p45"/>
            <p:cNvSpPr/>
            <p:nvPr/>
          </p:nvSpPr>
          <p:spPr>
            <a:xfrm>
              <a:off x="1297461" y="2636239"/>
              <a:ext cx="644809" cy="563115"/>
            </a:xfrm>
            <a:custGeom>
              <a:avLst/>
              <a:gdLst/>
              <a:ahLst/>
              <a:cxnLst/>
              <a:rect l="l" t="t" r="r" b="b"/>
              <a:pathLst>
                <a:path w="14310" h="12497" extrusionOk="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5"/>
            <p:cNvSpPr/>
            <p:nvPr/>
          </p:nvSpPr>
          <p:spPr>
            <a:xfrm>
              <a:off x="1297461" y="3199338"/>
              <a:ext cx="644809" cy="163343"/>
            </a:xfrm>
            <a:custGeom>
              <a:avLst/>
              <a:gdLst/>
              <a:ahLst/>
              <a:cxnLst/>
              <a:rect l="l" t="t" r="r" b="b"/>
              <a:pathLst>
                <a:path w="14310" h="3625" extrusionOk="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5"/>
            <p:cNvSpPr/>
            <p:nvPr/>
          </p:nvSpPr>
          <p:spPr>
            <a:xfrm>
              <a:off x="874813" y="1108300"/>
              <a:ext cx="1488647" cy="1698266"/>
            </a:xfrm>
            <a:custGeom>
              <a:avLst/>
              <a:gdLst/>
              <a:ahLst/>
              <a:cxnLst/>
              <a:rect l="l" t="t" r="r" b="b"/>
              <a:pathLst>
                <a:path w="33037" h="37689" extrusionOk="0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5"/>
            <p:cNvSpPr/>
            <p:nvPr/>
          </p:nvSpPr>
          <p:spPr>
            <a:xfrm>
              <a:off x="1324857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5"/>
            <p:cNvSpPr/>
            <p:nvPr/>
          </p:nvSpPr>
          <p:spPr>
            <a:xfrm>
              <a:off x="1619854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" name="Google Shape;749;p45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750" name="Google Shape;750;p45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5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5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5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5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6424568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7"/>
          <p:cNvGrpSpPr/>
          <p:nvPr/>
        </p:nvGrpSpPr>
        <p:grpSpPr>
          <a:xfrm flipH="1">
            <a:off x="5914770" y="91"/>
            <a:ext cx="3229223" cy="820210"/>
            <a:chOff x="5914788" y="4092325"/>
            <a:chExt cx="3229223" cy="1032360"/>
          </a:xfrm>
        </p:grpSpPr>
        <p:sp>
          <p:nvSpPr>
            <p:cNvPr id="778" name="Google Shape;778;p47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7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7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" name="Google Shape;803;p47"/>
          <p:cNvSpPr/>
          <p:nvPr/>
        </p:nvSpPr>
        <p:spPr>
          <a:xfrm flipH="1">
            <a:off x="5914780" y="781075"/>
            <a:ext cx="3229200" cy="3520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47"/>
          <p:cNvSpPr/>
          <p:nvPr/>
        </p:nvSpPr>
        <p:spPr>
          <a:xfrm flipH="1">
            <a:off x="5914780" y="4301738"/>
            <a:ext cx="3229200" cy="84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2159175" y="6684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7"/>
          <p:cNvSpPr txBox="1">
            <a:spLocks noGrp="1"/>
          </p:cNvSpPr>
          <p:nvPr>
            <p:ph type="title" idx="2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08" name="Google Shape;808;p47"/>
          <p:cNvSpPr txBox="1">
            <a:spLocks noGrp="1"/>
          </p:cNvSpPr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latin typeface="Raleway ExtraBold"/>
                <a:ea typeface="Raleway ExtraBold"/>
                <a:cs typeface="Raleway ExtraBold"/>
                <a:sym typeface="Raleway ExtraBold"/>
              </a:rPr>
              <a:t>OBJECTIUS DEL PROJECTE</a:t>
            </a:r>
            <a:endParaRPr lang="es-ES" sz="4000" dirty="0"/>
          </a:p>
        </p:txBody>
      </p:sp>
      <p:grpSp>
        <p:nvGrpSpPr>
          <p:cNvPr id="809" name="Google Shape;809;p47"/>
          <p:cNvGrpSpPr/>
          <p:nvPr/>
        </p:nvGrpSpPr>
        <p:grpSpPr>
          <a:xfrm flipH="1">
            <a:off x="7064394" y="766804"/>
            <a:ext cx="910812" cy="1660393"/>
            <a:chOff x="-2015525" y="1207150"/>
            <a:chExt cx="1253526" cy="2285783"/>
          </a:xfrm>
        </p:grpSpPr>
        <p:sp>
          <p:nvSpPr>
            <p:cNvPr id="810" name="Google Shape;810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47"/>
          <p:cNvGrpSpPr/>
          <p:nvPr/>
        </p:nvGrpSpPr>
        <p:grpSpPr>
          <a:xfrm rot="10800000" flipH="1">
            <a:off x="7064394" y="2641324"/>
            <a:ext cx="910812" cy="1660393"/>
            <a:chOff x="-2015525" y="1207150"/>
            <a:chExt cx="1253526" cy="2285783"/>
          </a:xfrm>
        </p:grpSpPr>
        <p:sp>
          <p:nvSpPr>
            <p:cNvPr id="817" name="Google Shape;817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47"/>
          <p:cNvGrpSpPr/>
          <p:nvPr/>
        </p:nvGrpSpPr>
        <p:grpSpPr>
          <a:xfrm flipH="1">
            <a:off x="6086153" y="4429063"/>
            <a:ext cx="2867297" cy="587084"/>
            <a:chOff x="207675" y="127350"/>
            <a:chExt cx="2867297" cy="587084"/>
          </a:xfrm>
        </p:grpSpPr>
        <p:grpSp>
          <p:nvGrpSpPr>
            <p:cNvPr id="824" name="Google Shape;824;p47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825" name="Google Shape;825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7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7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7" name="Google Shape;837;p47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838" name="Google Shape;838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6" name="Google Shape;846;p47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847" name="Google Shape;847;p47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9660488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8"/>
          <p:cNvSpPr/>
          <p:nvPr/>
        </p:nvSpPr>
        <p:spPr>
          <a:xfrm>
            <a:off x="0" y="-4725"/>
            <a:ext cx="3229200" cy="360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8" name="Google Shape;858;p48"/>
          <p:cNvGrpSpPr/>
          <p:nvPr/>
        </p:nvGrpSpPr>
        <p:grpSpPr>
          <a:xfrm>
            <a:off x="587051" y="-4725"/>
            <a:ext cx="2055103" cy="3600596"/>
            <a:chOff x="715100" y="0"/>
            <a:chExt cx="2055103" cy="3600596"/>
          </a:xfrm>
        </p:grpSpPr>
        <p:sp>
          <p:nvSpPr>
            <p:cNvPr id="859" name="Google Shape;859;p48"/>
            <p:cNvSpPr/>
            <p:nvPr/>
          </p:nvSpPr>
          <p:spPr>
            <a:xfrm>
              <a:off x="715100" y="0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1" y="1"/>
                  </a:moveTo>
                  <a:lnTo>
                    <a:pt x="25182" y="51566"/>
                  </a:lnTo>
                  <a:lnTo>
                    <a:pt x="503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715100" y="1496445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25182" y="1"/>
                  </a:moveTo>
                  <a:lnTo>
                    <a:pt x="1" y="51565"/>
                  </a:lnTo>
                  <a:lnTo>
                    <a:pt x="50364" y="51565"/>
                  </a:lnTo>
                  <a:lnTo>
                    <a:pt x="251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48"/>
          <p:cNvSpPr/>
          <p:nvPr/>
        </p:nvSpPr>
        <p:spPr>
          <a:xfrm>
            <a:off x="0" y="3595725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48"/>
          <p:cNvSpPr txBox="1">
            <a:spLocks noGrp="1"/>
          </p:cNvSpPr>
          <p:nvPr>
            <p:ph type="title"/>
          </p:nvPr>
        </p:nvSpPr>
        <p:spPr>
          <a:xfrm flipH="1">
            <a:off x="3945910" y="665737"/>
            <a:ext cx="42012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OBJECTIUS DEL PROJECTE </a:t>
            </a:r>
            <a:r>
              <a:rPr lang="en" sz="3600" dirty="0">
                <a:latin typeface="Raleway SemiBold"/>
                <a:ea typeface="Raleway SemiBold"/>
                <a:cs typeface="Raleway SemiBold"/>
                <a:sym typeface="Raleway SemiBold"/>
              </a:rPr>
              <a:t>(Característiques):</a:t>
            </a:r>
            <a:endParaRPr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864" name="Google Shape;864;p48"/>
          <p:cNvGrpSpPr/>
          <p:nvPr/>
        </p:nvGrpSpPr>
        <p:grpSpPr>
          <a:xfrm flipH="1">
            <a:off x="365293" y="3810001"/>
            <a:ext cx="2498613" cy="1123948"/>
            <a:chOff x="6237531" y="3846675"/>
            <a:chExt cx="2498613" cy="1123948"/>
          </a:xfrm>
        </p:grpSpPr>
        <p:sp>
          <p:nvSpPr>
            <p:cNvPr id="865" name="Google Shape;865;p48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8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8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8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8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8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48"/>
          <p:cNvGrpSpPr/>
          <p:nvPr/>
        </p:nvGrpSpPr>
        <p:grpSpPr>
          <a:xfrm>
            <a:off x="838451" y="522313"/>
            <a:ext cx="1552263" cy="2546518"/>
            <a:chOff x="966500" y="527038"/>
            <a:chExt cx="1552263" cy="2546518"/>
          </a:xfrm>
        </p:grpSpPr>
        <p:sp>
          <p:nvSpPr>
            <p:cNvPr id="876" name="Google Shape;876;p48"/>
            <p:cNvSpPr/>
            <p:nvPr/>
          </p:nvSpPr>
          <p:spPr>
            <a:xfrm>
              <a:off x="977844" y="539974"/>
              <a:ext cx="1529616" cy="2520647"/>
            </a:xfrm>
            <a:custGeom>
              <a:avLst/>
              <a:gdLst/>
              <a:ahLst/>
              <a:cxnLst/>
              <a:rect l="l" t="t" r="r" b="b"/>
              <a:pathLst>
                <a:path w="37486" h="61773" extrusionOk="0">
                  <a:moveTo>
                    <a:pt x="18743" y="1"/>
                  </a:moveTo>
                  <a:lnTo>
                    <a:pt x="18608" y="75"/>
                  </a:lnTo>
                  <a:cubicBezTo>
                    <a:pt x="13054" y="3146"/>
                    <a:pt x="8394" y="7562"/>
                    <a:pt x="5134" y="12847"/>
                  </a:cubicBezTo>
                  <a:cubicBezTo>
                    <a:pt x="3483" y="15523"/>
                    <a:pt x="2209" y="18394"/>
                    <a:pt x="1344" y="21380"/>
                  </a:cubicBezTo>
                  <a:cubicBezTo>
                    <a:pt x="452" y="24461"/>
                    <a:pt x="0" y="27660"/>
                    <a:pt x="0" y="30886"/>
                  </a:cubicBezTo>
                  <a:cubicBezTo>
                    <a:pt x="0" y="34114"/>
                    <a:pt x="452" y="37312"/>
                    <a:pt x="1344" y="40393"/>
                  </a:cubicBezTo>
                  <a:cubicBezTo>
                    <a:pt x="2209" y="43379"/>
                    <a:pt x="3484" y="46250"/>
                    <a:pt x="5134" y="48927"/>
                  </a:cubicBezTo>
                  <a:cubicBezTo>
                    <a:pt x="8394" y="54211"/>
                    <a:pt x="13054" y="58628"/>
                    <a:pt x="18608" y="61699"/>
                  </a:cubicBezTo>
                  <a:lnTo>
                    <a:pt x="18743" y="61773"/>
                  </a:lnTo>
                  <a:lnTo>
                    <a:pt x="18877" y="61699"/>
                  </a:lnTo>
                  <a:cubicBezTo>
                    <a:pt x="24432" y="58628"/>
                    <a:pt x="29092" y="54211"/>
                    <a:pt x="32351" y="48927"/>
                  </a:cubicBezTo>
                  <a:cubicBezTo>
                    <a:pt x="34002" y="46250"/>
                    <a:pt x="35277" y="43379"/>
                    <a:pt x="36142" y="40393"/>
                  </a:cubicBezTo>
                  <a:cubicBezTo>
                    <a:pt x="37033" y="37312"/>
                    <a:pt x="37485" y="34114"/>
                    <a:pt x="37485" y="30886"/>
                  </a:cubicBezTo>
                  <a:cubicBezTo>
                    <a:pt x="37485" y="27660"/>
                    <a:pt x="37033" y="24461"/>
                    <a:pt x="36142" y="21380"/>
                  </a:cubicBezTo>
                  <a:cubicBezTo>
                    <a:pt x="35277" y="18394"/>
                    <a:pt x="34002" y="15523"/>
                    <a:pt x="32351" y="12847"/>
                  </a:cubicBezTo>
                  <a:cubicBezTo>
                    <a:pt x="29092" y="7562"/>
                    <a:pt x="24432" y="3146"/>
                    <a:pt x="18877" y="75"/>
                  </a:cubicBezTo>
                  <a:lnTo>
                    <a:pt x="1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8"/>
            <p:cNvSpPr/>
            <p:nvPr/>
          </p:nvSpPr>
          <p:spPr>
            <a:xfrm>
              <a:off x="966500" y="527038"/>
              <a:ext cx="1552263" cy="2546518"/>
            </a:xfrm>
            <a:custGeom>
              <a:avLst/>
              <a:gdLst/>
              <a:ahLst/>
              <a:cxnLst/>
              <a:rect l="l" t="t" r="r" b="b"/>
              <a:pathLst>
                <a:path w="38041" h="62407" extrusionOk="0">
                  <a:moveTo>
                    <a:pt x="19021" y="634"/>
                  </a:moveTo>
                  <a:cubicBezTo>
                    <a:pt x="30059" y="6736"/>
                    <a:pt x="37486" y="18141"/>
                    <a:pt x="37486" y="31203"/>
                  </a:cubicBezTo>
                  <a:cubicBezTo>
                    <a:pt x="37486" y="44266"/>
                    <a:pt x="30059" y="55670"/>
                    <a:pt x="19021" y="61772"/>
                  </a:cubicBezTo>
                  <a:cubicBezTo>
                    <a:pt x="7983" y="55670"/>
                    <a:pt x="556" y="44266"/>
                    <a:pt x="556" y="31203"/>
                  </a:cubicBezTo>
                  <a:cubicBezTo>
                    <a:pt x="556" y="18141"/>
                    <a:pt x="7983" y="6738"/>
                    <a:pt x="19021" y="634"/>
                  </a:cubicBezTo>
                  <a:close/>
                  <a:moveTo>
                    <a:pt x="19021" y="0"/>
                  </a:moveTo>
                  <a:lnTo>
                    <a:pt x="18752" y="149"/>
                  </a:lnTo>
                  <a:cubicBezTo>
                    <a:pt x="15965" y="1690"/>
                    <a:pt x="13390" y="3573"/>
                    <a:pt x="11097" y="5746"/>
                  </a:cubicBezTo>
                  <a:cubicBezTo>
                    <a:pt x="8804" y="7919"/>
                    <a:pt x="6812" y="10365"/>
                    <a:pt x="5177" y="13017"/>
                  </a:cubicBezTo>
                  <a:cubicBezTo>
                    <a:pt x="3513" y="15715"/>
                    <a:pt x="2227" y="18610"/>
                    <a:pt x="1355" y="21621"/>
                  </a:cubicBezTo>
                  <a:cubicBezTo>
                    <a:pt x="456" y="24726"/>
                    <a:pt x="1" y="27950"/>
                    <a:pt x="1" y="31203"/>
                  </a:cubicBezTo>
                  <a:cubicBezTo>
                    <a:pt x="1" y="34457"/>
                    <a:pt x="456" y="37681"/>
                    <a:pt x="1355" y="40787"/>
                  </a:cubicBezTo>
                  <a:cubicBezTo>
                    <a:pt x="2227" y="43797"/>
                    <a:pt x="3513" y="46692"/>
                    <a:pt x="5177" y="49390"/>
                  </a:cubicBezTo>
                  <a:cubicBezTo>
                    <a:pt x="6812" y="52042"/>
                    <a:pt x="8804" y="54488"/>
                    <a:pt x="11097" y="56662"/>
                  </a:cubicBezTo>
                  <a:cubicBezTo>
                    <a:pt x="13390" y="58835"/>
                    <a:pt x="15965" y="60718"/>
                    <a:pt x="18752" y="62258"/>
                  </a:cubicBezTo>
                  <a:lnTo>
                    <a:pt x="19021" y="62406"/>
                  </a:lnTo>
                  <a:lnTo>
                    <a:pt x="19290" y="62258"/>
                  </a:lnTo>
                  <a:cubicBezTo>
                    <a:pt x="22077" y="60718"/>
                    <a:pt x="24652" y="58835"/>
                    <a:pt x="26945" y="56662"/>
                  </a:cubicBezTo>
                  <a:cubicBezTo>
                    <a:pt x="29238" y="54488"/>
                    <a:pt x="31229" y="52042"/>
                    <a:pt x="32866" y="49390"/>
                  </a:cubicBezTo>
                  <a:cubicBezTo>
                    <a:pt x="34529" y="46692"/>
                    <a:pt x="35815" y="43797"/>
                    <a:pt x="36686" y="40787"/>
                  </a:cubicBezTo>
                  <a:cubicBezTo>
                    <a:pt x="37586" y="37681"/>
                    <a:pt x="38041" y="34457"/>
                    <a:pt x="38041" y="31203"/>
                  </a:cubicBezTo>
                  <a:cubicBezTo>
                    <a:pt x="38041" y="27950"/>
                    <a:pt x="37586" y="24726"/>
                    <a:pt x="36686" y="21621"/>
                  </a:cubicBezTo>
                  <a:cubicBezTo>
                    <a:pt x="35815" y="18610"/>
                    <a:pt x="34529" y="15715"/>
                    <a:pt x="32866" y="13017"/>
                  </a:cubicBezTo>
                  <a:cubicBezTo>
                    <a:pt x="31229" y="10365"/>
                    <a:pt x="29238" y="7919"/>
                    <a:pt x="26945" y="5746"/>
                  </a:cubicBezTo>
                  <a:cubicBezTo>
                    <a:pt x="24652" y="3573"/>
                    <a:pt x="22077" y="1690"/>
                    <a:pt x="19290" y="149"/>
                  </a:cubicBezTo>
                  <a:lnTo>
                    <a:pt x="19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8"/>
            <p:cNvSpPr/>
            <p:nvPr/>
          </p:nvSpPr>
          <p:spPr>
            <a:xfrm>
              <a:off x="1137800" y="1195467"/>
              <a:ext cx="1209664" cy="1209705"/>
            </a:xfrm>
            <a:custGeom>
              <a:avLst/>
              <a:gdLst/>
              <a:ahLst/>
              <a:cxnLst/>
              <a:rect l="l" t="t" r="r" b="b"/>
              <a:pathLst>
                <a:path w="29645" h="29646" extrusionOk="0">
                  <a:moveTo>
                    <a:pt x="14823" y="0"/>
                  </a:moveTo>
                  <a:cubicBezTo>
                    <a:pt x="10891" y="0"/>
                    <a:pt x="7122" y="1561"/>
                    <a:pt x="4342" y="4341"/>
                  </a:cubicBezTo>
                  <a:cubicBezTo>
                    <a:pt x="1562" y="7122"/>
                    <a:pt x="1" y="10891"/>
                    <a:pt x="1" y="14822"/>
                  </a:cubicBezTo>
                  <a:cubicBezTo>
                    <a:pt x="1" y="18754"/>
                    <a:pt x="1562" y="22524"/>
                    <a:pt x="4342" y="25303"/>
                  </a:cubicBezTo>
                  <a:cubicBezTo>
                    <a:pt x="7122" y="28083"/>
                    <a:pt x="10891" y="29646"/>
                    <a:pt x="14823" y="29646"/>
                  </a:cubicBezTo>
                  <a:cubicBezTo>
                    <a:pt x="18754" y="29646"/>
                    <a:pt x="22524" y="28083"/>
                    <a:pt x="25304" y="25303"/>
                  </a:cubicBezTo>
                  <a:cubicBezTo>
                    <a:pt x="28084" y="22524"/>
                    <a:pt x="29645" y="18754"/>
                    <a:pt x="29645" y="14822"/>
                  </a:cubicBezTo>
                  <a:cubicBezTo>
                    <a:pt x="29645" y="10891"/>
                    <a:pt x="28084" y="7122"/>
                    <a:pt x="25304" y="4341"/>
                  </a:cubicBezTo>
                  <a:cubicBezTo>
                    <a:pt x="22524" y="1561"/>
                    <a:pt x="18754" y="0"/>
                    <a:pt x="1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8"/>
            <p:cNvSpPr/>
            <p:nvPr/>
          </p:nvSpPr>
          <p:spPr>
            <a:xfrm>
              <a:off x="1324810" y="1382476"/>
              <a:ext cx="835646" cy="835646"/>
            </a:xfrm>
            <a:custGeom>
              <a:avLst/>
              <a:gdLst/>
              <a:ahLst/>
              <a:cxnLst/>
              <a:rect l="l" t="t" r="r" b="b"/>
              <a:pathLst>
                <a:path w="20479" h="20479" extrusionOk="0">
                  <a:moveTo>
                    <a:pt x="10240" y="1"/>
                  </a:moveTo>
                  <a:cubicBezTo>
                    <a:pt x="7524" y="1"/>
                    <a:pt x="4919" y="1080"/>
                    <a:pt x="3000" y="2999"/>
                  </a:cubicBezTo>
                  <a:cubicBezTo>
                    <a:pt x="1079" y="4920"/>
                    <a:pt x="1" y="7524"/>
                    <a:pt x="1" y="10239"/>
                  </a:cubicBezTo>
                  <a:cubicBezTo>
                    <a:pt x="1" y="12955"/>
                    <a:pt x="1079" y="15560"/>
                    <a:pt x="3000" y="17479"/>
                  </a:cubicBezTo>
                  <a:cubicBezTo>
                    <a:pt x="4919" y="19400"/>
                    <a:pt x="7524" y="20478"/>
                    <a:pt x="10240" y="20478"/>
                  </a:cubicBezTo>
                  <a:cubicBezTo>
                    <a:pt x="12956" y="20478"/>
                    <a:pt x="15560" y="19400"/>
                    <a:pt x="17480" y="17479"/>
                  </a:cubicBezTo>
                  <a:cubicBezTo>
                    <a:pt x="19401" y="15560"/>
                    <a:pt x="20479" y="12955"/>
                    <a:pt x="20479" y="10239"/>
                  </a:cubicBezTo>
                  <a:cubicBezTo>
                    <a:pt x="20479" y="7524"/>
                    <a:pt x="19401" y="4920"/>
                    <a:pt x="17480" y="2999"/>
                  </a:cubicBezTo>
                  <a:cubicBezTo>
                    <a:pt x="15560" y="1080"/>
                    <a:pt x="12956" y="1"/>
                    <a:pt x="10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1622809" y="1648934"/>
              <a:ext cx="239689" cy="349780"/>
            </a:xfrm>
            <a:custGeom>
              <a:avLst/>
              <a:gdLst/>
              <a:ahLst/>
              <a:cxnLst/>
              <a:rect l="l" t="t" r="r" b="b"/>
              <a:pathLst>
                <a:path w="5874" h="8572" extrusionOk="0">
                  <a:moveTo>
                    <a:pt x="1697" y="0"/>
                  </a:moveTo>
                  <a:lnTo>
                    <a:pt x="0" y="4883"/>
                  </a:lnTo>
                  <a:lnTo>
                    <a:pt x="2306" y="4883"/>
                  </a:lnTo>
                  <a:lnTo>
                    <a:pt x="1697" y="8571"/>
                  </a:lnTo>
                  <a:lnTo>
                    <a:pt x="5873" y="3524"/>
                  </a:lnTo>
                  <a:lnTo>
                    <a:pt x="3177" y="3524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48"/>
          <p:cNvSpPr txBox="1">
            <a:spLocks noGrp="1"/>
          </p:cNvSpPr>
          <p:nvPr>
            <p:ph type="subTitle" idx="1"/>
          </p:nvPr>
        </p:nvSpPr>
        <p:spPr>
          <a:xfrm flipH="1">
            <a:off x="3517520" y="2584164"/>
            <a:ext cx="5261106" cy="2559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100" dirty="0"/>
              <a:t>En primer lloc cal explicar que estem davant de l'elaboració d’un mòdul crític per a la seguretat i el funcionament del vehicle. El sistema de SEIENTS DIGITALS és la interfície entre l'energia del cotxe i la seguretat del conductor. Per tant ens basarem en aquests puts adjuntats al guió: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100" dirty="0"/>
              <a:t>   </a:t>
            </a:r>
            <a:r>
              <a:rPr lang="ca-ES" sz="1050" dirty="0"/>
              <a:t>a) 3 motors (posició, alçada, reclinació) amb els seus finals de carrera.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50" dirty="0"/>
              <a:t>   b) Calefacció del seient. 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50" dirty="0"/>
              <a:t>   c) Sensor digital de cinturons.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50" dirty="0"/>
              <a:t>   d) Memòria externa no volàtil per guardar posicions </a:t>
            </a:r>
            <a:r>
              <a:rPr lang="ca-ES" sz="1050" dirty="0" err="1"/>
              <a:t>pre</a:t>
            </a:r>
            <a:r>
              <a:rPr lang="ca-ES" sz="1050" dirty="0"/>
              <a:t>-programades.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8"/>
          <p:cNvSpPr/>
          <p:nvPr/>
        </p:nvSpPr>
        <p:spPr>
          <a:xfrm>
            <a:off x="0" y="-4725"/>
            <a:ext cx="3229200" cy="360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8" name="Google Shape;858;p48"/>
          <p:cNvGrpSpPr/>
          <p:nvPr/>
        </p:nvGrpSpPr>
        <p:grpSpPr>
          <a:xfrm>
            <a:off x="587051" y="-4725"/>
            <a:ext cx="2055103" cy="3600596"/>
            <a:chOff x="715100" y="0"/>
            <a:chExt cx="2055103" cy="3600596"/>
          </a:xfrm>
        </p:grpSpPr>
        <p:sp>
          <p:nvSpPr>
            <p:cNvPr id="859" name="Google Shape;859;p48"/>
            <p:cNvSpPr/>
            <p:nvPr/>
          </p:nvSpPr>
          <p:spPr>
            <a:xfrm>
              <a:off x="715100" y="0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1" y="1"/>
                  </a:moveTo>
                  <a:lnTo>
                    <a:pt x="25182" y="51566"/>
                  </a:lnTo>
                  <a:lnTo>
                    <a:pt x="503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715100" y="1496445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25182" y="1"/>
                  </a:moveTo>
                  <a:lnTo>
                    <a:pt x="1" y="51565"/>
                  </a:lnTo>
                  <a:lnTo>
                    <a:pt x="50364" y="51565"/>
                  </a:lnTo>
                  <a:lnTo>
                    <a:pt x="251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48"/>
          <p:cNvSpPr/>
          <p:nvPr/>
        </p:nvSpPr>
        <p:spPr>
          <a:xfrm>
            <a:off x="0" y="3595725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48"/>
          <p:cNvSpPr txBox="1">
            <a:spLocks noGrp="1"/>
          </p:cNvSpPr>
          <p:nvPr>
            <p:ph type="title"/>
          </p:nvPr>
        </p:nvSpPr>
        <p:spPr>
          <a:xfrm flipH="1">
            <a:off x="-768321" y="88878"/>
            <a:ext cx="42012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OBJECTIUS PRINCIPALS DEL PROJECTE</a:t>
            </a:r>
            <a:endParaRPr sz="3600"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864" name="Google Shape;864;p48"/>
          <p:cNvGrpSpPr/>
          <p:nvPr/>
        </p:nvGrpSpPr>
        <p:grpSpPr>
          <a:xfrm flipH="1">
            <a:off x="365293" y="3810001"/>
            <a:ext cx="2498613" cy="1123948"/>
            <a:chOff x="6237531" y="3846675"/>
            <a:chExt cx="2498613" cy="1123948"/>
          </a:xfrm>
        </p:grpSpPr>
        <p:sp>
          <p:nvSpPr>
            <p:cNvPr id="865" name="Google Shape;865;p48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8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8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8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8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8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48"/>
          <p:cNvGrpSpPr/>
          <p:nvPr/>
        </p:nvGrpSpPr>
        <p:grpSpPr>
          <a:xfrm>
            <a:off x="838451" y="522313"/>
            <a:ext cx="1552263" cy="2546518"/>
            <a:chOff x="966500" y="527038"/>
            <a:chExt cx="1552263" cy="2546518"/>
          </a:xfrm>
        </p:grpSpPr>
        <p:sp>
          <p:nvSpPr>
            <p:cNvPr id="876" name="Google Shape;876;p48"/>
            <p:cNvSpPr/>
            <p:nvPr/>
          </p:nvSpPr>
          <p:spPr>
            <a:xfrm>
              <a:off x="977844" y="539974"/>
              <a:ext cx="1529616" cy="2520647"/>
            </a:xfrm>
            <a:custGeom>
              <a:avLst/>
              <a:gdLst/>
              <a:ahLst/>
              <a:cxnLst/>
              <a:rect l="l" t="t" r="r" b="b"/>
              <a:pathLst>
                <a:path w="37486" h="61773" extrusionOk="0">
                  <a:moveTo>
                    <a:pt x="18743" y="1"/>
                  </a:moveTo>
                  <a:lnTo>
                    <a:pt x="18608" y="75"/>
                  </a:lnTo>
                  <a:cubicBezTo>
                    <a:pt x="13054" y="3146"/>
                    <a:pt x="8394" y="7562"/>
                    <a:pt x="5134" y="12847"/>
                  </a:cubicBezTo>
                  <a:cubicBezTo>
                    <a:pt x="3483" y="15523"/>
                    <a:pt x="2209" y="18394"/>
                    <a:pt x="1344" y="21380"/>
                  </a:cubicBezTo>
                  <a:cubicBezTo>
                    <a:pt x="452" y="24461"/>
                    <a:pt x="0" y="27660"/>
                    <a:pt x="0" y="30886"/>
                  </a:cubicBezTo>
                  <a:cubicBezTo>
                    <a:pt x="0" y="34114"/>
                    <a:pt x="452" y="37312"/>
                    <a:pt x="1344" y="40393"/>
                  </a:cubicBezTo>
                  <a:cubicBezTo>
                    <a:pt x="2209" y="43379"/>
                    <a:pt x="3484" y="46250"/>
                    <a:pt x="5134" y="48927"/>
                  </a:cubicBezTo>
                  <a:cubicBezTo>
                    <a:pt x="8394" y="54211"/>
                    <a:pt x="13054" y="58628"/>
                    <a:pt x="18608" y="61699"/>
                  </a:cubicBezTo>
                  <a:lnTo>
                    <a:pt x="18743" y="61773"/>
                  </a:lnTo>
                  <a:lnTo>
                    <a:pt x="18877" y="61699"/>
                  </a:lnTo>
                  <a:cubicBezTo>
                    <a:pt x="24432" y="58628"/>
                    <a:pt x="29092" y="54211"/>
                    <a:pt x="32351" y="48927"/>
                  </a:cubicBezTo>
                  <a:cubicBezTo>
                    <a:pt x="34002" y="46250"/>
                    <a:pt x="35277" y="43379"/>
                    <a:pt x="36142" y="40393"/>
                  </a:cubicBezTo>
                  <a:cubicBezTo>
                    <a:pt x="37033" y="37312"/>
                    <a:pt x="37485" y="34114"/>
                    <a:pt x="37485" y="30886"/>
                  </a:cubicBezTo>
                  <a:cubicBezTo>
                    <a:pt x="37485" y="27660"/>
                    <a:pt x="37033" y="24461"/>
                    <a:pt x="36142" y="21380"/>
                  </a:cubicBezTo>
                  <a:cubicBezTo>
                    <a:pt x="35277" y="18394"/>
                    <a:pt x="34002" y="15523"/>
                    <a:pt x="32351" y="12847"/>
                  </a:cubicBezTo>
                  <a:cubicBezTo>
                    <a:pt x="29092" y="7562"/>
                    <a:pt x="24432" y="3146"/>
                    <a:pt x="18877" y="75"/>
                  </a:cubicBezTo>
                  <a:lnTo>
                    <a:pt x="1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8"/>
            <p:cNvSpPr/>
            <p:nvPr/>
          </p:nvSpPr>
          <p:spPr>
            <a:xfrm>
              <a:off x="966500" y="527038"/>
              <a:ext cx="1552263" cy="2546518"/>
            </a:xfrm>
            <a:custGeom>
              <a:avLst/>
              <a:gdLst/>
              <a:ahLst/>
              <a:cxnLst/>
              <a:rect l="l" t="t" r="r" b="b"/>
              <a:pathLst>
                <a:path w="38041" h="62407" extrusionOk="0">
                  <a:moveTo>
                    <a:pt x="19021" y="634"/>
                  </a:moveTo>
                  <a:cubicBezTo>
                    <a:pt x="30059" y="6736"/>
                    <a:pt x="37486" y="18141"/>
                    <a:pt x="37486" y="31203"/>
                  </a:cubicBezTo>
                  <a:cubicBezTo>
                    <a:pt x="37486" y="44266"/>
                    <a:pt x="30059" y="55670"/>
                    <a:pt x="19021" y="61772"/>
                  </a:cubicBezTo>
                  <a:cubicBezTo>
                    <a:pt x="7983" y="55670"/>
                    <a:pt x="556" y="44266"/>
                    <a:pt x="556" y="31203"/>
                  </a:cubicBezTo>
                  <a:cubicBezTo>
                    <a:pt x="556" y="18141"/>
                    <a:pt x="7983" y="6738"/>
                    <a:pt x="19021" y="634"/>
                  </a:cubicBezTo>
                  <a:close/>
                  <a:moveTo>
                    <a:pt x="19021" y="0"/>
                  </a:moveTo>
                  <a:lnTo>
                    <a:pt x="18752" y="149"/>
                  </a:lnTo>
                  <a:cubicBezTo>
                    <a:pt x="15965" y="1690"/>
                    <a:pt x="13390" y="3573"/>
                    <a:pt x="11097" y="5746"/>
                  </a:cubicBezTo>
                  <a:cubicBezTo>
                    <a:pt x="8804" y="7919"/>
                    <a:pt x="6812" y="10365"/>
                    <a:pt x="5177" y="13017"/>
                  </a:cubicBezTo>
                  <a:cubicBezTo>
                    <a:pt x="3513" y="15715"/>
                    <a:pt x="2227" y="18610"/>
                    <a:pt x="1355" y="21621"/>
                  </a:cubicBezTo>
                  <a:cubicBezTo>
                    <a:pt x="456" y="24726"/>
                    <a:pt x="1" y="27950"/>
                    <a:pt x="1" y="31203"/>
                  </a:cubicBezTo>
                  <a:cubicBezTo>
                    <a:pt x="1" y="34457"/>
                    <a:pt x="456" y="37681"/>
                    <a:pt x="1355" y="40787"/>
                  </a:cubicBezTo>
                  <a:cubicBezTo>
                    <a:pt x="2227" y="43797"/>
                    <a:pt x="3513" y="46692"/>
                    <a:pt x="5177" y="49390"/>
                  </a:cubicBezTo>
                  <a:cubicBezTo>
                    <a:pt x="6812" y="52042"/>
                    <a:pt x="8804" y="54488"/>
                    <a:pt x="11097" y="56662"/>
                  </a:cubicBezTo>
                  <a:cubicBezTo>
                    <a:pt x="13390" y="58835"/>
                    <a:pt x="15965" y="60718"/>
                    <a:pt x="18752" y="62258"/>
                  </a:cubicBezTo>
                  <a:lnTo>
                    <a:pt x="19021" y="62406"/>
                  </a:lnTo>
                  <a:lnTo>
                    <a:pt x="19290" y="62258"/>
                  </a:lnTo>
                  <a:cubicBezTo>
                    <a:pt x="22077" y="60718"/>
                    <a:pt x="24652" y="58835"/>
                    <a:pt x="26945" y="56662"/>
                  </a:cubicBezTo>
                  <a:cubicBezTo>
                    <a:pt x="29238" y="54488"/>
                    <a:pt x="31229" y="52042"/>
                    <a:pt x="32866" y="49390"/>
                  </a:cubicBezTo>
                  <a:cubicBezTo>
                    <a:pt x="34529" y="46692"/>
                    <a:pt x="35815" y="43797"/>
                    <a:pt x="36686" y="40787"/>
                  </a:cubicBezTo>
                  <a:cubicBezTo>
                    <a:pt x="37586" y="37681"/>
                    <a:pt x="38041" y="34457"/>
                    <a:pt x="38041" y="31203"/>
                  </a:cubicBezTo>
                  <a:cubicBezTo>
                    <a:pt x="38041" y="27950"/>
                    <a:pt x="37586" y="24726"/>
                    <a:pt x="36686" y="21621"/>
                  </a:cubicBezTo>
                  <a:cubicBezTo>
                    <a:pt x="35815" y="18610"/>
                    <a:pt x="34529" y="15715"/>
                    <a:pt x="32866" y="13017"/>
                  </a:cubicBezTo>
                  <a:cubicBezTo>
                    <a:pt x="31229" y="10365"/>
                    <a:pt x="29238" y="7919"/>
                    <a:pt x="26945" y="5746"/>
                  </a:cubicBezTo>
                  <a:cubicBezTo>
                    <a:pt x="24652" y="3573"/>
                    <a:pt x="22077" y="1690"/>
                    <a:pt x="19290" y="149"/>
                  </a:cubicBezTo>
                  <a:lnTo>
                    <a:pt x="19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8"/>
            <p:cNvSpPr/>
            <p:nvPr/>
          </p:nvSpPr>
          <p:spPr>
            <a:xfrm>
              <a:off x="1137800" y="1195467"/>
              <a:ext cx="1209664" cy="1209705"/>
            </a:xfrm>
            <a:custGeom>
              <a:avLst/>
              <a:gdLst/>
              <a:ahLst/>
              <a:cxnLst/>
              <a:rect l="l" t="t" r="r" b="b"/>
              <a:pathLst>
                <a:path w="29645" h="29646" extrusionOk="0">
                  <a:moveTo>
                    <a:pt x="14823" y="0"/>
                  </a:moveTo>
                  <a:cubicBezTo>
                    <a:pt x="10891" y="0"/>
                    <a:pt x="7122" y="1561"/>
                    <a:pt x="4342" y="4341"/>
                  </a:cubicBezTo>
                  <a:cubicBezTo>
                    <a:pt x="1562" y="7122"/>
                    <a:pt x="1" y="10891"/>
                    <a:pt x="1" y="14822"/>
                  </a:cubicBezTo>
                  <a:cubicBezTo>
                    <a:pt x="1" y="18754"/>
                    <a:pt x="1562" y="22524"/>
                    <a:pt x="4342" y="25303"/>
                  </a:cubicBezTo>
                  <a:cubicBezTo>
                    <a:pt x="7122" y="28083"/>
                    <a:pt x="10891" y="29646"/>
                    <a:pt x="14823" y="29646"/>
                  </a:cubicBezTo>
                  <a:cubicBezTo>
                    <a:pt x="18754" y="29646"/>
                    <a:pt x="22524" y="28083"/>
                    <a:pt x="25304" y="25303"/>
                  </a:cubicBezTo>
                  <a:cubicBezTo>
                    <a:pt x="28084" y="22524"/>
                    <a:pt x="29645" y="18754"/>
                    <a:pt x="29645" y="14822"/>
                  </a:cubicBezTo>
                  <a:cubicBezTo>
                    <a:pt x="29645" y="10891"/>
                    <a:pt x="28084" y="7122"/>
                    <a:pt x="25304" y="4341"/>
                  </a:cubicBezTo>
                  <a:cubicBezTo>
                    <a:pt x="22524" y="1561"/>
                    <a:pt x="18754" y="0"/>
                    <a:pt x="1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8"/>
            <p:cNvSpPr/>
            <p:nvPr/>
          </p:nvSpPr>
          <p:spPr>
            <a:xfrm>
              <a:off x="1324810" y="1382476"/>
              <a:ext cx="835646" cy="835646"/>
            </a:xfrm>
            <a:custGeom>
              <a:avLst/>
              <a:gdLst/>
              <a:ahLst/>
              <a:cxnLst/>
              <a:rect l="l" t="t" r="r" b="b"/>
              <a:pathLst>
                <a:path w="20479" h="20479" extrusionOk="0">
                  <a:moveTo>
                    <a:pt x="10240" y="1"/>
                  </a:moveTo>
                  <a:cubicBezTo>
                    <a:pt x="7524" y="1"/>
                    <a:pt x="4919" y="1080"/>
                    <a:pt x="3000" y="2999"/>
                  </a:cubicBezTo>
                  <a:cubicBezTo>
                    <a:pt x="1079" y="4920"/>
                    <a:pt x="1" y="7524"/>
                    <a:pt x="1" y="10239"/>
                  </a:cubicBezTo>
                  <a:cubicBezTo>
                    <a:pt x="1" y="12955"/>
                    <a:pt x="1079" y="15560"/>
                    <a:pt x="3000" y="17479"/>
                  </a:cubicBezTo>
                  <a:cubicBezTo>
                    <a:pt x="4919" y="19400"/>
                    <a:pt x="7524" y="20478"/>
                    <a:pt x="10240" y="20478"/>
                  </a:cubicBezTo>
                  <a:cubicBezTo>
                    <a:pt x="12956" y="20478"/>
                    <a:pt x="15560" y="19400"/>
                    <a:pt x="17480" y="17479"/>
                  </a:cubicBezTo>
                  <a:cubicBezTo>
                    <a:pt x="19401" y="15560"/>
                    <a:pt x="20479" y="12955"/>
                    <a:pt x="20479" y="10239"/>
                  </a:cubicBezTo>
                  <a:cubicBezTo>
                    <a:pt x="20479" y="7524"/>
                    <a:pt x="19401" y="4920"/>
                    <a:pt x="17480" y="2999"/>
                  </a:cubicBezTo>
                  <a:cubicBezTo>
                    <a:pt x="15560" y="1080"/>
                    <a:pt x="12956" y="1"/>
                    <a:pt x="10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1622809" y="1648934"/>
              <a:ext cx="239689" cy="349780"/>
            </a:xfrm>
            <a:custGeom>
              <a:avLst/>
              <a:gdLst/>
              <a:ahLst/>
              <a:cxnLst/>
              <a:rect l="l" t="t" r="r" b="b"/>
              <a:pathLst>
                <a:path w="5874" h="8572" extrusionOk="0">
                  <a:moveTo>
                    <a:pt x="1697" y="0"/>
                  </a:moveTo>
                  <a:lnTo>
                    <a:pt x="0" y="4883"/>
                  </a:lnTo>
                  <a:lnTo>
                    <a:pt x="2306" y="4883"/>
                  </a:lnTo>
                  <a:lnTo>
                    <a:pt x="1697" y="8571"/>
                  </a:lnTo>
                  <a:lnTo>
                    <a:pt x="5873" y="3524"/>
                  </a:lnTo>
                  <a:lnTo>
                    <a:pt x="3177" y="3524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48"/>
          <p:cNvSpPr txBox="1">
            <a:spLocks noGrp="1"/>
          </p:cNvSpPr>
          <p:nvPr>
            <p:ph type="subTitle" idx="1"/>
          </p:nvPr>
        </p:nvSpPr>
        <p:spPr>
          <a:xfrm flipH="1">
            <a:off x="3523146" y="963530"/>
            <a:ext cx="5261106" cy="3702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00" dirty="0"/>
              <a:t>L'objectiu principal és dissenyar i fabricar una PCB funcional per a la gestió del subsistema de seients elèctrics d'un vehicle, complint els següents punts: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Controlar 3 motors del seient:</a:t>
            </a:r>
          </a:p>
          <a:p>
            <a:pPr marL="171450" indent="-171450" algn="l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Posició longitudinal, alçada, Inclinació del respatller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Detectar finals de carrera per evitar sobrecàrregues mecàniques.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Implementar calefacció del seient amb control electrònic.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Detectar estat del cinturó de seguretat.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Guardar i recuperar posicions programades del seient mitjançant memòria no volàtil.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Permetre la interacció de l’usuari amb botonera.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Comunicar-se amb la xarxa del vehicle via bus CAN.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Permetre monitorització i </a:t>
            </a:r>
            <a:r>
              <a:rPr lang="ca-ES" sz="1000" dirty="0" err="1"/>
              <a:t>debug</a:t>
            </a:r>
            <a:r>
              <a:rPr lang="ca-ES" sz="1000" dirty="0"/>
              <a:t> via </a:t>
            </a:r>
            <a:r>
              <a:rPr lang="ca-ES" sz="1000" dirty="0" err="1"/>
              <a:t>USART.c</a:t>
            </a:r>
            <a:endParaRPr lang="ca-ES" sz="1000" dirty="0"/>
          </a:p>
        </p:txBody>
      </p:sp>
    </p:spTree>
    <p:extLst>
      <p:ext uri="{BB962C8B-B14F-4D97-AF65-F5344CB8AC3E}">
        <p14:creationId xmlns:p14="http://schemas.microsoft.com/office/powerpoint/2010/main" val="71830603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7"/>
          <p:cNvGrpSpPr/>
          <p:nvPr/>
        </p:nvGrpSpPr>
        <p:grpSpPr>
          <a:xfrm flipH="1">
            <a:off x="5914770" y="91"/>
            <a:ext cx="3229223" cy="820210"/>
            <a:chOff x="5914788" y="4092325"/>
            <a:chExt cx="3229223" cy="1032360"/>
          </a:xfrm>
        </p:grpSpPr>
        <p:sp>
          <p:nvSpPr>
            <p:cNvPr id="778" name="Google Shape;778;p47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7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7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" name="Google Shape;803;p47"/>
          <p:cNvSpPr/>
          <p:nvPr/>
        </p:nvSpPr>
        <p:spPr>
          <a:xfrm flipH="1">
            <a:off x="5914780" y="781075"/>
            <a:ext cx="3229200" cy="3520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47"/>
          <p:cNvSpPr/>
          <p:nvPr/>
        </p:nvSpPr>
        <p:spPr>
          <a:xfrm flipH="1">
            <a:off x="5914780" y="4301738"/>
            <a:ext cx="3229200" cy="84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2159175" y="6684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7"/>
          <p:cNvSpPr txBox="1">
            <a:spLocks noGrp="1"/>
          </p:cNvSpPr>
          <p:nvPr>
            <p:ph type="title" idx="2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08" name="Google Shape;808;p47"/>
          <p:cNvSpPr txBox="1">
            <a:spLocks noGrp="1"/>
          </p:cNvSpPr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ea typeface="Raleway ExtraBold"/>
                <a:cs typeface="Raleway ExtraBold"/>
                <a:sym typeface="Raleway ExtraBold"/>
              </a:rPr>
              <a:t>DIAGRAMA DE BLOCS</a:t>
            </a:r>
            <a:endParaRPr dirty="0"/>
          </a:p>
        </p:txBody>
      </p:sp>
      <p:grpSp>
        <p:nvGrpSpPr>
          <p:cNvPr id="809" name="Google Shape;809;p47"/>
          <p:cNvGrpSpPr/>
          <p:nvPr/>
        </p:nvGrpSpPr>
        <p:grpSpPr>
          <a:xfrm flipH="1">
            <a:off x="7064394" y="766804"/>
            <a:ext cx="910812" cy="1660393"/>
            <a:chOff x="-2015525" y="1207150"/>
            <a:chExt cx="1253526" cy="2285783"/>
          </a:xfrm>
        </p:grpSpPr>
        <p:sp>
          <p:nvSpPr>
            <p:cNvPr id="810" name="Google Shape;810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47"/>
          <p:cNvGrpSpPr/>
          <p:nvPr/>
        </p:nvGrpSpPr>
        <p:grpSpPr>
          <a:xfrm rot="10800000" flipH="1">
            <a:off x="7064394" y="2641324"/>
            <a:ext cx="910812" cy="1660393"/>
            <a:chOff x="-2015525" y="1207150"/>
            <a:chExt cx="1253526" cy="2285783"/>
          </a:xfrm>
        </p:grpSpPr>
        <p:sp>
          <p:nvSpPr>
            <p:cNvPr id="817" name="Google Shape;817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47"/>
          <p:cNvGrpSpPr/>
          <p:nvPr/>
        </p:nvGrpSpPr>
        <p:grpSpPr>
          <a:xfrm flipH="1">
            <a:off x="6086153" y="4429063"/>
            <a:ext cx="2867297" cy="587084"/>
            <a:chOff x="207675" y="127350"/>
            <a:chExt cx="2867297" cy="587084"/>
          </a:xfrm>
        </p:grpSpPr>
        <p:grpSp>
          <p:nvGrpSpPr>
            <p:cNvPr id="824" name="Google Shape;824;p47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825" name="Google Shape;825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7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7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7" name="Google Shape;837;p47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838" name="Google Shape;838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6" name="Google Shape;846;p47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847" name="Google Shape;847;p47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1366752-51D0-417E-A1F2-BB40BF7B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15" y="203161"/>
            <a:ext cx="1064555" cy="573300"/>
          </a:xfrm>
        </p:spPr>
        <p:txBody>
          <a:bodyPr/>
          <a:lstStyle/>
          <a:p>
            <a:r>
              <a:rPr lang="ca-ES" dirty="0"/>
              <a:t>V.2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26F57972-62EA-4E74-90C1-758847C1A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9058" y="-29496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6968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1366752-51D0-417E-A1F2-BB40BF7B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15" y="203161"/>
            <a:ext cx="1064555" cy="573300"/>
          </a:xfrm>
        </p:spPr>
        <p:txBody>
          <a:bodyPr/>
          <a:lstStyle/>
          <a:p>
            <a:r>
              <a:rPr lang="ca-ES" dirty="0"/>
              <a:t>V.3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4C78E103-F21F-43D9-9BE6-FE8BFD479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3092" y="0"/>
            <a:ext cx="73077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8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71"/>
          <p:cNvSpPr/>
          <p:nvPr/>
        </p:nvSpPr>
        <p:spPr>
          <a:xfrm>
            <a:off x="5914800" y="-75"/>
            <a:ext cx="3229200" cy="4328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8" name="Google Shape;1428;p71"/>
          <p:cNvGrpSpPr/>
          <p:nvPr/>
        </p:nvGrpSpPr>
        <p:grpSpPr>
          <a:xfrm flipH="1">
            <a:off x="5914611" y="4323416"/>
            <a:ext cx="3229223" cy="820210"/>
            <a:chOff x="5914788" y="4092325"/>
            <a:chExt cx="3229223" cy="1032360"/>
          </a:xfrm>
        </p:grpSpPr>
        <p:sp>
          <p:nvSpPr>
            <p:cNvPr id="1429" name="Google Shape;1429;p71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71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71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71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71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71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71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71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71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71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71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71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71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71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71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71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71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71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71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71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71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71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71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71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71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4" name="Google Shape;1454;p71"/>
          <p:cNvSpPr/>
          <p:nvPr/>
        </p:nvSpPr>
        <p:spPr>
          <a:xfrm>
            <a:off x="930338" y="639781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71"/>
          <p:cNvSpPr txBox="1">
            <a:spLocks noGrp="1"/>
          </p:cNvSpPr>
          <p:nvPr>
            <p:ph type="title"/>
          </p:nvPr>
        </p:nvSpPr>
        <p:spPr>
          <a:xfrm flipH="1">
            <a:off x="791307" y="2616238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ea typeface="Raleway ExtraBold"/>
                <a:cs typeface="Raleway ExtraBold"/>
                <a:sym typeface="Raleway ExtraBold"/>
              </a:rPr>
              <a:t>ESQUEMÀTIC DEL PROJECTE</a:t>
            </a:r>
            <a:endParaRPr dirty="0"/>
          </a:p>
        </p:txBody>
      </p:sp>
      <p:sp>
        <p:nvSpPr>
          <p:cNvPr id="1456" name="Google Shape;1456;p71"/>
          <p:cNvSpPr txBox="1">
            <a:spLocks noGrp="1"/>
          </p:cNvSpPr>
          <p:nvPr>
            <p:ph type="title" idx="2"/>
          </p:nvPr>
        </p:nvSpPr>
        <p:spPr>
          <a:xfrm flipH="1">
            <a:off x="791300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458" name="Google Shape;1458;p71"/>
          <p:cNvGrpSpPr/>
          <p:nvPr/>
        </p:nvGrpSpPr>
        <p:grpSpPr>
          <a:xfrm>
            <a:off x="6824022" y="341625"/>
            <a:ext cx="1416152" cy="3644700"/>
            <a:chOff x="913822" y="341700"/>
            <a:chExt cx="1416152" cy="3644700"/>
          </a:xfrm>
        </p:grpSpPr>
        <p:grpSp>
          <p:nvGrpSpPr>
            <p:cNvPr id="1459" name="Google Shape;1459;p71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1460" name="Google Shape;1460;p71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71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71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71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71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1465" name="Google Shape;1465;p71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71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835" extrusionOk="0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7" name="Google Shape;1467;p71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1468" name="Google Shape;1468;p71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71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7" extrusionOk="0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0" name="Google Shape;1470;p71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1471" name="Google Shape;1471;p71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71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1836" extrusionOk="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3" name="Google Shape;1473;p71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1474" name="Google Shape;1474;p71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71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5" extrusionOk="0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6" name="Google Shape;1476;p71"/>
          <p:cNvGrpSpPr/>
          <p:nvPr/>
        </p:nvGrpSpPr>
        <p:grpSpPr>
          <a:xfrm>
            <a:off x="6755303" y="991697"/>
            <a:ext cx="1548193" cy="2344555"/>
            <a:chOff x="874813" y="1108300"/>
            <a:chExt cx="1488647" cy="2254380"/>
          </a:xfrm>
        </p:grpSpPr>
        <p:sp>
          <p:nvSpPr>
            <p:cNvPr id="1477" name="Google Shape;1477;p71"/>
            <p:cNvSpPr/>
            <p:nvPr/>
          </p:nvSpPr>
          <p:spPr>
            <a:xfrm>
              <a:off x="1297461" y="2636239"/>
              <a:ext cx="644809" cy="563115"/>
            </a:xfrm>
            <a:custGeom>
              <a:avLst/>
              <a:gdLst/>
              <a:ahLst/>
              <a:cxnLst/>
              <a:rect l="l" t="t" r="r" b="b"/>
              <a:pathLst>
                <a:path w="14310" h="12497" extrusionOk="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71"/>
            <p:cNvSpPr/>
            <p:nvPr/>
          </p:nvSpPr>
          <p:spPr>
            <a:xfrm>
              <a:off x="1297461" y="3199338"/>
              <a:ext cx="644809" cy="163343"/>
            </a:xfrm>
            <a:custGeom>
              <a:avLst/>
              <a:gdLst/>
              <a:ahLst/>
              <a:cxnLst/>
              <a:rect l="l" t="t" r="r" b="b"/>
              <a:pathLst>
                <a:path w="14310" h="3625" extrusionOk="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71"/>
            <p:cNvSpPr/>
            <p:nvPr/>
          </p:nvSpPr>
          <p:spPr>
            <a:xfrm>
              <a:off x="874813" y="1108300"/>
              <a:ext cx="1488647" cy="1698266"/>
            </a:xfrm>
            <a:custGeom>
              <a:avLst/>
              <a:gdLst/>
              <a:ahLst/>
              <a:cxnLst/>
              <a:rect l="l" t="t" r="r" b="b"/>
              <a:pathLst>
                <a:path w="33037" h="37689" extrusionOk="0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71"/>
            <p:cNvSpPr/>
            <p:nvPr/>
          </p:nvSpPr>
          <p:spPr>
            <a:xfrm>
              <a:off x="1324857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71"/>
            <p:cNvSpPr/>
            <p:nvPr/>
          </p:nvSpPr>
          <p:spPr>
            <a:xfrm>
              <a:off x="1619854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2" name="Google Shape;1482;p71"/>
          <p:cNvGrpSpPr/>
          <p:nvPr/>
        </p:nvGrpSpPr>
        <p:grpSpPr>
          <a:xfrm rot="10800000">
            <a:off x="3498734" y="-73"/>
            <a:ext cx="753870" cy="1800196"/>
            <a:chOff x="5088650" y="245050"/>
            <a:chExt cx="1046025" cy="2497843"/>
          </a:xfrm>
        </p:grpSpPr>
        <p:sp>
          <p:nvSpPr>
            <p:cNvPr id="1483" name="Google Shape;1483;p71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71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71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71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71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71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412819" y="242394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ALIMENTACIÓ:</a:t>
            </a:r>
            <a:endParaRPr sz="2400" dirty="0"/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01807D35-4A23-4E63-819A-CA7B64003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" y="1215168"/>
            <a:ext cx="8186738" cy="271316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69919" y="228107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SENSORS:</a:t>
            </a:r>
            <a:endParaRPr sz="2400" dirty="0"/>
          </a:p>
        </p:txBody>
      </p:sp>
      <p:pic>
        <p:nvPicPr>
          <p:cNvPr id="5" name="Imagen 4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A7A5172F-4DA4-4A05-A9F0-BF003FC4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205" y="307433"/>
            <a:ext cx="3914776" cy="1874632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A624C13C-590C-4E92-B5E7-CC17640B059F}"/>
              </a:ext>
            </a:extLst>
          </p:cNvPr>
          <p:cNvSpPr txBox="1">
            <a:spLocks/>
          </p:cNvSpPr>
          <p:nvPr/>
        </p:nvSpPr>
        <p:spPr>
          <a:xfrm>
            <a:off x="6707981" y="171387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E065D5-764D-465D-9A84-609037789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194" y="2433451"/>
            <a:ext cx="4114798" cy="2481942"/>
          </a:xfrm>
          <a:prstGeom prst="rect">
            <a:avLst/>
          </a:prstGeom>
        </p:spPr>
      </p:pic>
      <p:sp>
        <p:nvSpPr>
          <p:cNvPr id="7" name="Título 4">
            <a:extLst>
              <a:ext uri="{FF2B5EF4-FFF2-40B4-BE49-F238E27FC236}">
                <a16:creationId xmlns:a16="http://schemas.microsoft.com/office/drawing/2014/main" id="{D45B43E1-E002-4325-8423-7697399B0957}"/>
              </a:ext>
            </a:extLst>
          </p:cNvPr>
          <p:cNvSpPr txBox="1">
            <a:spLocks/>
          </p:cNvSpPr>
          <p:nvPr/>
        </p:nvSpPr>
        <p:spPr>
          <a:xfrm>
            <a:off x="6807992" y="2433451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</p:spTree>
    <p:extLst>
      <p:ext uri="{BB962C8B-B14F-4D97-AF65-F5344CB8AC3E}">
        <p14:creationId xmlns:p14="http://schemas.microsoft.com/office/powerpoint/2010/main" val="5473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DRIVERS:</a:t>
            </a:r>
            <a:endParaRPr sz="2400" dirty="0"/>
          </a:p>
        </p:txBody>
      </p:sp>
      <p:pic>
        <p:nvPicPr>
          <p:cNvPr id="3" name="Imagen 2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272AE783-7DA2-4DE5-8EAB-347B1071D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94" y="772832"/>
            <a:ext cx="6043612" cy="3989498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44415F23-B906-4113-9B99-18B506A0D270}"/>
              </a:ext>
            </a:extLst>
          </p:cNvPr>
          <p:cNvSpPr txBox="1">
            <a:spLocks/>
          </p:cNvSpPr>
          <p:nvPr/>
        </p:nvSpPr>
        <p:spPr>
          <a:xfrm>
            <a:off x="7650956" y="650019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</p:spTree>
    <p:extLst>
      <p:ext uri="{BB962C8B-B14F-4D97-AF65-F5344CB8AC3E}">
        <p14:creationId xmlns:p14="http://schemas.microsoft.com/office/powerpoint/2010/main" val="260890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DRIVERS:</a:t>
            </a:r>
            <a:endParaRPr sz="2400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44415F23-B906-4113-9B99-18B506A0D270}"/>
              </a:ext>
            </a:extLst>
          </p:cNvPr>
          <p:cNvSpPr txBox="1">
            <a:spLocks/>
          </p:cNvSpPr>
          <p:nvPr/>
        </p:nvSpPr>
        <p:spPr>
          <a:xfrm>
            <a:off x="7650956" y="650019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  <p:pic>
        <p:nvPicPr>
          <p:cNvPr id="3" name="Imagen 2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5264AD59-FC74-41C6-9BB7-71199B7DE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092" y="292894"/>
            <a:ext cx="3595816" cy="455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70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EEPROM:</a:t>
            </a:r>
            <a:endParaRPr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A636C9-6222-4496-BCFB-D0E5372B9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580" y="224484"/>
            <a:ext cx="4572000" cy="4719484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246204CE-F4AD-44EA-9150-20A8C1084F63}"/>
              </a:ext>
            </a:extLst>
          </p:cNvPr>
          <p:cNvSpPr txBox="1">
            <a:spLocks/>
          </p:cNvSpPr>
          <p:nvPr/>
        </p:nvSpPr>
        <p:spPr>
          <a:xfrm>
            <a:off x="7263580" y="199532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</p:spTree>
    <p:extLst>
      <p:ext uri="{BB962C8B-B14F-4D97-AF65-F5344CB8AC3E}">
        <p14:creationId xmlns:p14="http://schemas.microsoft.com/office/powerpoint/2010/main" val="427856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EEPROM:</a:t>
            </a:r>
            <a:endParaRPr sz="2400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246204CE-F4AD-44EA-9150-20A8C1084F63}"/>
              </a:ext>
            </a:extLst>
          </p:cNvPr>
          <p:cNvSpPr txBox="1">
            <a:spLocks/>
          </p:cNvSpPr>
          <p:nvPr/>
        </p:nvSpPr>
        <p:spPr>
          <a:xfrm>
            <a:off x="7277148" y="199532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  <p:pic>
        <p:nvPicPr>
          <p:cNvPr id="3" name="Imagen 2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99FDD6C9-E2E0-4290-92C4-89303C559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284" y="476068"/>
            <a:ext cx="4511431" cy="41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23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55632" y="249538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MOSFET:</a:t>
            </a:r>
            <a:endParaRPr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6C9EC90-9D48-40E9-B467-67A9ADC1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182" y="249538"/>
            <a:ext cx="3873636" cy="4657726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74BB0353-E5B6-459F-9A4B-4F35227832EC}"/>
              </a:ext>
            </a:extLst>
          </p:cNvPr>
          <p:cNvSpPr txBox="1">
            <a:spLocks/>
          </p:cNvSpPr>
          <p:nvPr/>
        </p:nvSpPr>
        <p:spPr>
          <a:xfrm>
            <a:off x="6508818" y="236236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</p:spTree>
    <p:extLst>
      <p:ext uri="{BB962C8B-B14F-4D97-AF65-F5344CB8AC3E}">
        <p14:creationId xmlns:p14="http://schemas.microsoft.com/office/powerpoint/2010/main" val="3441902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55632" y="249538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MOSFET:</a:t>
            </a:r>
            <a:endParaRPr sz="2400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74BB0353-E5B6-459F-9A4B-4F35227832EC}"/>
              </a:ext>
            </a:extLst>
          </p:cNvPr>
          <p:cNvSpPr txBox="1">
            <a:spLocks/>
          </p:cNvSpPr>
          <p:nvPr/>
        </p:nvSpPr>
        <p:spPr>
          <a:xfrm>
            <a:off x="7282862" y="822838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F1B54B18-8100-4324-A455-2744ADCBC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638" y="822838"/>
            <a:ext cx="5152724" cy="380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89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177079" y="249538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CAN/DE-9:</a:t>
            </a:r>
            <a:endParaRPr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71CE629-868F-4508-AC9B-C135D4996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025" y="299545"/>
            <a:ext cx="2371724" cy="21585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84748F8-565A-4180-B370-8680593BA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025" y="2936081"/>
            <a:ext cx="2409562" cy="1842846"/>
          </a:xfrm>
          <a:prstGeom prst="rect">
            <a:avLst/>
          </a:prstGeom>
        </p:spPr>
      </p:pic>
      <p:pic>
        <p:nvPicPr>
          <p:cNvPr id="4" name="Imagen 3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89B5EBD5-5C86-44C0-8A65-DCC4914F34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73" y="728661"/>
            <a:ext cx="4782750" cy="368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77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205651" y="25668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BOTONERA:</a:t>
            </a:r>
            <a:endParaRPr sz="2400" dirty="0"/>
          </a:p>
        </p:txBody>
      </p:sp>
      <p:pic>
        <p:nvPicPr>
          <p:cNvPr id="3" name="Imagen 2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BCF25E22-4AB0-4E02-A5CB-72F08E04F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94" y="1057275"/>
            <a:ext cx="7288412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78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391388" y="242394"/>
            <a:ext cx="37162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MICROCONTROLADOR:</a:t>
            </a:r>
            <a:endParaRPr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FB6DA6-0A30-4338-979E-19C6DA0AB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13" y="647544"/>
            <a:ext cx="5972174" cy="4253562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C9BF6A56-8FBA-46E6-B63C-3C3BBE476509}"/>
              </a:ext>
            </a:extLst>
          </p:cNvPr>
          <p:cNvSpPr txBox="1">
            <a:spLocks/>
          </p:cNvSpPr>
          <p:nvPr/>
        </p:nvSpPr>
        <p:spPr>
          <a:xfrm>
            <a:off x="7558087" y="647544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</p:spTree>
    <p:extLst>
      <p:ext uri="{BB962C8B-B14F-4D97-AF65-F5344CB8AC3E}">
        <p14:creationId xmlns:p14="http://schemas.microsoft.com/office/powerpoint/2010/main" val="3554036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391388" y="242394"/>
            <a:ext cx="37162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MICROCONTROLADOR:</a:t>
            </a:r>
            <a:endParaRPr sz="2000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C9BF6A56-8FBA-46E6-B63C-3C3BBE476509}"/>
              </a:ext>
            </a:extLst>
          </p:cNvPr>
          <p:cNvSpPr txBox="1">
            <a:spLocks/>
          </p:cNvSpPr>
          <p:nvPr/>
        </p:nvSpPr>
        <p:spPr>
          <a:xfrm>
            <a:off x="7558087" y="647544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  <p:pic>
        <p:nvPicPr>
          <p:cNvPr id="5" name="Imagen 4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57F849A3-3D30-4ABD-BCB8-5F9CDF0EA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25" y="647544"/>
            <a:ext cx="5883150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82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ea typeface="Raleway ExtraBold"/>
                <a:cs typeface="Raleway ExtraBold"/>
                <a:sym typeface="Raleway ExtraBold"/>
              </a:rPr>
              <a:t>SIMULACIONS LTSPICE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5EB1D0B-6591-4B80-ABB2-47B0B4580E67}"/>
              </a:ext>
            </a:extLst>
          </p:cNvPr>
          <p:cNvSpPr txBox="1"/>
          <p:nvPr/>
        </p:nvSpPr>
        <p:spPr>
          <a:xfrm>
            <a:off x="934402" y="628888"/>
            <a:ext cx="72751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 particular, s’ha simulat el regulador de tensió (LM1117) amb diferents condicions de càrrega per comprovar la seva capacitat de mantenir una tensió estable de 3.3V davant variacions de corrent: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6CC8359-3A57-4C6A-8776-1E41AC5C0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47" y="2367356"/>
            <a:ext cx="2704824" cy="15544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D29F18-0AC0-44C8-AF62-CBCB5C015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534" y="2228858"/>
            <a:ext cx="4684394" cy="1831492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9BC2DB1-E760-44DB-80EE-A7BA556131FC}"/>
              </a:ext>
            </a:extLst>
          </p:cNvPr>
          <p:cNvCxnSpPr/>
          <p:nvPr/>
        </p:nvCxnSpPr>
        <p:spPr>
          <a:xfrm>
            <a:off x="3139440" y="3144604"/>
            <a:ext cx="624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EE2214-C068-4C2D-AF68-F25125CD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07531"/>
            <a:ext cx="3078480" cy="2743322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3E2A557-2FFB-43BF-BB4A-D0D9038B9A42}"/>
              </a:ext>
            </a:extLst>
          </p:cNvPr>
          <p:cNvCxnSpPr>
            <a:cxnSpLocks/>
          </p:cNvCxnSpPr>
          <p:nvPr/>
        </p:nvCxnSpPr>
        <p:spPr>
          <a:xfrm>
            <a:off x="4046220" y="3679192"/>
            <a:ext cx="777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9FC9BE51-856F-452D-B9C3-EA32D8D87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946" y="2307531"/>
            <a:ext cx="3006314" cy="274331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DD21B4E-AC4B-49E2-A5B2-DEC63AEA6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8380" y="290939"/>
            <a:ext cx="4312920" cy="168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8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sym typeface="Raleway ExtraBold"/>
              </a:rPr>
              <a:t>LAYOUT I PCB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4892162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5472113" y="2582250"/>
            <a:ext cx="2588974" cy="7761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Raleway ExtraBold"/>
                <a:sym typeface="Raleway ExtraBold"/>
              </a:rPr>
              <a:t>BOM I COSTOS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2932928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8"/>
          <p:cNvSpPr/>
          <p:nvPr/>
        </p:nvSpPr>
        <p:spPr>
          <a:xfrm>
            <a:off x="0" y="-4725"/>
            <a:ext cx="3229200" cy="360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8" name="Google Shape;858;p48"/>
          <p:cNvGrpSpPr/>
          <p:nvPr/>
        </p:nvGrpSpPr>
        <p:grpSpPr>
          <a:xfrm>
            <a:off x="587051" y="-4725"/>
            <a:ext cx="2055103" cy="3600596"/>
            <a:chOff x="715100" y="0"/>
            <a:chExt cx="2055103" cy="3600596"/>
          </a:xfrm>
        </p:grpSpPr>
        <p:sp>
          <p:nvSpPr>
            <p:cNvPr id="859" name="Google Shape;859;p48"/>
            <p:cNvSpPr/>
            <p:nvPr/>
          </p:nvSpPr>
          <p:spPr>
            <a:xfrm>
              <a:off x="715100" y="0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1" y="1"/>
                  </a:moveTo>
                  <a:lnTo>
                    <a:pt x="25182" y="51566"/>
                  </a:lnTo>
                  <a:lnTo>
                    <a:pt x="503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715100" y="1496445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25182" y="1"/>
                  </a:moveTo>
                  <a:lnTo>
                    <a:pt x="1" y="51565"/>
                  </a:lnTo>
                  <a:lnTo>
                    <a:pt x="50364" y="51565"/>
                  </a:lnTo>
                  <a:lnTo>
                    <a:pt x="251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48"/>
          <p:cNvSpPr/>
          <p:nvPr/>
        </p:nvSpPr>
        <p:spPr>
          <a:xfrm>
            <a:off x="0" y="3595725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48"/>
          <p:cNvSpPr txBox="1">
            <a:spLocks noGrp="1"/>
          </p:cNvSpPr>
          <p:nvPr>
            <p:ph type="title"/>
          </p:nvPr>
        </p:nvSpPr>
        <p:spPr>
          <a:xfrm flipH="1">
            <a:off x="3945910" y="665737"/>
            <a:ext cx="4201200" cy="1328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PRESSUPOST DE FABRICACIÓ</a:t>
            </a:r>
            <a:endParaRPr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864" name="Google Shape;864;p48"/>
          <p:cNvGrpSpPr/>
          <p:nvPr/>
        </p:nvGrpSpPr>
        <p:grpSpPr>
          <a:xfrm flipH="1">
            <a:off x="365293" y="3810001"/>
            <a:ext cx="2498613" cy="1123948"/>
            <a:chOff x="6237531" y="3846675"/>
            <a:chExt cx="2498613" cy="1123948"/>
          </a:xfrm>
        </p:grpSpPr>
        <p:sp>
          <p:nvSpPr>
            <p:cNvPr id="865" name="Google Shape;865;p48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8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8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8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8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8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48"/>
          <p:cNvGrpSpPr/>
          <p:nvPr/>
        </p:nvGrpSpPr>
        <p:grpSpPr>
          <a:xfrm>
            <a:off x="838451" y="522313"/>
            <a:ext cx="1552263" cy="2546518"/>
            <a:chOff x="966500" y="527038"/>
            <a:chExt cx="1552263" cy="2546518"/>
          </a:xfrm>
        </p:grpSpPr>
        <p:sp>
          <p:nvSpPr>
            <p:cNvPr id="876" name="Google Shape;876;p48"/>
            <p:cNvSpPr/>
            <p:nvPr/>
          </p:nvSpPr>
          <p:spPr>
            <a:xfrm>
              <a:off x="977844" y="539974"/>
              <a:ext cx="1529616" cy="2520647"/>
            </a:xfrm>
            <a:custGeom>
              <a:avLst/>
              <a:gdLst/>
              <a:ahLst/>
              <a:cxnLst/>
              <a:rect l="l" t="t" r="r" b="b"/>
              <a:pathLst>
                <a:path w="37486" h="61773" extrusionOk="0">
                  <a:moveTo>
                    <a:pt x="18743" y="1"/>
                  </a:moveTo>
                  <a:lnTo>
                    <a:pt x="18608" y="75"/>
                  </a:lnTo>
                  <a:cubicBezTo>
                    <a:pt x="13054" y="3146"/>
                    <a:pt x="8394" y="7562"/>
                    <a:pt x="5134" y="12847"/>
                  </a:cubicBezTo>
                  <a:cubicBezTo>
                    <a:pt x="3483" y="15523"/>
                    <a:pt x="2209" y="18394"/>
                    <a:pt x="1344" y="21380"/>
                  </a:cubicBezTo>
                  <a:cubicBezTo>
                    <a:pt x="452" y="24461"/>
                    <a:pt x="0" y="27660"/>
                    <a:pt x="0" y="30886"/>
                  </a:cubicBezTo>
                  <a:cubicBezTo>
                    <a:pt x="0" y="34114"/>
                    <a:pt x="452" y="37312"/>
                    <a:pt x="1344" y="40393"/>
                  </a:cubicBezTo>
                  <a:cubicBezTo>
                    <a:pt x="2209" y="43379"/>
                    <a:pt x="3484" y="46250"/>
                    <a:pt x="5134" y="48927"/>
                  </a:cubicBezTo>
                  <a:cubicBezTo>
                    <a:pt x="8394" y="54211"/>
                    <a:pt x="13054" y="58628"/>
                    <a:pt x="18608" y="61699"/>
                  </a:cubicBezTo>
                  <a:lnTo>
                    <a:pt x="18743" y="61773"/>
                  </a:lnTo>
                  <a:lnTo>
                    <a:pt x="18877" y="61699"/>
                  </a:lnTo>
                  <a:cubicBezTo>
                    <a:pt x="24432" y="58628"/>
                    <a:pt x="29092" y="54211"/>
                    <a:pt x="32351" y="48927"/>
                  </a:cubicBezTo>
                  <a:cubicBezTo>
                    <a:pt x="34002" y="46250"/>
                    <a:pt x="35277" y="43379"/>
                    <a:pt x="36142" y="40393"/>
                  </a:cubicBezTo>
                  <a:cubicBezTo>
                    <a:pt x="37033" y="37312"/>
                    <a:pt x="37485" y="34114"/>
                    <a:pt x="37485" y="30886"/>
                  </a:cubicBezTo>
                  <a:cubicBezTo>
                    <a:pt x="37485" y="27660"/>
                    <a:pt x="37033" y="24461"/>
                    <a:pt x="36142" y="21380"/>
                  </a:cubicBezTo>
                  <a:cubicBezTo>
                    <a:pt x="35277" y="18394"/>
                    <a:pt x="34002" y="15523"/>
                    <a:pt x="32351" y="12847"/>
                  </a:cubicBezTo>
                  <a:cubicBezTo>
                    <a:pt x="29092" y="7562"/>
                    <a:pt x="24432" y="3146"/>
                    <a:pt x="18877" y="75"/>
                  </a:cubicBezTo>
                  <a:lnTo>
                    <a:pt x="1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8"/>
            <p:cNvSpPr/>
            <p:nvPr/>
          </p:nvSpPr>
          <p:spPr>
            <a:xfrm>
              <a:off x="966500" y="527038"/>
              <a:ext cx="1552263" cy="2546518"/>
            </a:xfrm>
            <a:custGeom>
              <a:avLst/>
              <a:gdLst/>
              <a:ahLst/>
              <a:cxnLst/>
              <a:rect l="l" t="t" r="r" b="b"/>
              <a:pathLst>
                <a:path w="38041" h="62407" extrusionOk="0">
                  <a:moveTo>
                    <a:pt x="19021" y="634"/>
                  </a:moveTo>
                  <a:cubicBezTo>
                    <a:pt x="30059" y="6736"/>
                    <a:pt x="37486" y="18141"/>
                    <a:pt x="37486" y="31203"/>
                  </a:cubicBezTo>
                  <a:cubicBezTo>
                    <a:pt x="37486" y="44266"/>
                    <a:pt x="30059" y="55670"/>
                    <a:pt x="19021" y="61772"/>
                  </a:cubicBezTo>
                  <a:cubicBezTo>
                    <a:pt x="7983" y="55670"/>
                    <a:pt x="556" y="44266"/>
                    <a:pt x="556" y="31203"/>
                  </a:cubicBezTo>
                  <a:cubicBezTo>
                    <a:pt x="556" y="18141"/>
                    <a:pt x="7983" y="6738"/>
                    <a:pt x="19021" y="634"/>
                  </a:cubicBezTo>
                  <a:close/>
                  <a:moveTo>
                    <a:pt x="19021" y="0"/>
                  </a:moveTo>
                  <a:lnTo>
                    <a:pt x="18752" y="149"/>
                  </a:lnTo>
                  <a:cubicBezTo>
                    <a:pt x="15965" y="1690"/>
                    <a:pt x="13390" y="3573"/>
                    <a:pt x="11097" y="5746"/>
                  </a:cubicBezTo>
                  <a:cubicBezTo>
                    <a:pt x="8804" y="7919"/>
                    <a:pt x="6812" y="10365"/>
                    <a:pt x="5177" y="13017"/>
                  </a:cubicBezTo>
                  <a:cubicBezTo>
                    <a:pt x="3513" y="15715"/>
                    <a:pt x="2227" y="18610"/>
                    <a:pt x="1355" y="21621"/>
                  </a:cubicBezTo>
                  <a:cubicBezTo>
                    <a:pt x="456" y="24726"/>
                    <a:pt x="1" y="27950"/>
                    <a:pt x="1" y="31203"/>
                  </a:cubicBezTo>
                  <a:cubicBezTo>
                    <a:pt x="1" y="34457"/>
                    <a:pt x="456" y="37681"/>
                    <a:pt x="1355" y="40787"/>
                  </a:cubicBezTo>
                  <a:cubicBezTo>
                    <a:pt x="2227" y="43797"/>
                    <a:pt x="3513" y="46692"/>
                    <a:pt x="5177" y="49390"/>
                  </a:cubicBezTo>
                  <a:cubicBezTo>
                    <a:pt x="6812" y="52042"/>
                    <a:pt x="8804" y="54488"/>
                    <a:pt x="11097" y="56662"/>
                  </a:cubicBezTo>
                  <a:cubicBezTo>
                    <a:pt x="13390" y="58835"/>
                    <a:pt x="15965" y="60718"/>
                    <a:pt x="18752" y="62258"/>
                  </a:cubicBezTo>
                  <a:lnTo>
                    <a:pt x="19021" y="62406"/>
                  </a:lnTo>
                  <a:lnTo>
                    <a:pt x="19290" y="62258"/>
                  </a:lnTo>
                  <a:cubicBezTo>
                    <a:pt x="22077" y="60718"/>
                    <a:pt x="24652" y="58835"/>
                    <a:pt x="26945" y="56662"/>
                  </a:cubicBezTo>
                  <a:cubicBezTo>
                    <a:pt x="29238" y="54488"/>
                    <a:pt x="31229" y="52042"/>
                    <a:pt x="32866" y="49390"/>
                  </a:cubicBezTo>
                  <a:cubicBezTo>
                    <a:pt x="34529" y="46692"/>
                    <a:pt x="35815" y="43797"/>
                    <a:pt x="36686" y="40787"/>
                  </a:cubicBezTo>
                  <a:cubicBezTo>
                    <a:pt x="37586" y="37681"/>
                    <a:pt x="38041" y="34457"/>
                    <a:pt x="38041" y="31203"/>
                  </a:cubicBezTo>
                  <a:cubicBezTo>
                    <a:pt x="38041" y="27950"/>
                    <a:pt x="37586" y="24726"/>
                    <a:pt x="36686" y="21621"/>
                  </a:cubicBezTo>
                  <a:cubicBezTo>
                    <a:pt x="35815" y="18610"/>
                    <a:pt x="34529" y="15715"/>
                    <a:pt x="32866" y="13017"/>
                  </a:cubicBezTo>
                  <a:cubicBezTo>
                    <a:pt x="31229" y="10365"/>
                    <a:pt x="29238" y="7919"/>
                    <a:pt x="26945" y="5746"/>
                  </a:cubicBezTo>
                  <a:cubicBezTo>
                    <a:pt x="24652" y="3573"/>
                    <a:pt x="22077" y="1690"/>
                    <a:pt x="19290" y="149"/>
                  </a:cubicBezTo>
                  <a:lnTo>
                    <a:pt x="19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8"/>
            <p:cNvSpPr/>
            <p:nvPr/>
          </p:nvSpPr>
          <p:spPr>
            <a:xfrm>
              <a:off x="1137800" y="1195467"/>
              <a:ext cx="1209664" cy="1209705"/>
            </a:xfrm>
            <a:custGeom>
              <a:avLst/>
              <a:gdLst/>
              <a:ahLst/>
              <a:cxnLst/>
              <a:rect l="l" t="t" r="r" b="b"/>
              <a:pathLst>
                <a:path w="29645" h="29646" extrusionOk="0">
                  <a:moveTo>
                    <a:pt x="14823" y="0"/>
                  </a:moveTo>
                  <a:cubicBezTo>
                    <a:pt x="10891" y="0"/>
                    <a:pt x="7122" y="1561"/>
                    <a:pt x="4342" y="4341"/>
                  </a:cubicBezTo>
                  <a:cubicBezTo>
                    <a:pt x="1562" y="7122"/>
                    <a:pt x="1" y="10891"/>
                    <a:pt x="1" y="14822"/>
                  </a:cubicBezTo>
                  <a:cubicBezTo>
                    <a:pt x="1" y="18754"/>
                    <a:pt x="1562" y="22524"/>
                    <a:pt x="4342" y="25303"/>
                  </a:cubicBezTo>
                  <a:cubicBezTo>
                    <a:pt x="7122" y="28083"/>
                    <a:pt x="10891" y="29646"/>
                    <a:pt x="14823" y="29646"/>
                  </a:cubicBezTo>
                  <a:cubicBezTo>
                    <a:pt x="18754" y="29646"/>
                    <a:pt x="22524" y="28083"/>
                    <a:pt x="25304" y="25303"/>
                  </a:cubicBezTo>
                  <a:cubicBezTo>
                    <a:pt x="28084" y="22524"/>
                    <a:pt x="29645" y="18754"/>
                    <a:pt x="29645" y="14822"/>
                  </a:cubicBezTo>
                  <a:cubicBezTo>
                    <a:pt x="29645" y="10891"/>
                    <a:pt x="28084" y="7122"/>
                    <a:pt x="25304" y="4341"/>
                  </a:cubicBezTo>
                  <a:cubicBezTo>
                    <a:pt x="22524" y="1561"/>
                    <a:pt x="18754" y="0"/>
                    <a:pt x="1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8"/>
            <p:cNvSpPr/>
            <p:nvPr/>
          </p:nvSpPr>
          <p:spPr>
            <a:xfrm>
              <a:off x="1324810" y="1382476"/>
              <a:ext cx="835646" cy="835646"/>
            </a:xfrm>
            <a:custGeom>
              <a:avLst/>
              <a:gdLst/>
              <a:ahLst/>
              <a:cxnLst/>
              <a:rect l="l" t="t" r="r" b="b"/>
              <a:pathLst>
                <a:path w="20479" h="20479" extrusionOk="0">
                  <a:moveTo>
                    <a:pt x="10240" y="1"/>
                  </a:moveTo>
                  <a:cubicBezTo>
                    <a:pt x="7524" y="1"/>
                    <a:pt x="4919" y="1080"/>
                    <a:pt x="3000" y="2999"/>
                  </a:cubicBezTo>
                  <a:cubicBezTo>
                    <a:pt x="1079" y="4920"/>
                    <a:pt x="1" y="7524"/>
                    <a:pt x="1" y="10239"/>
                  </a:cubicBezTo>
                  <a:cubicBezTo>
                    <a:pt x="1" y="12955"/>
                    <a:pt x="1079" y="15560"/>
                    <a:pt x="3000" y="17479"/>
                  </a:cubicBezTo>
                  <a:cubicBezTo>
                    <a:pt x="4919" y="19400"/>
                    <a:pt x="7524" y="20478"/>
                    <a:pt x="10240" y="20478"/>
                  </a:cubicBezTo>
                  <a:cubicBezTo>
                    <a:pt x="12956" y="20478"/>
                    <a:pt x="15560" y="19400"/>
                    <a:pt x="17480" y="17479"/>
                  </a:cubicBezTo>
                  <a:cubicBezTo>
                    <a:pt x="19401" y="15560"/>
                    <a:pt x="20479" y="12955"/>
                    <a:pt x="20479" y="10239"/>
                  </a:cubicBezTo>
                  <a:cubicBezTo>
                    <a:pt x="20479" y="7524"/>
                    <a:pt x="19401" y="4920"/>
                    <a:pt x="17480" y="2999"/>
                  </a:cubicBezTo>
                  <a:cubicBezTo>
                    <a:pt x="15560" y="1080"/>
                    <a:pt x="12956" y="1"/>
                    <a:pt x="10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1622809" y="1648934"/>
              <a:ext cx="239689" cy="349780"/>
            </a:xfrm>
            <a:custGeom>
              <a:avLst/>
              <a:gdLst/>
              <a:ahLst/>
              <a:cxnLst/>
              <a:rect l="l" t="t" r="r" b="b"/>
              <a:pathLst>
                <a:path w="5874" h="8572" extrusionOk="0">
                  <a:moveTo>
                    <a:pt x="1697" y="0"/>
                  </a:moveTo>
                  <a:lnTo>
                    <a:pt x="0" y="4883"/>
                  </a:lnTo>
                  <a:lnTo>
                    <a:pt x="2306" y="4883"/>
                  </a:lnTo>
                  <a:lnTo>
                    <a:pt x="1697" y="8571"/>
                  </a:lnTo>
                  <a:lnTo>
                    <a:pt x="5873" y="3524"/>
                  </a:lnTo>
                  <a:lnTo>
                    <a:pt x="3177" y="3524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48"/>
          <p:cNvSpPr txBox="1">
            <a:spLocks noGrp="1"/>
          </p:cNvSpPr>
          <p:nvPr>
            <p:ph type="subTitle" idx="1"/>
          </p:nvPr>
        </p:nvSpPr>
        <p:spPr>
          <a:xfrm flipH="1">
            <a:off x="3415957" y="2701341"/>
            <a:ext cx="5261106" cy="8963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200" dirty="0"/>
              <a:t>Vam procedir a crear un compte a </a:t>
            </a:r>
            <a:r>
              <a:rPr lang="ca-ES" sz="1200" dirty="0" err="1"/>
              <a:t>Mouser</a:t>
            </a:r>
            <a:r>
              <a:rPr lang="ca-ES" sz="1200" dirty="0"/>
              <a:t> Electronics, Inc. Vam crear un projecte nou el qual es va exportar el BOM creat pel </a:t>
            </a:r>
            <a:r>
              <a:rPr lang="ca-ES" sz="1200" dirty="0" err="1"/>
              <a:t>KICad</a:t>
            </a:r>
            <a:r>
              <a:rPr lang="ca-ES" sz="1200" dirty="0"/>
              <a:t> i tots els components que hem utilitzat van quedar enregistrats en un altre arxiu de fulla de càlcul (.</a:t>
            </a:r>
            <a:r>
              <a:rPr lang="ca-ES" sz="1200" dirty="0" err="1"/>
              <a:t>xlxs</a:t>
            </a:r>
            <a:r>
              <a:rPr lang="ca-ES" sz="1200" dirty="0"/>
              <a:t>).</a:t>
            </a:r>
          </a:p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endParaRPr lang="ca-ES" sz="1200" dirty="0"/>
          </a:p>
        </p:txBody>
      </p:sp>
    </p:spTree>
    <p:extLst>
      <p:ext uri="{BB962C8B-B14F-4D97-AF65-F5344CB8AC3E}">
        <p14:creationId xmlns:p14="http://schemas.microsoft.com/office/powerpoint/2010/main" val="9793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3;p48">
            <a:extLst>
              <a:ext uri="{FF2B5EF4-FFF2-40B4-BE49-F238E27FC236}">
                <a16:creationId xmlns:a16="http://schemas.microsoft.com/office/drawing/2014/main" id="{73EEAA82-72C4-4224-A8B4-60C3E026D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523567" y="206477"/>
            <a:ext cx="6378678" cy="1328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PRESSUPOST DE FABRICACIÓ:</a:t>
            </a:r>
            <a:endParaRPr sz="2400"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3" name="Google Shape;862;p48">
            <a:extLst>
              <a:ext uri="{FF2B5EF4-FFF2-40B4-BE49-F238E27FC236}">
                <a16:creationId xmlns:a16="http://schemas.microsoft.com/office/drawing/2014/main" id="{36A4F6F8-93BA-4FA3-A25F-2A0DE6B33F10}"/>
              </a:ext>
            </a:extLst>
          </p:cNvPr>
          <p:cNvSpPr txBox="1">
            <a:spLocks/>
          </p:cNvSpPr>
          <p:nvPr/>
        </p:nvSpPr>
        <p:spPr>
          <a:xfrm flipH="1">
            <a:off x="1004594" y="1003009"/>
            <a:ext cx="7269491" cy="896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Aft>
                <a:spcPts val="1600"/>
              </a:spcAft>
              <a:buFont typeface="Open Sans"/>
              <a:buNone/>
            </a:pPr>
            <a:r>
              <a:rPr lang="ca-ES" sz="1200" dirty="0"/>
              <a:t>Com a idea general, el cost del projecte no és fix, sinó que depèn principalment de:</a:t>
            </a:r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42D12643-7320-4D88-9593-DCE1B5E6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54" y="2571750"/>
            <a:ext cx="7404172" cy="13441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260D9E5-96F6-4BD9-989C-F884EAAB9B29}"/>
              </a:ext>
            </a:extLst>
          </p:cNvPr>
          <p:cNvSpPr txBox="1"/>
          <p:nvPr/>
        </p:nvSpPr>
        <p:spPr>
          <a:xfrm>
            <a:off x="3447435" y="1745462"/>
            <a:ext cx="224912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ca-ES" dirty="0"/>
              <a:t>VOLUM DE PRODUCCIÓ</a:t>
            </a:r>
          </a:p>
        </p:txBody>
      </p:sp>
    </p:spTree>
    <p:extLst>
      <p:ext uri="{BB962C8B-B14F-4D97-AF65-F5344CB8AC3E}">
        <p14:creationId xmlns:p14="http://schemas.microsoft.com/office/powerpoint/2010/main" val="2765158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3;p48">
            <a:extLst>
              <a:ext uri="{FF2B5EF4-FFF2-40B4-BE49-F238E27FC236}">
                <a16:creationId xmlns:a16="http://schemas.microsoft.com/office/drawing/2014/main" id="{73EEAA82-72C4-4224-A8B4-60C3E026D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523567" y="398206"/>
            <a:ext cx="6378678" cy="634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PRESSUPOST DE FABRICACIÓ:</a:t>
            </a:r>
            <a:endParaRPr sz="2400"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3" name="Google Shape;862;p48">
            <a:extLst>
              <a:ext uri="{FF2B5EF4-FFF2-40B4-BE49-F238E27FC236}">
                <a16:creationId xmlns:a16="http://schemas.microsoft.com/office/drawing/2014/main" id="{36A4F6F8-93BA-4FA3-A25F-2A0DE6B33F10}"/>
              </a:ext>
            </a:extLst>
          </p:cNvPr>
          <p:cNvSpPr txBox="1">
            <a:spLocks/>
          </p:cNvSpPr>
          <p:nvPr/>
        </p:nvSpPr>
        <p:spPr>
          <a:xfrm flipH="1">
            <a:off x="523567" y="1340483"/>
            <a:ext cx="3716594" cy="271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Aft>
                <a:spcPts val="1600"/>
              </a:spcAft>
              <a:buFont typeface="Open Sans"/>
              <a:buNone/>
            </a:pPr>
            <a:r>
              <a:rPr lang="fr-FR" sz="1600" dirty="0"/>
              <a:t>l el </a:t>
            </a:r>
            <a:r>
              <a:rPr lang="fr-FR" sz="1600" dirty="0" err="1"/>
              <a:t>projecte</a:t>
            </a:r>
            <a:r>
              <a:rPr lang="fr-FR" sz="1600" dirty="0"/>
              <a:t> </a:t>
            </a:r>
            <a:r>
              <a:rPr lang="fr-FR" sz="1600" dirty="0" err="1"/>
              <a:t>demana</a:t>
            </a:r>
            <a:r>
              <a:rPr lang="fr-FR" sz="1600" dirty="0"/>
              <a:t> </a:t>
            </a:r>
            <a:r>
              <a:rPr lang="fr-FR" sz="1600" dirty="0" err="1"/>
              <a:t>analitzar</a:t>
            </a:r>
            <a:r>
              <a:rPr lang="fr-FR" sz="1600" dirty="0"/>
              <a:t>:</a:t>
            </a:r>
          </a:p>
          <a:p>
            <a:pPr marL="1085850" lvl="2" indent="-171450" algn="just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600" dirty="0"/>
              <a:t>x10 </a:t>
            </a:r>
            <a:r>
              <a:rPr lang="fr-FR" sz="1600" dirty="0" err="1"/>
              <a:t>unitats</a:t>
            </a:r>
            <a:endParaRPr lang="fr-FR" sz="1600" dirty="0"/>
          </a:p>
          <a:p>
            <a:pPr marL="1085850" lvl="2" indent="-171450" algn="just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600" dirty="0"/>
              <a:t>x50 </a:t>
            </a:r>
            <a:r>
              <a:rPr lang="fr-FR" sz="1600" dirty="0" err="1"/>
              <a:t>unitats</a:t>
            </a:r>
            <a:endParaRPr lang="fr-FR" sz="1600" dirty="0"/>
          </a:p>
          <a:p>
            <a:pPr marL="1085850" lvl="2" indent="-171450" algn="just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600" dirty="0"/>
              <a:t>x1.000 </a:t>
            </a:r>
            <a:r>
              <a:rPr lang="fr-FR" sz="1600" dirty="0" err="1"/>
              <a:t>unitats</a:t>
            </a:r>
            <a:endParaRPr lang="fr-FR" sz="1600" dirty="0"/>
          </a:p>
          <a:p>
            <a:pPr marL="1085850" lvl="2" indent="-171450" algn="just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600" dirty="0"/>
              <a:t>x20.000 </a:t>
            </a:r>
            <a:r>
              <a:rPr lang="fr-FR" sz="1600" dirty="0" err="1"/>
              <a:t>unitats</a:t>
            </a:r>
            <a:endParaRPr lang="ca-ES" sz="1600" dirty="0"/>
          </a:p>
        </p:txBody>
      </p:sp>
      <p:pic>
        <p:nvPicPr>
          <p:cNvPr id="5" name="Imagen 4" descr="Mapa&#10;&#10;El contenido generado por IA puede ser incorrecto.">
            <a:extLst>
              <a:ext uri="{FF2B5EF4-FFF2-40B4-BE49-F238E27FC236}">
                <a16:creationId xmlns:a16="http://schemas.microsoft.com/office/drawing/2014/main" id="{3ECD9FCF-DED9-4849-8185-A80E7379F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85" y="1138308"/>
            <a:ext cx="3960940" cy="360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91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3;p48">
            <a:extLst>
              <a:ext uri="{FF2B5EF4-FFF2-40B4-BE49-F238E27FC236}">
                <a16:creationId xmlns:a16="http://schemas.microsoft.com/office/drawing/2014/main" id="{73EEAA82-72C4-4224-A8B4-60C3E026D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523567" y="383458"/>
            <a:ext cx="6378678" cy="641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PRESSUPOST DE FABRICACIÓ:</a:t>
            </a:r>
            <a:endParaRPr sz="2400"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80C1FD2-CE61-4C22-969C-9350EF23A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046017"/>
              </p:ext>
            </p:extLst>
          </p:nvPr>
        </p:nvGraphicFramePr>
        <p:xfrm>
          <a:off x="714375" y="1809750"/>
          <a:ext cx="771525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857625">
                  <a:extLst>
                    <a:ext uri="{9D8B030D-6E8A-4147-A177-3AD203B41FA5}">
                      <a16:colId xmlns:a16="http://schemas.microsoft.com/office/drawing/2014/main" val="2183881921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3097234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ca-ES" noProof="0"/>
                        <a:t>Volum (per unitats)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a-ES" noProof="0"/>
                        <a:t>Cost 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793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a-ES" noProof="0" dirty="0"/>
                        <a:t>x1 unitats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ca-ES" b="1" noProof="0"/>
                        <a:t>53.87 €</a:t>
                      </a:r>
                      <a:endParaRPr lang="ca-ES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88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a-ES" noProof="0"/>
                        <a:t>x10 unitats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a-ES" b="1" noProof="0"/>
                        <a:t>538.7 €</a:t>
                      </a:r>
                      <a:endParaRPr lang="ca-ES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90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a-ES" noProof="0"/>
                        <a:t>x50 unitats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a-ES" b="1" noProof="0"/>
                        <a:t>2693.5 €</a:t>
                      </a:r>
                      <a:endParaRPr lang="ca-ES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851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a-ES" noProof="0"/>
                        <a:t>x1.000 unitats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a-ES" b="1" noProof="0"/>
                        <a:t>53.871 €</a:t>
                      </a:r>
                      <a:endParaRPr lang="ca-ES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280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a-ES" noProof="0" dirty="0"/>
                        <a:t>x20.000 unitats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a-ES" b="1" noProof="0" dirty="0"/>
                        <a:t>1.077.420 €</a:t>
                      </a:r>
                      <a:endParaRPr lang="ca-E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3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083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3;p48">
            <a:extLst>
              <a:ext uri="{FF2B5EF4-FFF2-40B4-BE49-F238E27FC236}">
                <a16:creationId xmlns:a16="http://schemas.microsoft.com/office/drawing/2014/main" id="{73EEAA82-72C4-4224-A8B4-60C3E026D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523567" y="383458"/>
            <a:ext cx="6378678" cy="641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PRESSUPOST DE FABRICACIÓ:</a:t>
            </a:r>
            <a:endParaRPr sz="2400"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5" name="Google Shape;862;p48">
            <a:extLst>
              <a:ext uri="{FF2B5EF4-FFF2-40B4-BE49-F238E27FC236}">
                <a16:creationId xmlns:a16="http://schemas.microsoft.com/office/drawing/2014/main" id="{601EE580-EDAC-4E46-BF25-A205D60C534F}"/>
              </a:ext>
            </a:extLst>
          </p:cNvPr>
          <p:cNvSpPr txBox="1">
            <a:spLocks/>
          </p:cNvSpPr>
          <p:nvPr/>
        </p:nvSpPr>
        <p:spPr>
          <a:xfrm flipH="1">
            <a:off x="582560" y="2700799"/>
            <a:ext cx="3716594" cy="64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Aft>
                <a:spcPts val="1600"/>
              </a:spcAft>
              <a:buFont typeface="Open Sans"/>
              <a:buNone/>
            </a:pPr>
            <a:r>
              <a:rPr lang="es-ES" sz="1600" dirty="0" err="1"/>
              <a:t>Segons</a:t>
            </a:r>
            <a:r>
              <a:rPr lang="es-ES" sz="1600" dirty="0"/>
              <a:t> el </a:t>
            </a:r>
            <a:r>
              <a:rPr lang="es-ES" sz="1600" dirty="0" err="1"/>
              <a:t>document</a:t>
            </a:r>
            <a:r>
              <a:rPr lang="es-ES" sz="1600" dirty="0"/>
              <a:t>, el </a:t>
            </a:r>
            <a:r>
              <a:rPr lang="es-ES" sz="1600" dirty="0" err="1"/>
              <a:t>cost</a:t>
            </a:r>
            <a:r>
              <a:rPr lang="es-ES" sz="1600" dirty="0"/>
              <a:t> es </a:t>
            </a:r>
            <a:r>
              <a:rPr lang="es-ES" sz="1600" dirty="0" err="1"/>
              <a:t>divideix</a:t>
            </a:r>
            <a:r>
              <a:rPr lang="es-ES" sz="1600" dirty="0"/>
              <a:t> en:</a:t>
            </a:r>
            <a:endParaRPr lang="ca-ES" sz="1600" dirty="0"/>
          </a:p>
        </p:txBody>
      </p:sp>
      <p:sp>
        <p:nvSpPr>
          <p:cNvPr id="3" name="Abrir llave 2">
            <a:extLst>
              <a:ext uri="{FF2B5EF4-FFF2-40B4-BE49-F238E27FC236}">
                <a16:creationId xmlns:a16="http://schemas.microsoft.com/office/drawing/2014/main" id="{6A9551B4-32EB-4FE8-AF42-BBA0023A6838}"/>
              </a:ext>
            </a:extLst>
          </p:cNvPr>
          <p:cNvSpPr/>
          <p:nvPr/>
        </p:nvSpPr>
        <p:spPr>
          <a:xfrm>
            <a:off x="4490884" y="1487745"/>
            <a:ext cx="81116" cy="300867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6" name="Google Shape;862;p48">
            <a:extLst>
              <a:ext uri="{FF2B5EF4-FFF2-40B4-BE49-F238E27FC236}">
                <a16:creationId xmlns:a16="http://schemas.microsoft.com/office/drawing/2014/main" id="{ED45DB3F-D557-4854-9081-BE5906F621B8}"/>
              </a:ext>
            </a:extLst>
          </p:cNvPr>
          <p:cNvSpPr txBox="1">
            <a:spLocks/>
          </p:cNvSpPr>
          <p:nvPr/>
        </p:nvSpPr>
        <p:spPr>
          <a:xfrm flipH="1">
            <a:off x="4628535" y="1423219"/>
            <a:ext cx="3716594" cy="295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 indent="-342900" algn="just">
              <a:spcAft>
                <a:spcPts val="1600"/>
              </a:spcAft>
              <a:buFont typeface="+mj-lt"/>
              <a:buAutoNum type="arabicPeriod"/>
            </a:pPr>
            <a:r>
              <a:rPr lang="es-ES" sz="1600" b="1" dirty="0" err="1"/>
              <a:t>Components</a:t>
            </a:r>
            <a:r>
              <a:rPr lang="es-ES" sz="1600" b="1" dirty="0"/>
              <a:t> (BOM)</a:t>
            </a:r>
          </a:p>
          <a:p>
            <a:pPr marL="342900" indent="-342900" algn="just">
              <a:spcAft>
                <a:spcPts val="1600"/>
              </a:spcAft>
              <a:buFont typeface="+mj-lt"/>
              <a:buAutoNum type="arabicPeriod"/>
            </a:pPr>
            <a:endParaRPr lang="es-ES" sz="1600" b="1" dirty="0"/>
          </a:p>
          <a:p>
            <a:pPr marL="342900" indent="-342900" algn="just">
              <a:spcAft>
                <a:spcPts val="1600"/>
              </a:spcAft>
              <a:buFont typeface="+mj-lt"/>
              <a:buAutoNum type="arabicPeriod"/>
            </a:pPr>
            <a:endParaRPr lang="es-ES" sz="1600" b="1" dirty="0"/>
          </a:p>
          <a:p>
            <a:pPr marL="342900" indent="-342900" algn="just">
              <a:spcAft>
                <a:spcPts val="1600"/>
              </a:spcAft>
              <a:buFont typeface="+mj-lt"/>
              <a:buAutoNum type="arabicPeriod"/>
            </a:pPr>
            <a:r>
              <a:rPr lang="es-ES" sz="1600" b="1" dirty="0"/>
              <a:t> </a:t>
            </a:r>
            <a:r>
              <a:rPr lang="es-ES" sz="1600" b="1" dirty="0" err="1"/>
              <a:t>Fabricació</a:t>
            </a:r>
            <a:r>
              <a:rPr lang="es-ES" sz="1600" b="1" dirty="0"/>
              <a:t> de la PCB</a:t>
            </a:r>
          </a:p>
          <a:p>
            <a:pPr marL="342900" indent="-342900" algn="just">
              <a:spcAft>
                <a:spcPts val="1600"/>
              </a:spcAft>
              <a:buFont typeface="+mj-lt"/>
              <a:buAutoNum type="arabicPeriod"/>
            </a:pPr>
            <a:endParaRPr lang="es-ES" sz="1600" b="1" dirty="0"/>
          </a:p>
          <a:p>
            <a:pPr marL="342900" indent="-342900" algn="just">
              <a:spcAft>
                <a:spcPts val="1600"/>
              </a:spcAft>
              <a:buFont typeface="+mj-lt"/>
              <a:buAutoNum type="arabicPeriod"/>
            </a:pPr>
            <a:endParaRPr lang="es-ES" sz="1600" b="1" dirty="0"/>
          </a:p>
          <a:p>
            <a:pPr marL="342900" indent="-342900" algn="just">
              <a:spcAft>
                <a:spcPts val="1600"/>
              </a:spcAft>
              <a:buFont typeface="+mj-lt"/>
              <a:buAutoNum type="arabicPeriod"/>
            </a:pPr>
            <a:r>
              <a:rPr lang="ca-ES" sz="1600" b="1" dirty="0"/>
              <a:t>Muntatge</a:t>
            </a:r>
          </a:p>
        </p:txBody>
      </p:sp>
    </p:spTree>
    <p:extLst>
      <p:ext uri="{BB962C8B-B14F-4D97-AF65-F5344CB8AC3E}">
        <p14:creationId xmlns:p14="http://schemas.microsoft.com/office/powerpoint/2010/main" val="1200545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3;p48">
            <a:extLst>
              <a:ext uri="{FF2B5EF4-FFF2-40B4-BE49-F238E27FC236}">
                <a16:creationId xmlns:a16="http://schemas.microsoft.com/office/drawing/2014/main" id="{73EEAA82-72C4-4224-A8B4-60C3E026D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523567" y="398206"/>
            <a:ext cx="6378678" cy="634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PRESSUPOST DE FABRICACIÓ:</a:t>
            </a:r>
            <a:endParaRPr sz="2400"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3" name="Google Shape;862;p48">
            <a:extLst>
              <a:ext uri="{FF2B5EF4-FFF2-40B4-BE49-F238E27FC236}">
                <a16:creationId xmlns:a16="http://schemas.microsoft.com/office/drawing/2014/main" id="{36A4F6F8-93BA-4FA3-A25F-2A0DE6B33F10}"/>
              </a:ext>
            </a:extLst>
          </p:cNvPr>
          <p:cNvSpPr txBox="1">
            <a:spLocks/>
          </p:cNvSpPr>
          <p:nvPr/>
        </p:nvSpPr>
        <p:spPr>
          <a:xfrm flipH="1">
            <a:off x="523567" y="1661987"/>
            <a:ext cx="3399504" cy="316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Aft>
                <a:spcPts val="1600"/>
              </a:spcAft>
              <a:buFont typeface="Open Sans"/>
              <a:buNone/>
            </a:pPr>
            <a:r>
              <a:rPr lang="fr-FR" dirty="0"/>
              <a:t>l </a:t>
            </a:r>
            <a:r>
              <a:rPr lang="fr-FR" dirty="0" err="1"/>
              <a:t>què</a:t>
            </a:r>
            <a:r>
              <a:rPr lang="fr-FR" dirty="0"/>
              <a:t> passa amb el </a:t>
            </a:r>
            <a:r>
              <a:rPr lang="fr-FR" dirty="0" err="1"/>
              <a:t>cost</a:t>
            </a:r>
            <a:r>
              <a:rPr lang="fr-FR" dirty="0"/>
              <a:t>?</a:t>
            </a:r>
          </a:p>
          <a:p>
            <a:pPr marL="285750" indent="-285750" algn="just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ES" sz="1200" dirty="0"/>
              <a:t>A mesura que augmenta la </a:t>
            </a:r>
            <a:r>
              <a:rPr lang="es-ES" sz="1200" dirty="0" err="1"/>
              <a:t>producció</a:t>
            </a:r>
            <a:r>
              <a:rPr lang="es-ES" sz="1200" dirty="0"/>
              <a:t>:</a:t>
            </a:r>
          </a:p>
          <a:p>
            <a:pPr marL="285750" indent="-285750" algn="just"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s-ES" sz="1200" dirty="0"/>
          </a:p>
          <a:p>
            <a:pPr marL="285750" indent="-285750" algn="just"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s-ES" sz="1200" dirty="0"/>
          </a:p>
          <a:p>
            <a:pPr marL="285750" indent="-285750" algn="just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200" dirty="0"/>
              <a:t>L’anàlisi de costos mostra que el preu del sistema depèn fortament del volum de producció, reduint-se significativament en producció massiva gràcies a economies d’escala i processos de fabricació automatitzats.</a:t>
            </a:r>
          </a:p>
        </p:txBody>
      </p:sp>
      <p:pic>
        <p:nvPicPr>
          <p:cNvPr id="5" name="Imagen 4" descr="Mapa&#10;&#10;El contenido generado por IA puede ser incorrecto.">
            <a:extLst>
              <a:ext uri="{FF2B5EF4-FFF2-40B4-BE49-F238E27FC236}">
                <a16:creationId xmlns:a16="http://schemas.microsoft.com/office/drawing/2014/main" id="{3ECD9FCF-DED9-4849-8185-A80E7379F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467" y="1215122"/>
            <a:ext cx="3960940" cy="360698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0484FE3-A7CD-4B52-9414-85B4272E597C}"/>
              </a:ext>
            </a:extLst>
          </p:cNvPr>
          <p:cNvSpPr txBox="1"/>
          <p:nvPr/>
        </p:nvSpPr>
        <p:spPr>
          <a:xfrm>
            <a:off x="903338" y="2710838"/>
            <a:ext cx="263996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ca-ES" dirty="0"/>
              <a:t>EL COST PER UNITAT BAIXA</a:t>
            </a:r>
          </a:p>
        </p:txBody>
      </p:sp>
    </p:spTree>
    <p:extLst>
      <p:ext uri="{BB962C8B-B14F-4D97-AF65-F5344CB8AC3E}">
        <p14:creationId xmlns:p14="http://schemas.microsoft.com/office/powerpoint/2010/main" val="1338859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CDD0614-8755-4D1F-B17A-4C666EA9A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48" y="1017692"/>
            <a:ext cx="4144156" cy="3108116"/>
          </a:xfrm>
          <a:prstGeom prst="rect">
            <a:avLst/>
          </a:prstGeom>
        </p:spPr>
      </p:pic>
      <p:sp>
        <p:nvSpPr>
          <p:cNvPr id="7" name="Google Shape;862;p48">
            <a:extLst>
              <a:ext uri="{FF2B5EF4-FFF2-40B4-BE49-F238E27FC236}">
                <a16:creationId xmlns:a16="http://schemas.microsoft.com/office/drawing/2014/main" id="{669AF211-6D6A-4DD3-BC79-F21306340456}"/>
              </a:ext>
            </a:extLst>
          </p:cNvPr>
          <p:cNvSpPr txBox="1">
            <a:spLocks/>
          </p:cNvSpPr>
          <p:nvPr/>
        </p:nvSpPr>
        <p:spPr>
          <a:xfrm flipH="1">
            <a:off x="5193137" y="1017692"/>
            <a:ext cx="3169199" cy="896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71450" indent="-171450" algn="just">
              <a:spcAft>
                <a:spcPts val="1600"/>
              </a:spcAft>
            </a:pPr>
            <a:r>
              <a:rPr lang="es-ES" sz="1200" dirty="0"/>
              <a:t>El </a:t>
            </a:r>
            <a:r>
              <a:rPr lang="es-ES" sz="1200" dirty="0" err="1"/>
              <a:t>cost</a:t>
            </a:r>
            <a:r>
              <a:rPr lang="es-ES" sz="1200" dirty="0"/>
              <a:t> total </a:t>
            </a:r>
            <a:r>
              <a:rPr lang="es-ES" sz="1200" dirty="0" err="1"/>
              <a:t>creix</a:t>
            </a:r>
            <a:r>
              <a:rPr lang="es-ES" sz="1200" dirty="0"/>
              <a:t> </a:t>
            </a:r>
            <a:r>
              <a:rPr lang="es-ES" sz="1200" dirty="0" err="1"/>
              <a:t>linealment</a:t>
            </a:r>
            <a:r>
              <a:rPr lang="es-ES" sz="1200" dirty="0"/>
              <a:t> amb el </a:t>
            </a:r>
            <a:r>
              <a:rPr lang="es-ES" sz="1200" dirty="0" err="1"/>
              <a:t>volum</a:t>
            </a:r>
            <a:r>
              <a:rPr lang="es-ES" sz="1200" dirty="0"/>
              <a:t>, </a:t>
            </a:r>
            <a:r>
              <a:rPr lang="es-ES" sz="1200" dirty="0" err="1"/>
              <a:t>però</a:t>
            </a:r>
            <a:r>
              <a:rPr lang="es-ES" sz="1200" dirty="0"/>
              <a:t> el </a:t>
            </a:r>
            <a:r>
              <a:rPr lang="es-ES" sz="1200" dirty="0" err="1"/>
              <a:t>cost</a:t>
            </a:r>
            <a:r>
              <a:rPr lang="es-ES" sz="1200" dirty="0"/>
              <a:t> per </a:t>
            </a:r>
            <a:r>
              <a:rPr lang="es-ES" sz="1200" dirty="0" err="1"/>
              <a:t>unitat</a:t>
            </a:r>
            <a:r>
              <a:rPr lang="es-ES" sz="1200" dirty="0"/>
              <a:t> </a:t>
            </a:r>
            <a:r>
              <a:rPr lang="es-ES" sz="1200" dirty="0" err="1"/>
              <a:t>disminuiria</a:t>
            </a:r>
            <a:r>
              <a:rPr lang="es-ES" sz="1200" dirty="0"/>
              <a:t> en </a:t>
            </a:r>
            <a:r>
              <a:rPr lang="es-ES" sz="1200" dirty="0" err="1"/>
              <a:t>producció</a:t>
            </a:r>
            <a:r>
              <a:rPr lang="es-ES" sz="1200" dirty="0"/>
              <a:t> real </a:t>
            </a:r>
            <a:r>
              <a:rPr lang="es-ES" sz="1200" dirty="0" err="1"/>
              <a:t>gràcies</a:t>
            </a:r>
            <a:r>
              <a:rPr lang="es-ES" sz="1200" dirty="0"/>
              <a:t> a </a:t>
            </a:r>
            <a:r>
              <a:rPr lang="es-ES" sz="1200" dirty="0" err="1"/>
              <a:t>economies</a:t>
            </a:r>
            <a:r>
              <a:rPr lang="es-ES" sz="1200" dirty="0"/>
              <a:t> </a:t>
            </a:r>
            <a:r>
              <a:rPr lang="es-ES" sz="1200" dirty="0" err="1"/>
              <a:t>d’escala</a:t>
            </a:r>
            <a:r>
              <a:rPr lang="es-ES" sz="1200" dirty="0"/>
              <a:t>.</a:t>
            </a:r>
            <a:endParaRPr lang="ca-ES" sz="1200" dirty="0"/>
          </a:p>
        </p:txBody>
      </p:sp>
    </p:spTree>
    <p:extLst>
      <p:ext uri="{BB962C8B-B14F-4D97-AF65-F5344CB8AC3E}">
        <p14:creationId xmlns:p14="http://schemas.microsoft.com/office/powerpoint/2010/main" val="2433936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3E24321-C547-4AF8-AD10-0666EA6E3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179361"/>
              </p:ext>
            </p:extLst>
          </p:nvPr>
        </p:nvGraphicFramePr>
        <p:xfrm>
          <a:off x="714375" y="1200150"/>
          <a:ext cx="7715250" cy="2743200"/>
        </p:xfrm>
        <a:graphic>
          <a:graphicData uri="http://schemas.openxmlformats.org/drawingml/2006/table">
            <a:tbl>
              <a:tblPr/>
              <a:tblGrid>
                <a:gridCol w="3857625">
                  <a:extLst>
                    <a:ext uri="{9D8B030D-6E8A-4147-A177-3AD203B41FA5}">
                      <a16:colId xmlns:a16="http://schemas.microsoft.com/office/drawing/2014/main" val="3714960707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3849207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" b="1" dirty="0"/>
                        <a:t>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PREU (€)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2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dirty="0"/>
                        <a:t>MAX3232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9.15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31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dirty="0"/>
                        <a:t>Regulador </a:t>
                      </a:r>
                      <a:r>
                        <a:rPr lang="es-ES" dirty="0" err="1"/>
                        <a:t>switching</a:t>
                      </a:r>
                      <a:endParaRPr lang="es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5.99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440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/>
                        <a:t>Microcontrolador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61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/>
                        <a:t>Inductor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4.68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839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/>
                        <a:t>Connector D-Sub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2.91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60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/>
                        <a:t>Terminal blocks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2.39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53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/>
                        <a:t>Driver motor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2.35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31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/>
                        <a:t>MOSFET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912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174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3EC78-D111-4554-8D4D-EA3B1A33B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687" y="585031"/>
            <a:ext cx="3800400" cy="997800"/>
          </a:xfrm>
        </p:spPr>
        <p:txBody>
          <a:bodyPr/>
          <a:lstStyle/>
          <a:p>
            <a:r>
              <a:rPr lang="ca-ES" sz="2800" dirty="0"/>
              <a:t>QUINA CONCLUSIÓ PODEM EXTREURE 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A5A5171-AA71-450C-B955-91F460D5EC51}"/>
              </a:ext>
            </a:extLst>
          </p:cNvPr>
          <p:cNvSpPr/>
          <p:nvPr/>
        </p:nvSpPr>
        <p:spPr>
          <a:xfrm>
            <a:off x="4143375" y="2978944"/>
            <a:ext cx="3921919" cy="1464469"/>
          </a:xfrm>
          <a:prstGeom prst="rect">
            <a:avLst/>
          </a:prstGeom>
          <a:solidFill>
            <a:srgbClr val="E8E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5" name="Google Shape;862;p48">
            <a:extLst>
              <a:ext uri="{FF2B5EF4-FFF2-40B4-BE49-F238E27FC236}">
                <a16:creationId xmlns:a16="http://schemas.microsoft.com/office/drawing/2014/main" id="{478BBDF8-3E38-4354-B987-EA6217CF18C2}"/>
              </a:ext>
            </a:extLst>
          </p:cNvPr>
          <p:cNvSpPr txBox="1">
            <a:spLocks/>
          </p:cNvSpPr>
          <p:nvPr/>
        </p:nvSpPr>
        <p:spPr>
          <a:xfrm flipH="1">
            <a:off x="1556967" y="2123579"/>
            <a:ext cx="5829670" cy="190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71450" indent="-171450" algn="just">
              <a:spcAft>
                <a:spcPts val="1600"/>
              </a:spcAft>
            </a:pPr>
            <a:r>
              <a:rPr lang="ca-ES" sz="1200" dirty="0"/>
              <a:t>En primer lloc podem afirmar que els components passius dominen la taula. El cost per PCB és d’aproximadament 54€, dominat pels components actius del sistema. Els components més cars són el microcontrolador, els </a:t>
            </a:r>
            <a:r>
              <a:rPr lang="ca-ES" sz="1200" dirty="0" err="1"/>
              <a:t>drivers</a:t>
            </a:r>
            <a:r>
              <a:rPr lang="ca-ES" sz="1200" dirty="0"/>
              <a:t> i els reguladors, mentre que els passius tenen un impacte econòmic molt reduït</a:t>
            </a:r>
          </a:p>
          <a:p>
            <a:pPr marL="171450" indent="-171450" algn="just">
              <a:spcAft>
                <a:spcPts val="1600"/>
              </a:spcAft>
            </a:pPr>
            <a:r>
              <a:rPr lang="ca-ES" sz="1200" dirty="0"/>
              <a:t>Finalment, si s’efectua </a:t>
            </a:r>
            <a:r>
              <a:rPr lang="es-ES" sz="1200" dirty="0"/>
              <a:t>una </a:t>
            </a:r>
            <a:r>
              <a:rPr lang="ca-ES" sz="1200" dirty="0"/>
              <a:t>producció massiva, el cost per unitat es reduiria significativament gràcies a descomptes i optimització del procés de fabricació.</a:t>
            </a:r>
          </a:p>
        </p:txBody>
      </p:sp>
    </p:spTree>
    <p:extLst>
      <p:ext uri="{BB962C8B-B14F-4D97-AF65-F5344CB8AC3E}">
        <p14:creationId xmlns:p14="http://schemas.microsoft.com/office/powerpoint/2010/main" val="2273460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Raleway ExtraBold"/>
                <a:sym typeface="Raleway ExtraBold"/>
              </a:rPr>
              <a:t>RESOURCES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4258622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9" name="Google Shape;2189;p94"/>
          <p:cNvGrpSpPr/>
          <p:nvPr/>
        </p:nvGrpSpPr>
        <p:grpSpPr>
          <a:xfrm rot="-5400000" flipH="1">
            <a:off x="7675663" y="1669168"/>
            <a:ext cx="753870" cy="1592276"/>
            <a:chOff x="5088650" y="245050"/>
            <a:chExt cx="1046025" cy="2209346"/>
          </a:xfrm>
        </p:grpSpPr>
        <p:sp>
          <p:nvSpPr>
            <p:cNvPr id="2190" name="Google Shape;2190;p94"/>
            <p:cNvSpPr/>
            <p:nvPr/>
          </p:nvSpPr>
          <p:spPr>
            <a:xfrm>
              <a:off x="5547343" y="1580787"/>
              <a:ext cx="128662" cy="87360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94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94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94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94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94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7" name="Google Shape;2187;p94"/>
          <p:cNvSpPr txBox="1">
            <a:spLocks noGrp="1"/>
          </p:cNvSpPr>
          <p:nvPr>
            <p:ph type="body" idx="1"/>
          </p:nvPr>
        </p:nvSpPr>
        <p:spPr>
          <a:xfrm>
            <a:off x="720000" y="558165"/>
            <a:ext cx="653646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dirty="0">
                <a:latin typeface="Raleway SemiBold"/>
                <a:ea typeface="Raleway SemiBold"/>
                <a:cs typeface="Raleway SemiBold"/>
                <a:sym typeface="Raleway SemiBold"/>
              </a:rPr>
              <a:t>Webgrafia:</a:t>
            </a:r>
            <a:endParaRPr sz="2400" dirty="0"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457200" lvl="0" indent="-304800" algn="just" rtl="0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>
                <a:uFill>
                  <a:noFill/>
                </a:uFill>
              </a:rPr>
              <a:t>Microchip </a:t>
            </a:r>
            <a:r>
              <a:rPr lang="es-ES" sz="1200" b="1" dirty="0" err="1">
                <a:uFill>
                  <a:noFill/>
                </a:uFill>
              </a:rPr>
              <a:t>Technology</a:t>
            </a:r>
            <a:r>
              <a:rPr lang="es-ES" sz="1200" dirty="0">
                <a:uFill>
                  <a:noFill/>
                </a:uFill>
              </a:rPr>
              <a:t>. (2012). PIC24HJ128GP502 </a:t>
            </a:r>
            <a:r>
              <a:rPr lang="es-ES" sz="1200" dirty="0" err="1">
                <a:uFill>
                  <a:noFill/>
                </a:uFill>
              </a:rPr>
              <a:t>Family</a:t>
            </a:r>
            <a:r>
              <a:rPr lang="es-ES" sz="1200" dirty="0">
                <a:uFill>
                  <a:noFill/>
                </a:uFill>
              </a:rPr>
              <a:t> Data </a:t>
            </a:r>
            <a:r>
              <a:rPr lang="es-ES" sz="1200" dirty="0" err="1">
                <a:uFill>
                  <a:noFill/>
                </a:uFill>
              </a:rPr>
              <a:t>Sheet</a:t>
            </a:r>
            <a:r>
              <a:rPr lang="es-ES" sz="1200" dirty="0">
                <a:uFill>
                  <a:noFill/>
                </a:uFill>
              </a:rPr>
              <a:t>. High-Performance, 16-bit Digital </a:t>
            </a:r>
            <a:r>
              <a:rPr lang="es-ES" sz="1200" dirty="0" err="1">
                <a:uFill>
                  <a:noFill/>
                </a:uFill>
              </a:rPr>
              <a:t>Signal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Controllers</a:t>
            </a:r>
            <a:r>
              <a:rPr lang="es-ES" sz="1200" dirty="0">
                <a:uFill>
                  <a:noFill/>
                </a:uFill>
              </a:rPr>
              <a:t>. [En </a:t>
            </a:r>
            <a:r>
              <a:rPr lang="es-ES" sz="1200" dirty="0" err="1">
                <a:uFill>
                  <a:noFill/>
                </a:uFill>
              </a:rPr>
              <a:t>línia</a:t>
            </a:r>
            <a:r>
              <a:rPr lang="es-ES" sz="1200" dirty="0">
                <a:uFill>
                  <a:noFill/>
                </a:uFill>
              </a:rPr>
              <a:t>]. Disponible a: microchip.com</a:t>
            </a: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>
                <a:uFill>
                  <a:noFill/>
                </a:uFill>
              </a:rPr>
              <a:t>Microchip </a:t>
            </a:r>
            <a:r>
              <a:rPr lang="es-ES" sz="1200" b="1" dirty="0" err="1">
                <a:uFill>
                  <a:noFill/>
                </a:uFill>
              </a:rPr>
              <a:t>Technology</a:t>
            </a:r>
            <a:r>
              <a:rPr lang="es-ES" sz="1200" dirty="0">
                <a:uFill>
                  <a:noFill/>
                </a:uFill>
              </a:rPr>
              <a:t>. (2016). MCP2561/2 High-</a:t>
            </a:r>
            <a:r>
              <a:rPr lang="es-ES" sz="1200" dirty="0" err="1">
                <a:uFill>
                  <a:noFill/>
                </a:uFill>
              </a:rPr>
              <a:t>Speed</a:t>
            </a:r>
            <a:r>
              <a:rPr lang="es-ES" sz="1200" dirty="0">
                <a:uFill>
                  <a:noFill/>
                </a:uFill>
              </a:rPr>
              <a:t> CAN </a:t>
            </a:r>
            <a:r>
              <a:rPr lang="es-ES" sz="1200" dirty="0" err="1">
                <a:uFill>
                  <a:noFill/>
                </a:uFill>
              </a:rPr>
              <a:t>Transceiver</a:t>
            </a:r>
            <a:r>
              <a:rPr lang="es-ES" sz="1200" dirty="0">
                <a:uFill>
                  <a:noFill/>
                </a:uFill>
              </a:rPr>
              <a:t> Data </a:t>
            </a:r>
            <a:r>
              <a:rPr lang="es-ES" sz="1200" dirty="0" err="1">
                <a:uFill>
                  <a:noFill/>
                </a:uFill>
              </a:rPr>
              <a:t>Sheet</a:t>
            </a:r>
            <a:r>
              <a:rPr lang="es-ES" sz="1200" dirty="0">
                <a:uFill>
                  <a:noFill/>
                </a:uFill>
              </a:rPr>
              <a:t>. [En </a:t>
            </a:r>
            <a:r>
              <a:rPr lang="es-ES" sz="1200" dirty="0" err="1">
                <a:uFill>
                  <a:noFill/>
                </a:uFill>
              </a:rPr>
              <a:t>línia</a:t>
            </a:r>
            <a:r>
              <a:rPr lang="es-ES" sz="1200" dirty="0">
                <a:uFill>
                  <a:noFill/>
                </a:uFill>
              </a:rPr>
              <a:t>].Texas Instruments. (2020). LM1117 800-mA, Low-</a:t>
            </a:r>
            <a:r>
              <a:rPr lang="es-ES" sz="1200" dirty="0" err="1">
                <a:uFill>
                  <a:noFill/>
                </a:uFill>
              </a:rPr>
              <a:t>Dropout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Voltage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Regulator</a:t>
            </a:r>
            <a:r>
              <a:rPr lang="es-ES" sz="1200" dirty="0">
                <a:uFill>
                  <a:noFill/>
                </a:uFill>
              </a:rPr>
              <a:t>. [En </a:t>
            </a:r>
            <a:r>
              <a:rPr lang="es-ES" sz="1200" dirty="0" err="1">
                <a:uFill>
                  <a:noFill/>
                </a:uFill>
              </a:rPr>
              <a:t>línia</a:t>
            </a:r>
            <a:r>
              <a:rPr lang="es-ES" sz="1200" dirty="0">
                <a:uFill>
                  <a:noFill/>
                </a:uFill>
              </a:rPr>
              <a:t>]. Disponible a: ti.com</a:t>
            </a: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 err="1">
                <a:uFill>
                  <a:noFill/>
                </a:uFill>
              </a:rPr>
              <a:t>Infineon</a:t>
            </a:r>
            <a:r>
              <a:rPr lang="es-ES" sz="1200" b="1" dirty="0">
                <a:uFill>
                  <a:noFill/>
                </a:uFill>
              </a:rPr>
              <a:t> Technologies</a:t>
            </a:r>
            <a:r>
              <a:rPr lang="es-ES" sz="1200" dirty="0">
                <a:uFill>
                  <a:noFill/>
                </a:uFill>
              </a:rPr>
              <a:t>. (2023). Automotive </a:t>
            </a:r>
            <a:r>
              <a:rPr lang="es-ES" sz="1200" dirty="0" err="1">
                <a:uFill>
                  <a:noFill/>
                </a:uFill>
              </a:rPr>
              <a:t>MOSFETs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Selection</a:t>
            </a:r>
            <a:r>
              <a:rPr lang="es-ES" sz="1200" dirty="0">
                <a:uFill>
                  <a:noFill/>
                </a:uFill>
              </a:rPr>
              <a:t> Guide.</a:t>
            </a: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>
                <a:uFill>
                  <a:noFill/>
                </a:uFill>
              </a:rPr>
              <a:t>Vector </a:t>
            </a:r>
            <a:r>
              <a:rPr lang="es-ES" sz="1200" b="1" dirty="0" err="1">
                <a:uFill>
                  <a:noFill/>
                </a:uFill>
              </a:rPr>
              <a:t>Informatik</a:t>
            </a:r>
            <a:r>
              <a:rPr lang="es-ES" sz="1200" b="1" dirty="0">
                <a:uFill>
                  <a:noFill/>
                </a:uFill>
              </a:rPr>
              <a:t> </a:t>
            </a:r>
            <a:r>
              <a:rPr lang="es-ES" sz="1200" b="1" dirty="0" err="1">
                <a:uFill>
                  <a:noFill/>
                </a:uFill>
              </a:rPr>
              <a:t>GmbH</a:t>
            </a:r>
            <a:r>
              <a:rPr lang="es-ES" sz="1200" dirty="0">
                <a:uFill>
                  <a:noFill/>
                </a:uFill>
              </a:rPr>
              <a:t>. (2024). CAN </a:t>
            </a:r>
            <a:r>
              <a:rPr lang="es-ES" sz="1200" dirty="0" err="1">
                <a:uFill>
                  <a:noFill/>
                </a:uFill>
              </a:rPr>
              <a:t>Knowledge</a:t>
            </a:r>
            <a:r>
              <a:rPr lang="es-ES" sz="1200" dirty="0">
                <a:uFill>
                  <a:noFill/>
                </a:uFill>
              </a:rPr>
              <a:t> Base. [web]. vector.com.</a:t>
            </a: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b="1" dirty="0">
                <a:uFill>
                  <a:noFill/>
                </a:uFill>
              </a:rPr>
              <a:t>All About Circuits</a:t>
            </a:r>
            <a:r>
              <a:rPr lang="en-US" sz="1200" dirty="0">
                <a:uFill>
                  <a:noFill/>
                </a:uFill>
              </a:rPr>
              <a:t>. (2024). Understanding the I2C Bus. [Article </a:t>
            </a:r>
            <a:r>
              <a:rPr lang="en-US" sz="1200" dirty="0" err="1">
                <a:uFill>
                  <a:noFill/>
                </a:uFill>
              </a:rPr>
              <a:t>tècnic</a:t>
            </a:r>
            <a:r>
              <a:rPr lang="en-US" sz="1200" dirty="0">
                <a:uFill>
                  <a:noFill/>
                </a:uFill>
              </a:rPr>
              <a:t>]. Disponible a: allaboutcircuits.com.</a:t>
            </a: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b="1" dirty="0">
                <a:uFill>
                  <a:noFill/>
                </a:uFill>
              </a:rPr>
              <a:t>Microchip Developer Help</a:t>
            </a:r>
            <a:r>
              <a:rPr lang="en-US" sz="1200" dirty="0">
                <a:uFill>
                  <a:noFill/>
                </a:uFill>
              </a:rPr>
              <a:t>. Getting Started with MPLAB X IDE and XC16 Compiler. [Portal de </a:t>
            </a:r>
            <a:r>
              <a:rPr lang="en-US" sz="1200" dirty="0" err="1">
                <a:uFill>
                  <a:noFill/>
                </a:uFill>
              </a:rPr>
              <a:t>suport</a:t>
            </a:r>
            <a:r>
              <a:rPr lang="en-US" sz="1200" dirty="0">
                <a:uFill>
                  <a:noFill/>
                </a:uFill>
              </a:rPr>
              <a:t>].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lang="en-US" sz="1200" dirty="0">
              <a:uFill>
                <a:noFill/>
              </a:u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92"/>
          <p:cNvSpPr/>
          <p:nvPr/>
        </p:nvSpPr>
        <p:spPr>
          <a:xfrm flipH="1">
            <a:off x="-9600" y="781000"/>
            <a:ext cx="3229200" cy="3591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9" name="Google Shape;2049;p92"/>
          <p:cNvSpPr/>
          <p:nvPr/>
        </p:nvSpPr>
        <p:spPr>
          <a:xfrm flipH="1">
            <a:off x="-9593" y="-12"/>
            <a:ext cx="3229200" cy="84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0" name="Google Shape;2050;p92"/>
          <p:cNvGrpSpPr/>
          <p:nvPr/>
        </p:nvGrpSpPr>
        <p:grpSpPr>
          <a:xfrm flipH="1">
            <a:off x="-9593" y="4324341"/>
            <a:ext cx="3229223" cy="820210"/>
            <a:chOff x="5914788" y="4092325"/>
            <a:chExt cx="3229223" cy="1032360"/>
          </a:xfrm>
        </p:grpSpPr>
        <p:sp>
          <p:nvSpPr>
            <p:cNvPr id="2051" name="Google Shape;2051;p92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92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92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92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92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92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92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92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92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92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92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92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92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92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92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92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92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92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92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92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92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92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92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92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92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6" name="Google Shape;2076;p92"/>
          <p:cNvSpPr txBox="1">
            <a:spLocks noGrp="1"/>
          </p:cNvSpPr>
          <p:nvPr>
            <p:ph type="ctrTitle"/>
          </p:nvPr>
        </p:nvSpPr>
        <p:spPr>
          <a:xfrm>
            <a:off x="4107656" y="2136440"/>
            <a:ext cx="38004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GRÀCIES!</a:t>
            </a:r>
            <a:endParaRPr dirty="0"/>
          </a:p>
        </p:txBody>
      </p:sp>
      <p:grpSp>
        <p:nvGrpSpPr>
          <p:cNvPr id="2096" name="Google Shape;2096;p92"/>
          <p:cNvGrpSpPr/>
          <p:nvPr/>
        </p:nvGrpSpPr>
        <p:grpSpPr>
          <a:xfrm rot="10800000" flipH="1">
            <a:off x="736137" y="1133417"/>
            <a:ext cx="1737764" cy="3190933"/>
            <a:chOff x="-2015525" y="1190673"/>
            <a:chExt cx="1253526" cy="2302260"/>
          </a:xfrm>
        </p:grpSpPr>
        <p:sp>
          <p:nvSpPr>
            <p:cNvPr id="2097" name="Google Shape;2097;p92"/>
            <p:cNvSpPr/>
            <p:nvPr/>
          </p:nvSpPr>
          <p:spPr>
            <a:xfrm>
              <a:off x="-1465824" y="1190673"/>
              <a:ext cx="154224" cy="574880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92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92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92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92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92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3" name="Google Shape;2103;p92"/>
          <p:cNvGrpSpPr/>
          <p:nvPr/>
        </p:nvGrpSpPr>
        <p:grpSpPr>
          <a:xfrm flipH="1">
            <a:off x="171358" y="127313"/>
            <a:ext cx="2867297" cy="587084"/>
            <a:chOff x="207675" y="127350"/>
            <a:chExt cx="2867297" cy="587084"/>
          </a:xfrm>
        </p:grpSpPr>
        <p:grpSp>
          <p:nvGrpSpPr>
            <p:cNvPr id="2104" name="Google Shape;2104;p92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2105" name="Google Shape;2105;p92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92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92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92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92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92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92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92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92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92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92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92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7" name="Google Shape;2117;p92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2118" name="Google Shape;2118;p92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92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92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92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92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92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92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92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2879E8A4-64D4-4A1A-B9A5-E52551370C25}"/>
              </a:ext>
            </a:extLst>
          </p:cNvPr>
          <p:cNvSpPr/>
          <p:nvPr/>
        </p:nvSpPr>
        <p:spPr>
          <a:xfrm>
            <a:off x="4107656" y="3321844"/>
            <a:ext cx="4000500" cy="1196992"/>
          </a:xfrm>
          <a:prstGeom prst="rect">
            <a:avLst/>
          </a:prstGeom>
          <a:solidFill>
            <a:srgbClr val="E8E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ctricity Consumption Consulting by Slidesgo">
  <a:themeElements>
    <a:clrScheme name="Simple Light">
      <a:dk1>
        <a:srgbClr val="191919"/>
      </a:dk1>
      <a:lt1>
        <a:srgbClr val="E8E6D6"/>
      </a:lt1>
      <a:dk2>
        <a:srgbClr val="FEB530"/>
      </a:dk2>
      <a:lt2>
        <a:srgbClr val="F46123"/>
      </a:lt2>
      <a:accent1>
        <a:srgbClr val="1F8E2E"/>
      </a:accent1>
      <a:accent2>
        <a:srgbClr val="2E83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1F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852</Words>
  <Application>Microsoft Office PowerPoint</Application>
  <PresentationFormat>Presentación en pantalla (16:9)</PresentationFormat>
  <Paragraphs>145</Paragraphs>
  <Slides>39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7" baseType="lpstr">
      <vt:lpstr>Raleway Black</vt:lpstr>
      <vt:lpstr>Raleway SemiBold</vt:lpstr>
      <vt:lpstr>Hepta Slab SemiBold</vt:lpstr>
      <vt:lpstr>Arial</vt:lpstr>
      <vt:lpstr>Bebas Neue</vt:lpstr>
      <vt:lpstr>Open Sans</vt:lpstr>
      <vt:lpstr>Raleway ExtraBold</vt:lpstr>
      <vt:lpstr>Electricity Consumption Consulting by Slidesgo</vt:lpstr>
      <vt:lpstr>EINES DE DISSENY PROJECTE: GRUP D TARDA (SEIENTS)</vt:lpstr>
      <vt:lpstr>01</vt:lpstr>
      <vt:lpstr>05</vt:lpstr>
      <vt:lpstr>01</vt:lpstr>
      <vt:lpstr>OBJECTIUS DEL PROJECTE (Característiques):</vt:lpstr>
      <vt:lpstr>OBJECTIUS PRINCIPALS DEL PROJECTE</vt:lpstr>
      <vt:lpstr>02</vt:lpstr>
      <vt:lpstr>V.2</vt:lpstr>
      <vt:lpstr>V.3</vt:lpstr>
      <vt:lpstr>ESQUEMÀTIC DEL PROJECTE</vt:lpstr>
      <vt:lpstr>ALIMENTACIÓ:</vt:lpstr>
      <vt:lpstr>SENSORS:</vt:lpstr>
      <vt:lpstr>DRIVERS:</vt:lpstr>
      <vt:lpstr>DRIVERS:</vt:lpstr>
      <vt:lpstr>EEPROM:</vt:lpstr>
      <vt:lpstr>EEPROM:</vt:lpstr>
      <vt:lpstr>MOSFET:</vt:lpstr>
      <vt:lpstr>MOSFET:</vt:lpstr>
      <vt:lpstr>CAN/DE-9:</vt:lpstr>
      <vt:lpstr>BOTONERA:</vt:lpstr>
      <vt:lpstr>MICROCONTROLADOR:</vt:lpstr>
      <vt:lpstr>MICROCONTROLADOR:</vt:lpstr>
      <vt:lpstr>SIMULACIONS LTSPICE</vt:lpstr>
      <vt:lpstr>Presentación de PowerPoint</vt:lpstr>
      <vt:lpstr>Presentación de PowerPoint</vt:lpstr>
      <vt:lpstr>LAYOUT I PCB</vt:lpstr>
      <vt:lpstr>BOM I COSTOS</vt:lpstr>
      <vt:lpstr>PRESSUPOST DE FABRICACIÓ</vt:lpstr>
      <vt:lpstr>PRESSUPOST DE FABRICACIÓ:</vt:lpstr>
      <vt:lpstr>PRESSUPOST DE FABRICACIÓ:</vt:lpstr>
      <vt:lpstr>PRESSUPOST DE FABRICACIÓ:</vt:lpstr>
      <vt:lpstr>PRESSUPOST DE FABRICACIÓ:</vt:lpstr>
      <vt:lpstr>PRESSUPOST DE FABRICACIÓ:</vt:lpstr>
      <vt:lpstr>Presentación de PowerPoint</vt:lpstr>
      <vt:lpstr>Presentación de PowerPoint</vt:lpstr>
      <vt:lpstr>QUINA CONCLUSIÓ PODEM EXTREURE ?</vt:lpstr>
      <vt:lpstr>RESOURCES</vt:lpstr>
      <vt:lpstr>Presentación de PowerPoint</vt:lpstr>
      <vt:lpstr>GRÀCIES!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EINES DE DISSENY PROJECTE: GRUP D SEIENTS</dc:title>
  <dc:creator>Joan Martínez González</dc:creator>
  <cp:lastModifiedBy>isabel gonzalez</cp:lastModifiedBy>
  <cp:revision>65</cp:revision>
  <dcterms:modified xsi:type="dcterms:W3CDTF">2026-04-29T20:46:45Z</dcterms:modified>
</cp:coreProperties>
</file>